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Lst>
  <p:sldSz cy="5143500" cx="9144000"/>
  <p:notesSz cx="6858000" cy="9144000"/>
  <p:embeddedFontLst>
    <p:embeddedFont>
      <p:font typeface="PT Sans Narrow"/>
      <p:regular r:id="rId90"/>
      <p:bold r:id="rId91"/>
    </p:embeddedFont>
    <p:embeddedFont>
      <p:font typeface="Open Sans"/>
      <p:regular r:id="rId92"/>
      <p:bold r:id="rId93"/>
      <p:italic r:id="rId94"/>
      <p:boldItalic r:id="rId9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7B16A15-CEB2-4D38-87CE-0F15F70C6202}">
  <a:tblStyle styleId="{D7B16A15-CEB2-4D38-87CE-0F15F70C6202}"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08EB046-44EC-4B29-989E-B51535566E72}"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E3ED6BA-528B-4D64-BD1A-DC52F9B1A0E4}"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F9678A1-FBC9-4738-A53A-9731423E04E4}" styleName="Table_3">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DD58965-6D8F-4DDF-ACC0-97B9EA81CD88}" styleName="Table_4">
    <a:wholeTbl>
      <a:tcTxStyle>
        <a:font>
          <a:latin typeface="Arial"/>
          <a:ea typeface="Arial"/>
          <a:cs typeface="Arial"/>
        </a:font>
        <a:srgbClr val="000000"/>
      </a:tcTxStyle>
      <a:tcStyle>
        <a:tcBdr>
          <a:left>
            <a:ln cap="flat" cmpd="sng">
              <a:solidFill>
                <a:srgbClr val="808080"/>
              </a:solidFill>
              <a:prstDash val="solid"/>
              <a:round/>
              <a:headEnd len="sm" w="sm" type="none"/>
              <a:tailEnd len="sm" w="sm" type="none"/>
            </a:ln>
          </a:left>
          <a:right>
            <a:ln cap="flat" cmpd="sng">
              <a:solidFill>
                <a:srgbClr val="808080"/>
              </a:solidFill>
              <a:prstDash val="solid"/>
              <a:round/>
              <a:headEnd len="sm" w="sm" type="none"/>
              <a:tailEnd len="sm" w="sm" type="none"/>
            </a:ln>
          </a:right>
          <a:top>
            <a:ln cap="flat" cmpd="sng">
              <a:solidFill>
                <a:srgbClr val="808080"/>
              </a:solidFill>
              <a:prstDash val="solid"/>
              <a:round/>
              <a:headEnd len="sm" w="sm" type="none"/>
              <a:tailEnd len="sm" w="sm" type="none"/>
            </a:ln>
          </a:top>
          <a:bottom>
            <a:ln cap="flat" cmpd="sng">
              <a:solidFill>
                <a:srgbClr val="808080"/>
              </a:solidFill>
              <a:prstDash val="solid"/>
              <a:round/>
              <a:headEnd len="sm" w="sm" type="none"/>
              <a:tailEnd len="sm" w="sm" type="none"/>
            </a:ln>
          </a:bottom>
          <a:insideH>
            <a:ln cap="flat" cmpd="sng">
              <a:solidFill>
                <a:srgbClr val="808080"/>
              </a:solidFill>
              <a:prstDash val="solid"/>
              <a:round/>
              <a:headEnd len="sm" w="sm" type="none"/>
              <a:tailEnd len="sm" w="sm" type="none"/>
            </a:ln>
          </a:insideH>
          <a:insideV>
            <a:ln cap="flat" cmpd="sng">
              <a:solidFill>
                <a:srgbClr val="80808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slide" Target="slides/slide78.xml"/><Relationship Id="rId83" Type="http://schemas.openxmlformats.org/officeDocument/2006/relationships/slide" Target="slides/slide77.xml"/><Relationship Id="rId42" Type="http://schemas.openxmlformats.org/officeDocument/2006/relationships/slide" Target="slides/slide36.xml"/><Relationship Id="rId86" Type="http://schemas.openxmlformats.org/officeDocument/2006/relationships/slide" Target="slides/slide80.xml"/><Relationship Id="rId41" Type="http://schemas.openxmlformats.org/officeDocument/2006/relationships/slide" Target="slides/slide35.xml"/><Relationship Id="rId85" Type="http://schemas.openxmlformats.org/officeDocument/2006/relationships/slide" Target="slides/slide79.xml"/><Relationship Id="rId44" Type="http://schemas.openxmlformats.org/officeDocument/2006/relationships/slide" Target="slides/slide38.xml"/><Relationship Id="rId88" Type="http://schemas.openxmlformats.org/officeDocument/2006/relationships/slide" Target="slides/slide82.xml"/><Relationship Id="rId43" Type="http://schemas.openxmlformats.org/officeDocument/2006/relationships/slide" Target="slides/slide37.xml"/><Relationship Id="rId87" Type="http://schemas.openxmlformats.org/officeDocument/2006/relationships/slide" Target="slides/slide81.xml"/><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95" Type="http://schemas.openxmlformats.org/officeDocument/2006/relationships/font" Target="fonts/OpenSans-boldItalic.fntdata"/><Relationship Id="rId50" Type="http://schemas.openxmlformats.org/officeDocument/2006/relationships/slide" Target="slides/slide44.xml"/><Relationship Id="rId94" Type="http://schemas.openxmlformats.org/officeDocument/2006/relationships/font" Target="fonts/OpenSans-italic.fntdata"/><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91" Type="http://schemas.openxmlformats.org/officeDocument/2006/relationships/font" Target="fonts/PTSansNarrow-bold.fntdata"/><Relationship Id="rId90" Type="http://schemas.openxmlformats.org/officeDocument/2006/relationships/font" Target="fonts/PTSansNarrow-regular.fntdata"/><Relationship Id="rId93" Type="http://schemas.openxmlformats.org/officeDocument/2006/relationships/font" Target="fonts/OpenSans-bold.fntdata"/><Relationship Id="rId92" Type="http://schemas.openxmlformats.org/officeDocument/2006/relationships/font" Target="fonts/OpenSans-regular.fntdata"/><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789ee8aebd_0_0:notes"/>
          <p:cNvSpPr txBox="1"/>
          <p:nvPr>
            <p:ph idx="1" type="body"/>
          </p:nvPr>
        </p:nvSpPr>
        <p:spPr>
          <a:xfrm>
            <a:off x="685784" y="4343396"/>
            <a:ext cx="5486400" cy="4114800"/>
          </a:xfrm>
          <a:prstGeom prst="rect">
            <a:avLst/>
          </a:prstGeom>
          <a:noFill/>
          <a:ln>
            <a:noFill/>
          </a:ln>
        </p:spPr>
        <p:txBody>
          <a:bodyPr anchorCtr="0" anchor="t" bIns="81350" lIns="81350" spcFirstLastPara="1" rIns="81350" wrap="square" tIns="81350">
            <a:noAutofit/>
          </a:bodyPr>
          <a:lstStyle/>
          <a:p>
            <a:pPr indent="0" lvl="0" marL="0" rtl="0" algn="l">
              <a:lnSpc>
                <a:spcPct val="100000"/>
              </a:lnSpc>
              <a:spcBef>
                <a:spcPts val="0"/>
              </a:spcBef>
              <a:spcAft>
                <a:spcPts val="0"/>
              </a:spcAft>
              <a:buSzPts val="1100"/>
              <a:buNone/>
            </a:pPr>
            <a:r>
              <a:rPr b="1" lang="en">
                <a:solidFill>
                  <a:schemeClr val="dk1"/>
                </a:solidFill>
              </a:rPr>
              <a:t>The above diagram represents a complex sentence structure. Here is what it illustrates:</a:t>
            </a:r>
            <a:endParaRPr b="1">
              <a:solidFill>
                <a:schemeClr val="dk1"/>
              </a:solidFill>
            </a:endParaRPr>
          </a:p>
          <a:p>
            <a:pPr indent="0" lvl="0" marL="0" rtl="0" algn="l">
              <a:lnSpc>
                <a:spcPct val="100000"/>
              </a:lnSpc>
              <a:spcBef>
                <a:spcPts val="0"/>
              </a:spcBef>
              <a:spcAft>
                <a:spcPts val="0"/>
              </a:spcAft>
              <a:buSzPts val="1100"/>
              <a:buNone/>
            </a:pPr>
            <a:r>
              <a:rPr b="1" lang="en">
                <a:solidFill>
                  <a:schemeClr val="dk1"/>
                </a:solidFill>
              </a:rPr>
              <a:t>Hindi:</a:t>
            </a:r>
            <a:r>
              <a:rPr lang="en">
                <a:solidFill>
                  <a:schemeClr val="dk1"/>
                </a:solidFill>
              </a:rPr>
              <a:t> राम ने सुबह से शाम तक पढ़ाई की । क्योंकि कल परीक्षा है और इसमें वह सफलता चाहता है ।</a:t>
            </a:r>
            <a:endParaRPr>
              <a:solidFill>
                <a:schemeClr val="dk1"/>
              </a:solidFill>
            </a:endParaRPr>
          </a:p>
          <a:p>
            <a:pPr indent="0" lvl="0" marL="0" rtl="0" algn="l">
              <a:lnSpc>
                <a:spcPct val="100000"/>
              </a:lnSpc>
              <a:spcBef>
                <a:spcPts val="0"/>
              </a:spcBef>
              <a:spcAft>
                <a:spcPts val="0"/>
              </a:spcAft>
              <a:buSzPts val="1100"/>
              <a:buNone/>
            </a:pPr>
            <a:r>
              <a:rPr b="1" lang="en">
                <a:solidFill>
                  <a:schemeClr val="dk1"/>
                </a:solidFill>
              </a:rPr>
              <a:t>English:</a:t>
            </a:r>
            <a:r>
              <a:rPr lang="en">
                <a:solidFill>
                  <a:schemeClr val="dk1"/>
                </a:solidFill>
              </a:rPr>
              <a:t> Ram studied from morning till evening because the exam is tomorrow and he wants success in it.</a:t>
            </a:r>
            <a:endParaRPr/>
          </a:p>
        </p:txBody>
      </p:sp>
      <p:sp>
        <p:nvSpPr>
          <p:cNvPr id="69" name="Google Shape;69;g3789ee8aebd_0_0:notes"/>
          <p:cNvSpPr/>
          <p:nvPr>
            <p:ph idx="2" type="sldImg"/>
          </p:nvPr>
        </p:nvSpPr>
        <p:spPr>
          <a:xfrm>
            <a:off x="1143128" y="685791"/>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789ee8aebd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789ee8aebd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3bfdc83fc7_5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3bfdc83fc7_5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75ef447c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75ef447c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3bfdc83fc7_5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3bfdc83fc7_5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75f03ba83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75f03ba83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7845f794e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7845f794e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785a91f1f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785a91f1f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7845f794e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7845f794e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7845f794e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7845f794e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7845f794e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7845f794e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7845f794ec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7845f794e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60bbffcdcf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60bbffcdcf_2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75ef447c8e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75ef447c8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75f03ba83d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75f03ba83d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75f03ba83d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75f03ba83d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75f03ba83d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75f03ba83d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75ef447c8e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75ef447c8e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75f1c37019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75f1c37019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75f1c3701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75f1c37019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75f1c3701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75f1c3701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75ef447c8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75ef447c8e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60bbffcdcf_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60bbffcdcf_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75f1c37019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75f1c37019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75f1c37019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75f1c37019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75f1c37019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75f1c37019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60bbffcdcf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60bbffcdcf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75f1c37019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75f1c37019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75f1c37019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75f1c37019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60bbffcdcf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60bbffcdcf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75f1c37019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75f1c37019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75f1c37019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75f1c37019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75f1c37019_1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75f1c37019_1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75f1c37019_1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75f1c37019_1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47423c5d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47423c5d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47423c5d1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47423c5d1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47423c5d1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47423c5d1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47423c5d1c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247423c5d1c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47423c5d1c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47423c5d1c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47423c5d1c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247423c5d1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818d6c362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818d6c362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818d6c362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818d6c362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47423c5d1c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247423c5d1c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260bbffcdcf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260bbffcdcf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60c079647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260c079647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60c079647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260c079647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60c079647a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260c079647a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60c079647a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60c079647a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260c079647a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260c079647a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829ee00dfc_3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829ee00dfc_3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829ee00dfc_3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829ee00dfc_3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260c079647a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260c079647a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60bbffcdcf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60bbffcdcf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6802a6820c_1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26802a6820c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6802a6820c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26802a6820c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6802a6820c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26802a6820c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6802a6820c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26802a6820c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6802a6820c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26802a6820c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6802a6820c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26802a6820c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260bbffcdcf_2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260bbffcdcf_2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60c85c36e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260c85c36e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60c85c36e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260c85c36e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8cd6f0bdb7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8cd6f0bdb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8cd6f0bdb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8cd6f0bdb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8cd6f0bdb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8cd6f0bdb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8cd6f0bdb7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8cd6f0bdb7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8cd6f0bdb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8cd6f0bdb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8cd6f0bdb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8cd6f0bdb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8cda360b61_5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38cda360b61_5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8cda360b61_8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8cda360b61_8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8cda360b61_8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8cda360b61_8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8cda360b61_8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8cda360b61_8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8cda360b61_8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8cda360b61_8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829ee00dfc_3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829ee00dfc_3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829ee00dfc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829ee00dfc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829ee00dfc_3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829ee00dfc_3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829ee00dfc_3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829ee00dfc_3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260c85c36ea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260c85c36e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75ef447c8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75ef447c8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75f03ba83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375f03ba83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75f03ba83d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75f03ba83d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75f03ba83d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375f03ba83d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1003650" y="1957839"/>
            <a:ext cx="7136700" cy="102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4260"/>
              <a:t>Universal Semantic R</a:t>
            </a:r>
            <a:r>
              <a:rPr lang="en" sz="4260"/>
              <a:t>epresentation</a:t>
            </a:r>
            <a:endParaRPr sz="426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p14" title="Screenshot from 2025-06-17 10-24-42.png"/>
          <p:cNvPicPr preferRelativeResize="0"/>
          <p:nvPr/>
        </p:nvPicPr>
        <p:blipFill rotWithShape="1">
          <a:blip r:embed="rId3">
            <a:alphaModFix/>
          </a:blip>
          <a:srcRect b="25651" l="5545" r="64085" t="41169"/>
          <a:stretch/>
        </p:blipFill>
        <p:spPr>
          <a:xfrm>
            <a:off x="244209" y="78850"/>
            <a:ext cx="8648774" cy="49989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438150" y="83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Universal Semantic Representation</a:t>
            </a:r>
            <a:endParaRPr/>
          </a:p>
        </p:txBody>
      </p:sp>
      <p:sp>
        <p:nvSpPr>
          <p:cNvPr id="77" name="Google Shape;77;p15"/>
          <p:cNvSpPr txBox="1"/>
          <p:nvPr>
            <p:ph idx="1" type="body"/>
          </p:nvPr>
        </p:nvSpPr>
        <p:spPr>
          <a:xfrm>
            <a:off x="819150" y="1412800"/>
            <a:ext cx="7505700" cy="3387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800">
              <a:latin typeface="Lohit Devanagari"/>
              <a:ea typeface="Lohit Devanagari"/>
              <a:cs typeface="Lohit Devanagari"/>
              <a:sym typeface="Lohit Devanagari"/>
            </a:endParaRPr>
          </a:p>
          <a:p>
            <a:pPr indent="0" lvl="0" marL="0" rtl="0" algn="l">
              <a:spcBef>
                <a:spcPts val="1200"/>
              </a:spcBef>
              <a:spcAft>
                <a:spcPts val="1200"/>
              </a:spcAft>
              <a:buNone/>
            </a:pPr>
            <a:r>
              <a:t/>
            </a:r>
            <a:endParaRPr sz="1800">
              <a:latin typeface="Lohit Devanagari"/>
              <a:ea typeface="Lohit Devanagari"/>
              <a:cs typeface="Lohit Devanagari"/>
              <a:sym typeface="Lohit Devanagari"/>
            </a:endParaRPr>
          </a:p>
        </p:txBody>
      </p:sp>
      <p:sp>
        <p:nvSpPr>
          <p:cNvPr id="78" name="Google Shape;78;p15"/>
          <p:cNvSpPr txBox="1"/>
          <p:nvPr/>
        </p:nvSpPr>
        <p:spPr>
          <a:xfrm>
            <a:off x="667150" y="1170075"/>
            <a:ext cx="8108400" cy="356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400">
                <a:latin typeface="Times New Roman"/>
                <a:ea typeface="Times New Roman"/>
                <a:cs typeface="Times New Roman"/>
                <a:sym typeface="Times New Roman"/>
              </a:rPr>
              <a:t>For multilingual Natural Language Generation (NLG), there is a need of a design of a Semantic Representation</a:t>
            </a:r>
            <a:endParaRPr sz="2400">
              <a:latin typeface="Times New Roman"/>
              <a:ea typeface="Times New Roman"/>
              <a:cs typeface="Times New Roman"/>
              <a:sym typeface="Times New Roman"/>
            </a:endParaRPr>
          </a:p>
          <a:p>
            <a:pPr indent="-381000" lvl="0" marL="914400" rtl="0" algn="l">
              <a:lnSpc>
                <a:spcPct val="115000"/>
              </a:lnSpc>
              <a:spcBef>
                <a:spcPts val="1000"/>
              </a:spcBef>
              <a:spcAft>
                <a:spcPts val="0"/>
              </a:spcAft>
              <a:buSzPts val="2400"/>
              <a:buFont typeface="Times New Roman"/>
              <a:buAutoNum type="arabicPeriod"/>
            </a:pPr>
            <a:r>
              <a:rPr lang="en" sz="2400">
                <a:latin typeface="Times New Roman"/>
                <a:ea typeface="Times New Roman"/>
                <a:cs typeface="Times New Roman"/>
                <a:sym typeface="Times New Roman"/>
              </a:rPr>
              <a:t>Universal</a:t>
            </a:r>
            <a:endParaRPr sz="2400">
              <a:latin typeface="Times New Roman"/>
              <a:ea typeface="Times New Roman"/>
              <a:cs typeface="Times New Roman"/>
              <a:sym typeface="Times New Roman"/>
            </a:endParaRPr>
          </a:p>
          <a:p>
            <a:pPr indent="-381000" lvl="0" marL="914400" rtl="0" algn="l">
              <a:lnSpc>
                <a:spcPct val="115000"/>
              </a:lnSpc>
              <a:spcBef>
                <a:spcPts val="1000"/>
              </a:spcBef>
              <a:spcAft>
                <a:spcPts val="0"/>
              </a:spcAft>
              <a:buSzPts val="2400"/>
              <a:buFont typeface="Times New Roman"/>
              <a:buAutoNum type="arabicPeriod"/>
            </a:pPr>
            <a:r>
              <a:rPr lang="en" sz="2400">
                <a:latin typeface="Times New Roman"/>
                <a:ea typeface="Times New Roman"/>
                <a:cs typeface="Times New Roman"/>
                <a:sym typeface="Times New Roman"/>
              </a:rPr>
              <a:t>Computationally tractable</a:t>
            </a:r>
            <a:endParaRPr sz="2400">
              <a:latin typeface="Times New Roman"/>
              <a:ea typeface="Times New Roman"/>
              <a:cs typeface="Times New Roman"/>
              <a:sym typeface="Times New Roman"/>
            </a:endParaRPr>
          </a:p>
          <a:p>
            <a:pPr indent="-381000" lvl="0" marL="914400" rtl="0" algn="l">
              <a:lnSpc>
                <a:spcPct val="115000"/>
              </a:lnSpc>
              <a:spcBef>
                <a:spcPts val="1000"/>
              </a:spcBef>
              <a:spcAft>
                <a:spcPts val="0"/>
              </a:spcAft>
              <a:buSzPts val="2400"/>
              <a:buFont typeface="Times New Roman"/>
              <a:buAutoNum type="arabicPeriod"/>
            </a:pPr>
            <a:r>
              <a:rPr lang="en" sz="2400">
                <a:latin typeface="Times New Roman"/>
                <a:ea typeface="Times New Roman"/>
                <a:cs typeface="Times New Roman"/>
                <a:sym typeface="Times New Roman"/>
              </a:rPr>
              <a:t>Unambiguous </a:t>
            </a:r>
            <a:endParaRPr sz="2400">
              <a:latin typeface="Times New Roman"/>
              <a:ea typeface="Times New Roman"/>
              <a:cs typeface="Times New Roman"/>
              <a:sym typeface="Times New Roman"/>
            </a:endParaRPr>
          </a:p>
          <a:p>
            <a:pPr indent="-381000" lvl="0" marL="914400" rtl="0" algn="l">
              <a:lnSpc>
                <a:spcPct val="115000"/>
              </a:lnSpc>
              <a:spcBef>
                <a:spcPts val="1000"/>
              </a:spcBef>
              <a:spcAft>
                <a:spcPts val="0"/>
              </a:spcAft>
              <a:buSzPts val="2400"/>
              <a:buFont typeface="Times New Roman"/>
              <a:buAutoNum type="arabicPeriod"/>
            </a:pPr>
            <a:r>
              <a:rPr lang="en" sz="2400">
                <a:latin typeface="Times New Roman"/>
                <a:ea typeface="Times New Roman"/>
                <a:cs typeface="Times New Roman"/>
                <a:sym typeface="Times New Roman"/>
              </a:rPr>
              <a:t>Explicit</a:t>
            </a:r>
            <a:endParaRPr sz="2400">
              <a:latin typeface="Times New Roman"/>
              <a:ea typeface="Times New Roman"/>
              <a:cs typeface="Times New Roman"/>
              <a:sym typeface="Times New Roman"/>
            </a:endParaRPr>
          </a:p>
          <a:p>
            <a:pPr indent="0" lvl="0" marL="0" rtl="0" algn="l">
              <a:lnSpc>
                <a:spcPct val="115000"/>
              </a:lnSpc>
              <a:spcBef>
                <a:spcPts val="1000"/>
              </a:spcBef>
              <a:spcAft>
                <a:spcPts val="1600"/>
              </a:spcAft>
              <a:buNone/>
            </a:pPr>
            <a:r>
              <a:t/>
            </a:r>
            <a:endParaRPr sz="1800">
              <a:solidFill>
                <a:schemeClr val="dk2"/>
              </a:solidFill>
              <a:latin typeface="Lohit Devanagari"/>
              <a:ea typeface="Lohit Devanagari"/>
              <a:cs typeface="Lohit Devanagari"/>
              <a:sym typeface="Lohit Devanaga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nvSpPr>
        <p:spPr>
          <a:xfrm>
            <a:off x="182200" y="509250"/>
            <a:ext cx="8473200" cy="39666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Universal Semantic Representation (USR) is a meaning representation for Natural Language Generation (NLG) which is motivated by Indian Grammatical Tradition (</a:t>
            </a:r>
            <a:r>
              <a:rPr lang="en" sz="1800">
                <a:latin typeface="Times New Roman"/>
                <a:ea typeface="Times New Roman"/>
                <a:cs typeface="Times New Roman"/>
                <a:sym typeface="Times New Roman"/>
              </a:rPr>
              <a:t>IGT)</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USR captures meaning/thought in the mind of a speaker/author.</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Clr>
                <a:srgbClr val="040506"/>
              </a:buClr>
              <a:buSzPts val="1800"/>
              <a:buFont typeface="Times New Roman"/>
              <a:buChar char="●"/>
            </a:pPr>
            <a:r>
              <a:rPr lang="en" sz="1800">
                <a:solidFill>
                  <a:srgbClr val="040506"/>
                </a:solidFill>
                <a:latin typeface="Times New Roman"/>
                <a:ea typeface="Times New Roman"/>
                <a:cs typeface="Times New Roman"/>
                <a:sym typeface="Times New Roman"/>
              </a:rPr>
              <a:t>USR is l</a:t>
            </a:r>
            <a:r>
              <a:rPr lang="en" sz="1800">
                <a:solidFill>
                  <a:srgbClr val="040506"/>
                </a:solidFill>
                <a:latin typeface="Times New Roman"/>
                <a:ea typeface="Times New Roman"/>
                <a:cs typeface="Times New Roman"/>
                <a:sym typeface="Times New Roman"/>
              </a:rPr>
              <a:t>anguage independent information package</a:t>
            </a:r>
            <a:endParaRPr sz="1800">
              <a:solidFill>
                <a:srgbClr val="040506"/>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rgbClr val="040506"/>
              </a:buClr>
              <a:buSzPts val="1800"/>
              <a:buFont typeface="Times New Roman"/>
              <a:buChar char="●"/>
            </a:pPr>
            <a:r>
              <a:rPr lang="en" sz="1800">
                <a:solidFill>
                  <a:srgbClr val="040506"/>
                </a:solidFill>
                <a:latin typeface="Times New Roman"/>
                <a:ea typeface="Times New Roman"/>
                <a:cs typeface="Times New Roman"/>
                <a:sym typeface="Times New Roman"/>
              </a:rPr>
              <a:t>A text-based data structure.</a:t>
            </a:r>
            <a:endParaRPr sz="1800">
              <a:solidFill>
                <a:srgbClr val="040506"/>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rgbClr val="040506"/>
              </a:buClr>
              <a:buSzPts val="1800"/>
              <a:buFont typeface="Times New Roman"/>
              <a:buChar char="●"/>
            </a:pPr>
            <a:r>
              <a:rPr lang="en" sz="1800">
                <a:solidFill>
                  <a:srgbClr val="040506"/>
                </a:solidFill>
                <a:latin typeface="Times New Roman"/>
                <a:ea typeface="Times New Roman"/>
                <a:cs typeface="Times New Roman"/>
                <a:sym typeface="Times New Roman"/>
              </a:rPr>
              <a:t>Captures information at three levels:  </a:t>
            </a:r>
            <a:endParaRPr sz="1800">
              <a:solidFill>
                <a:srgbClr val="040506"/>
              </a:solidFill>
              <a:latin typeface="Times New Roman"/>
              <a:ea typeface="Times New Roman"/>
              <a:cs typeface="Times New Roman"/>
              <a:sym typeface="Times New Roman"/>
            </a:endParaRPr>
          </a:p>
          <a:p>
            <a:pPr indent="-342900" lvl="1" marL="914400" rtl="0" algn="l">
              <a:lnSpc>
                <a:spcPct val="115000"/>
              </a:lnSpc>
              <a:spcBef>
                <a:spcPts val="0"/>
              </a:spcBef>
              <a:spcAft>
                <a:spcPts val="0"/>
              </a:spcAft>
              <a:buClr>
                <a:srgbClr val="040506"/>
              </a:buClr>
              <a:buSzPts val="1800"/>
              <a:buFont typeface="Times New Roman"/>
              <a:buChar char="○"/>
            </a:pPr>
            <a:r>
              <a:rPr b="1" lang="en" sz="1800">
                <a:solidFill>
                  <a:srgbClr val="040506"/>
                </a:solidFill>
                <a:latin typeface="Times New Roman"/>
                <a:ea typeface="Times New Roman"/>
                <a:cs typeface="Times New Roman"/>
                <a:sym typeface="Times New Roman"/>
              </a:rPr>
              <a:t>Lexico-conceptual</a:t>
            </a:r>
            <a:endParaRPr b="1" sz="1800">
              <a:solidFill>
                <a:srgbClr val="040506"/>
              </a:solidFill>
              <a:latin typeface="Times New Roman"/>
              <a:ea typeface="Times New Roman"/>
              <a:cs typeface="Times New Roman"/>
              <a:sym typeface="Times New Roman"/>
            </a:endParaRPr>
          </a:p>
          <a:p>
            <a:pPr indent="-342900" lvl="1" marL="914400" rtl="0" algn="l">
              <a:lnSpc>
                <a:spcPct val="115000"/>
              </a:lnSpc>
              <a:spcBef>
                <a:spcPts val="0"/>
              </a:spcBef>
              <a:spcAft>
                <a:spcPts val="0"/>
              </a:spcAft>
              <a:buClr>
                <a:srgbClr val="040506"/>
              </a:buClr>
              <a:buSzPts val="1800"/>
              <a:buFont typeface="Times New Roman"/>
              <a:buChar char="○"/>
            </a:pPr>
            <a:r>
              <a:rPr b="1" lang="en" sz="1800">
                <a:solidFill>
                  <a:srgbClr val="040506"/>
                </a:solidFill>
                <a:latin typeface="Times New Roman"/>
                <a:ea typeface="Times New Roman"/>
                <a:cs typeface="Times New Roman"/>
                <a:sym typeface="Times New Roman"/>
              </a:rPr>
              <a:t>Syntactico-Semantic</a:t>
            </a:r>
            <a:endParaRPr b="1" sz="1800">
              <a:solidFill>
                <a:srgbClr val="040506"/>
              </a:solidFill>
              <a:latin typeface="Times New Roman"/>
              <a:ea typeface="Times New Roman"/>
              <a:cs typeface="Times New Roman"/>
              <a:sym typeface="Times New Roman"/>
            </a:endParaRPr>
          </a:p>
          <a:p>
            <a:pPr indent="-342900" lvl="1" marL="914400" rtl="0" algn="l">
              <a:lnSpc>
                <a:spcPct val="115000"/>
              </a:lnSpc>
              <a:spcBef>
                <a:spcPts val="0"/>
              </a:spcBef>
              <a:spcAft>
                <a:spcPts val="0"/>
              </a:spcAft>
              <a:buClr>
                <a:srgbClr val="040506"/>
              </a:buClr>
              <a:buSzPts val="1800"/>
              <a:buFont typeface="Times New Roman"/>
              <a:buChar char="○"/>
            </a:pPr>
            <a:r>
              <a:rPr b="1" lang="en" sz="1800">
                <a:solidFill>
                  <a:srgbClr val="040506"/>
                </a:solidFill>
                <a:latin typeface="Times New Roman"/>
                <a:ea typeface="Times New Roman"/>
                <a:cs typeface="Times New Roman"/>
                <a:sym typeface="Times New Roman"/>
              </a:rPr>
              <a:t>Discourse</a:t>
            </a:r>
            <a:endParaRPr b="1" sz="1800">
              <a:solidFill>
                <a:srgbClr val="040506"/>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rgbClr val="040506"/>
              </a:buClr>
              <a:buSzPts val="1800"/>
              <a:buFont typeface="Times New Roman"/>
              <a:buChar char="●"/>
            </a:pPr>
            <a:r>
              <a:rPr lang="en" sz="1800">
                <a:solidFill>
                  <a:srgbClr val="040506"/>
                </a:solidFill>
                <a:latin typeface="Times New Roman"/>
                <a:ea typeface="Times New Roman"/>
                <a:cs typeface="Times New Roman"/>
                <a:sym typeface="Times New Roman"/>
              </a:rPr>
              <a:t>Captures the speaker’s vivakṣa - how speaker views the activity</a:t>
            </a:r>
            <a:endParaRPr sz="1800">
              <a:solidFill>
                <a:srgbClr val="040506"/>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Objective: Generate multiple natural languages using Natural Language Generators.</a:t>
            </a:r>
            <a:endParaRPr sz="1800">
              <a:latin typeface="Times New Roman"/>
              <a:ea typeface="Times New Roman"/>
              <a:cs typeface="Times New Roman"/>
              <a:sym typeface="Times New Roman"/>
            </a:endParaRPr>
          </a:p>
        </p:txBody>
      </p:sp>
      <p:sp>
        <p:nvSpPr>
          <p:cNvPr id="84" name="Google Shape;84;p16"/>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Universal Semantic Representation  </a:t>
            </a:r>
            <a:endParaRPr b="1" sz="2200">
              <a:solidFill>
                <a:schemeClr val="accen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Universal Semantic Representation  </a:t>
            </a:r>
            <a:endParaRPr b="1" sz="2200">
              <a:solidFill>
                <a:schemeClr val="accent1"/>
              </a:solidFill>
              <a:latin typeface="Times New Roman"/>
              <a:ea typeface="Times New Roman"/>
              <a:cs typeface="Times New Roman"/>
              <a:sym typeface="Times New Roman"/>
            </a:endParaRPr>
          </a:p>
        </p:txBody>
      </p:sp>
      <p:graphicFrame>
        <p:nvGraphicFramePr>
          <p:cNvPr id="90" name="Google Shape;90;p17"/>
          <p:cNvGraphicFramePr/>
          <p:nvPr/>
        </p:nvGraphicFramePr>
        <p:xfrm>
          <a:off x="1802799" y="651688"/>
          <a:ext cx="3000000" cy="3000000"/>
        </p:xfrm>
        <a:graphic>
          <a:graphicData uri="http://schemas.openxmlformats.org/drawingml/2006/table">
            <a:tbl>
              <a:tblPr>
                <a:noFill/>
                <a:tableStyleId>{D7B16A15-CEB2-4D38-87CE-0F15F70C6202}</a:tableStyleId>
              </a:tblPr>
              <a:tblGrid>
                <a:gridCol w="2502625"/>
                <a:gridCol w="4081150"/>
              </a:tblGrid>
              <a:tr h="375550">
                <a:tc>
                  <a:txBody>
                    <a:bodyPr/>
                    <a:lstStyle/>
                    <a:p>
                      <a:pPr indent="0" lvl="0" marL="0" rtl="0" algn="ctr">
                        <a:spcBef>
                          <a:spcPts val="0"/>
                        </a:spcBef>
                        <a:spcAft>
                          <a:spcPts val="0"/>
                        </a:spcAft>
                        <a:buNone/>
                      </a:pPr>
                      <a:r>
                        <a:rPr b="1" lang="en" sz="1800">
                          <a:latin typeface="Times New Roman"/>
                          <a:ea typeface="Times New Roman"/>
                          <a:cs typeface="Times New Roman"/>
                          <a:sym typeface="Times New Roman"/>
                        </a:rPr>
                        <a:t>Level</a:t>
                      </a:r>
                      <a:endParaRPr b="1" sz="1800">
                        <a:latin typeface="Times New Roman"/>
                        <a:ea typeface="Times New Roman"/>
                        <a:cs typeface="Times New Roman"/>
                        <a:sym typeface="Times New Roman"/>
                      </a:endParaRPr>
                    </a:p>
                  </a:txBody>
                  <a:tcPr marT="45700" marB="45700" marR="45700" marL="45700">
                    <a:lnL cap="flat" cmpd="sng" w="12700">
                      <a:solidFill>
                        <a:srgbClr val="000000"/>
                      </a:solidFill>
                      <a:prstDash val="solid"/>
                      <a:round/>
                      <a:headEnd len="sm" w="sm" type="none"/>
                      <a:tailEnd len="sm" w="sm" type="none"/>
                    </a:lnL>
                    <a:solidFill>
                      <a:srgbClr val="FFF2CC"/>
                    </a:solidFill>
                  </a:tcPr>
                </a:tc>
                <a:tc>
                  <a:txBody>
                    <a:bodyPr/>
                    <a:lstStyle/>
                    <a:p>
                      <a:pPr indent="0" lvl="0" marL="0" rtl="0" algn="ctr">
                        <a:spcBef>
                          <a:spcPts val="0"/>
                        </a:spcBef>
                        <a:spcAft>
                          <a:spcPts val="0"/>
                        </a:spcAft>
                        <a:buNone/>
                      </a:pPr>
                      <a:r>
                        <a:rPr b="1" lang="en" sz="1800">
                          <a:latin typeface="Times New Roman"/>
                          <a:ea typeface="Times New Roman"/>
                          <a:cs typeface="Times New Roman"/>
                          <a:sym typeface="Times New Roman"/>
                        </a:rPr>
                        <a:t>Layers</a:t>
                      </a:r>
                      <a:endParaRPr b="1" sz="1800">
                        <a:latin typeface="Times New Roman"/>
                        <a:ea typeface="Times New Roman"/>
                        <a:cs typeface="Times New Roman"/>
                        <a:sym typeface="Times New Roman"/>
                      </a:endParaRPr>
                    </a:p>
                  </a:txBody>
                  <a:tcPr marT="45700" marB="45700" marR="45700" marL="45700">
                    <a:solidFill>
                      <a:srgbClr val="FFF2CC"/>
                    </a:solidFill>
                  </a:tcPr>
                </a:tc>
              </a:tr>
              <a:tr h="375550">
                <a:tc rowSpan="5">
                  <a:txBody>
                    <a:bodyPr/>
                    <a:lstStyle/>
                    <a:p>
                      <a:pPr indent="0" lvl="0" marL="0" rtl="0" algn="l">
                        <a:lnSpc>
                          <a:spcPct val="200000"/>
                        </a:lnSpc>
                        <a:spcBef>
                          <a:spcPts val="8000"/>
                        </a:spcBef>
                        <a:spcAft>
                          <a:spcPts val="0"/>
                        </a:spcAft>
                        <a:buNone/>
                      </a:pPr>
                      <a:r>
                        <a:rPr b="1" lang="en" sz="1800"/>
                        <a:t>Lexico-Conceptual </a:t>
                      </a:r>
                      <a:endParaRPr b="1" sz="1800"/>
                    </a:p>
                    <a:p>
                      <a:pPr indent="0" lvl="0" marL="0" rtl="0" algn="l">
                        <a:spcBef>
                          <a:spcPts val="0"/>
                        </a:spcBef>
                        <a:spcAft>
                          <a:spcPts val="0"/>
                        </a:spcAft>
                        <a:buNone/>
                      </a:pPr>
                      <a:r>
                        <a:t/>
                      </a:r>
                      <a:endParaRPr b="1" sz="1800">
                        <a:latin typeface="Times New Roman"/>
                        <a:ea typeface="Times New Roman"/>
                        <a:cs typeface="Times New Roman"/>
                        <a:sym typeface="Times New Roman"/>
                      </a:endParaRPr>
                    </a:p>
                  </a:txBody>
                  <a:tcPr marT="45700" marB="45700" marR="45700" marL="45700">
                    <a:lnL cap="flat" cmpd="sng" w="12700">
                      <a:solidFill>
                        <a:srgbClr val="000000"/>
                      </a:solidFill>
                      <a:prstDash val="solid"/>
                      <a:round/>
                      <a:headEnd len="sm" w="sm" type="none"/>
                      <a:tailEnd len="sm" w="sm" type="none"/>
                    </a:lnL>
                    <a:lnB cap="flat" cmpd="sng" w="12700">
                      <a:solidFill>
                        <a:srgbClr val="000000"/>
                      </a:solidFill>
                      <a:prstDash val="solid"/>
                      <a:round/>
                      <a:headEnd len="sm" w="sm" type="none"/>
                      <a:tailEnd len="sm" w="sm" type="none"/>
                    </a:lnB>
                    <a:solidFill>
                      <a:srgbClr val="D9D2E9"/>
                    </a:solidFill>
                  </a:tcPr>
                </a:tc>
                <a:tc>
                  <a:txBody>
                    <a:bodyPr/>
                    <a:lstStyle/>
                    <a:p>
                      <a:pPr indent="0" lvl="0" marL="0" rtl="0" algn="l">
                        <a:spcBef>
                          <a:spcPts val="0"/>
                        </a:spcBef>
                        <a:spcAft>
                          <a:spcPts val="0"/>
                        </a:spcAft>
                        <a:buNone/>
                      </a:pPr>
                      <a:r>
                        <a:rPr b="1" lang="en" sz="1800">
                          <a:latin typeface="Times New Roman"/>
                          <a:ea typeface="Times New Roman"/>
                          <a:cs typeface="Times New Roman"/>
                          <a:sym typeface="Times New Roman"/>
                        </a:rPr>
                        <a:t>Concept</a:t>
                      </a:r>
                      <a:endParaRPr b="1" sz="1800">
                        <a:latin typeface="Times New Roman"/>
                        <a:ea typeface="Times New Roman"/>
                        <a:cs typeface="Times New Roman"/>
                        <a:sym typeface="Times New Roman"/>
                      </a:endParaRPr>
                    </a:p>
                  </a:txBody>
                  <a:tcPr marT="45700" marB="45700" marR="45700" marL="45700">
                    <a:solidFill>
                      <a:srgbClr val="D9D2E9"/>
                    </a:solidFill>
                  </a:tcPr>
                </a:tc>
              </a:tr>
              <a:tr h="375550">
                <a:tc vMerge="1"/>
                <a:tc>
                  <a:txBody>
                    <a:bodyPr/>
                    <a:lstStyle/>
                    <a:p>
                      <a:pPr indent="0" lvl="0" marL="0" rtl="0" algn="l">
                        <a:spcBef>
                          <a:spcPts val="0"/>
                        </a:spcBef>
                        <a:spcAft>
                          <a:spcPts val="0"/>
                        </a:spcAft>
                        <a:buNone/>
                      </a:pPr>
                      <a:r>
                        <a:rPr b="1" lang="en" sz="1800">
                          <a:latin typeface="Times New Roman"/>
                          <a:ea typeface="Times New Roman"/>
                          <a:cs typeface="Times New Roman"/>
                          <a:sym typeface="Times New Roman"/>
                        </a:rPr>
                        <a:t>Index</a:t>
                      </a:r>
                      <a:endParaRPr b="1" sz="1800">
                        <a:latin typeface="Times New Roman"/>
                        <a:ea typeface="Times New Roman"/>
                        <a:cs typeface="Times New Roman"/>
                        <a:sym typeface="Times New Roman"/>
                      </a:endParaRPr>
                    </a:p>
                  </a:txBody>
                  <a:tcPr marT="45700" marB="45700" marR="45700" marL="45700">
                    <a:solidFill>
                      <a:srgbClr val="D9D2E9"/>
                    </a:solidFill>
                  </a:tcPr>
                </a:tc>
              </a:tr>
              <a:tr h="368625">
                <a:tc vMerge="1"/>
                <a:tc>
                  <a:txBody>
                    <a:bodyPr/>
                    <a:lstStyle/>
                    <a:p>
                      <a:pPr indent="0" lvl="0" marL="0" rtl="0" algn="l">
                        <a:spcBef>
                          <a:spcPts val="0"/>
                        </a:spcBef>
                        <a:spcAft>
                          <a:spcPts val="0"/>
                        </a:spcAft>
                        <a:buNone/>
                      </a:pPr>
                      <a:r>
                        <a:rPr b="1" lang="en" sz="1800">
                          <a:latin typeface="Times New Roman"/>
                          <a:ea typeface="Times New Roman"/>
                          <a:cs typeface="Times New Roman"/>
                          <a:sym typeface="Times New Roman"/>
                        </a:rPr>
                        <a:t>Semantic Category of Noun</a:t>
                      </a:r>
                      <a:endParaRPr b="1" sz="1800">
                        <a:latin typeface="Times New Roman"/>
                        <a:ea typeface="Times New Roman"/>
                        <a:cs typeface="Times New Roman"/>
                        <a:sym typeface="Times New Roman"/>
                      </a:endParaRPr>
                    </a:p>
                  </a:txBody>
                  <a:tcPr marT="45700" marB="45700" marR="45700" marL="45700">
                    <a:lnB cap="flat" cmpd="sng" w="12700">
                      <a:solidFill>
                        <a:srgbClr val="434343"/>
                      </a:solidFill>
                      <a:prstDash val="solid"/>
                      <a:round/>
                      <a:headEnd len="sm" w="sm" type="none"/>
                      <a:tailEnd len="sm" w="sm" type="none"/>
                    </a:lnB>
                    <a:solidFill>
                      <a:srgbClr val="D9D2E9"/>
                    </a:solidFill>
                  </a:tcPr>
                </a:tc>
              </a:tr>
              <a:tr h="332475">
                <a:tc vMerge="1"/>
                <a:tc>
                  <a:txBody>
                    <a:bodyPr/>
                    <a:lstStyle/>
                    <a:p>
                      <a:pPr indent="0" lvl="0" marL="0" rtl="0" algn="l">
                        <a:spcBef>
                          <a:spcPts val="0"/>
                        </a:spcBef>
                        <a:spcAft>
                          <a:spcPts val="0"/>
                        </a:spcAft>
                        <a:buNone/>
                      </a:pPr>
                      <a:r>
                        <a:rPr b="1" lang="en" sz="1800">
                          <a:latin typeface="Times New Roman"/>
                          <a:ea typeface="Times New Roman"/>
                          <a:cs typeface="Times New Roman"/>
                          <a:sym typeface="Times New Roman"/>
                        </a:rPr>
                        <a:t>Morpho-Semantic Information</a:t>
                      </a:r>
                      <a:endParaRPr b="1" sz="1800">
                        <a:latin typeface="Times New Roman"/>
                        <a:ea typeface="Times New Roman"/>
                        <a:cs typeface="Times New Roman"/>
                        <a:sym typeface="Times New Roman"/>
                      </a:endParaRPr>
                    </a:p>
                  </a:txBody>
                  <a:tcPr marT="45700" marB="45700" marR="45700" marL="45700">
                    <a:lnL cap="flat" cmpd="sng" w="12700">
                      <a:solidFill>
                        <a:srgbClr val="434343"/>
                      </a:solidFill>
                      <a:prstDash val="solid"/>
                      <a:round/>
                      <a:headEnd len="sm" w="sm" type="none"/>
                      <a:tailEnd len="sm" w="sm" type="none"/>
                    </a:lnL>
                    <a:lnR cap="flat" cmpd="sng" w="12700">
                      <a:solidFill>
                        <a:srgbClr val="434343"/>
                      </a:solidFill>
                      <a:prstDash val="solid"/>
                      <a:round/>
                      <a:headEnd len="sm" w="sm" type="none"/>
                      <a:tailEnd len="sm" w="sm" type="none"/>
                    </a:lnR>
                    <a:lnT cap="flat" cmpd="sng" w="12700">
                      <a:solidFill>
                        <a:srgbClr val="434343"/>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D2E9"/>
                    </a:solidFill>
                  </a:tcPr>
                </a:tc>
              </a:tr>
              <a:tr h="375550">
                <a:tc vMerge="1"/>
                <a:tc>
                  <a:txBody>
                    <a:bodyPr/>
                    <a:lstStyle/>
                    <a:p>
                      <a:pPr indent="0" lvl="0" marL="0" rtl="0" algn="l">
                        <a:spcBef>
                          <a:spcPts val="0"/>
                        </a:spcBef>
                        <a:spcAft>
                          <a:spcPts val="0"/>
                        </a:spcAft>
                        <a:buNone/>
                      </a:pPr>
                      <a:r>
                        <a:rPr b="1" lang="en" sz="1800">
                          <a:latin typeface="Times New Roman"/>
                          <a:ea typeface="Times New Roman"/>
                          <a:cs typeface="Times New Roman"/>
                          <a:sym typeface="Times New Roman"/>
                        </a:rPr>
                        <a:t>Speaker’s View</a:t>
                      </a:r>
                      <a:endParaRPr b="1" sz="1800">
                        <a:latin typeface="Times New Roman"/>
                        <a:ea typeface="Times New Roman"/>
                        <a:cs typeface="Times New Roman"/>
                        <a:sym typeface="Times New Roman"/>
                      </a:endParaRPr>
                    </a:p>
                  </a:txBody>
                  <a:tcPr marT="45700" marB="45700" marR="45700" marL="457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D2E9"/>
                    </a:solidFill>
                  </a:tcPr>
                </a:tc>
              </a:tr>
              <a:tr h="375550">
                <a:tc rowSpan="2">
                  <a:txBody>
                    <a:bodyPr/>
                    <a:lstStyle/>
                    <a:p>
                      <a:pPr indent="0" lvl="0" marL="0" rtl="0" algn="l">
                        <a:lnSpc>
                          <a:spcPct val="100000"/>
                        </a:lnSpc>
                        <a:spcBef>
                          <a:spcPts val="0"/>
                        </a:spcBef>
                        <a:spcAft>
                          <a:spcPts val="0"/>
                        </a:spcAft>
                        <a:buNone/>
                      </a:pPr>
                      <a:r>
                        <a:rPr b="1" lang="en" sz="1800"/>
                        <a:t>Relational</a:t>
                      </a:r>
                      <a:endParaRPr b="1" sz="1800">
                        <a:latin typeface="Times New Roman"/>
                        <a:ea typeface="Times New Roman"/>
                        <a:cs typeface="Times New Roman"/>
                        <a:sym typeface="Times New Roman"/>
                      </a:endParaRPr>
                    </a:p>
                  </a:txBody>
                  <a:tcPr marT="45700" marB="45700" marR="45700" marL="45700" anchor="ctr">
                    <a:lnL cap="flat" cmpd="sng" w="12700">
                      <a:solidFill>
                        <a:srgbClr val="000000"/>
                      </a:solidFill>
                      <a:prstDash val="solid"/>
                      <a:round/>
                      <a:headEnd len="sm" w="sm" type="none"/>
                      <a:tailEnd len="sm" w="sm" type="none"/>
                    </a:lnL>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b="1" lang="en" sz="1800">
                          <a:latin typeface="Times New Roman"/>
                          <a:ea typeface="Times New Roman"/>
                          <a:cs typeface="Times New Roman"/>
                          <a:sym typeface="Times New Roman"/>
                        </a:rPr>
                        <a:t>Dependency Relation</a:t>
                      </a:r>
                      <a:endParaRPr b="1" sz="1800">
                        <a:latin typeface="Times New Roman"/>
                        <a:ea typeface="Times New Roman"/>
                        <a:cs typeface="Times New Roman"/>
                        <a:sym typeface="Times New Roman"/>
                      </a:endParaRPr>
                    </a:p>
                  </a:txBody>
                  <a:tcPr marT="45700" marB="45700" marR="45700" marL="45700">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AD3"/>
                    </a:solidFill>
                  </a:tcPr>
                </a:tc>
              </a:tr>
              <a:tr h="420350">
                <a:tc vMerge="1"/>
                <a:tc>
                  <a:txBody>
                    <a:bodyPr/>
                    <a:lstStyle/>
                    <a:p>
                      <a:pPr indent="0" lvl="0" marL="0" rtl="0" algn="l">
                        <a:spcBef>
                          <a:spcPts val="0"/>
                        </a:spcBef>
                        <a:spcAft>
                          <a:spcPts val="0"/>
                        </a:spcAft>
                        <a:buNone/>
                      </a:pPr>
                      <a:r>
                        <a:rPr b="1" lang="en" sz="1800">
                          <a:latin typeface="Times New Roman"/>
                          <a:ea typeface="Times New Roman"/>
                          <a:cs typeface="Times New Roman"/>
                          <a:sym typeface="Times New Roman"/>
                        </a:rPr>
                        <a:t>Construction</a:t>
                      </a:r>
                      <a:endParaRPr b="1" sz="1800">
                        <a:latin typeface="Times New Roman"/>
                        <a:ea typeface="Times New Roman"/>
                        <a:cs typeface="Times New Roman"/>
                        <a:sym typeface="Times New Roman"/>
                      </a:endParaRPr>
                    </a:p>
                  </a:txBody>
                  <a:tcPr marT="45700" marB="45700" marR="45700" marL="457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AD3"/>
                    </a:solidFill>
                  </a:tcPr>
                </a:tc>
              </a:tr>
              <a:tr h="375550">
                <a:tc>
                  <a:txBody>
                    <a:bodyPr/>
                    <a:lstStyle/>
                    <a:p>
                      <a:pPr indent="0" lvl="0" marL="0" rtl="0" algn="l">
                        <a:spcBef>
                          <a:spcPts val="0"/>
                        </a:spcBef>
                        <a:spcAft>
                          <a:spcPts val="0"/>
                        </a:spcAft>
                        <a:buNone/>
                      </a:pPr>
                      <a:r>
                        <a:rPr b="1" lang="en" sz="1800">
                          <a:latin typeface="Times New Roman"/>
                          <a:ea typeface="Times New Roman"/>
                          <a:cs typeface="Times New Roman"/>
                          <a:sym typeface="Times New Roman"/>
                        </a:rPr>
                        <a:t>Discourse</a:t>
                      </a:r>
                      <a:endParaRPr b="1" sz="1800">
                        <a:latin typeface="Times New Roman"/>
                        <a:ea typeface="Times New Roman"/>
                        <a:cs typeface="Times New Roman"/>
                        <a:sym typeface="Times New Roman"/>
                      </a:endParaRPr>
                    </a:p>
                  </a:txBody>
                  <a:tcPr marT="45700" marB="45700" marR="45700" marL="45700">
                    <a:lnL cap="flat" cmpd="sng" w="12700">
                      <a:solidFill>
                        <a:srgbClr val="000000"/>
                      </a:solidFill>
                      <a:prstDash val="solid"/>
                      <a:round/>
                      <a:headEnd len="sm" w="sm" type="none"/>
                      <a:tailEnd len="sm" w="sm" type="none"/>
                    </a:lnL>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CE5CD"/>
                    </a:solidFill>
                  </a:tcPr>
                </a:tc>
                <a:tc>
                  <a:txBody>
                    <a:bodyPr/>
                    <a:lstStyle/>
                    <a:p>
                      <a:pPr indent="0" lvl="0" marL="0" rtl="0" algn="l">
                        <a:spcBef>
                          <a:spcPts val="0"/>
                        </a:spcBef>
                        <a:spcAft>
                          <a:spcPts val="0"/>
                        </a:spcAft>
                        <a:buNone/>
                      </a:pPr>
                      <a:r>
                        <a:rPr b="1" lang="en" sz="1800">
                          <a:latin typeface="Times New Roman"/>
                          <a:ea typeface="Times New Roman"/>
                          <a:cs typeface="Times New Roman"/>
                          <a:sym typeface="Times New Roman"/>
                        </a:rPr>
                        <a:t>Discourse Element</a:t>
                      </a:r>
                      <a:endParaRPr b="1" sz="1800">
                        <a:latin typeface="Times New Roman"/>
                        <a:ea typeface="Times New Roman"/>
                        <a:cs typeface="Times New Roman"/>
                        <a:sym typeface="Times New Roman"/>
                      </a:endParaRPr>
                    </a:p>
                  </a:txBody>
                  <a:tcPr marT="45700" marB="45700" marR="45700" marL="45700">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CE5CD"/>
                    </a:solidFill>
                  </a:tcPr>
                </a:tc>
              </a:tr>
              <a:tr h="375550">
                <a:tc>
                  <a:txBody>
                    <a:bodyPr/>
                    <a:lstStyle/>
                    <a:p>
                      <a:pPr indent="0" lvl="0" marL="0" rtl="0" algn="l">
                        <a:spcBef>
                          <a:spcPts val="0"/>
                        </a:spcBef>
                        <a:spcAft>
                          <a:spcPts val="0"/>
                        </a:spcAft>
                        <a:buNone/>
                      </a:pPr>
                      <a:r>
                        <a:t/>
                      </a:r>
                      <a:endParaRPr b="1" sz="1800">
                        <a:latin typeface="Times New Roman"/>
                        <a:ea typeface="Times New Roman"/>
                        <a:cs typeface="Times New Roman"/>
                        <a:sym typeface="Times New Roman"/>
                      </a:endParaRPr>
                    </a:p>
                  </a:txBody>
                  <a:tcPr marT="45700" marB="45700" marR="45700" marL="45700">
                    <a:lnL cap="flat" cmpd="sng" w="12700">
                      <a:solidFill>
                        <a:srgbClr val="FFFFFF"/>
                      </a:solidFill>
                      <a:prstDash val="solid"/>
                      <a:round/>
                      <a:headEnd len="sm" w="sm" type="none"/>
                      <a:tailEnd len="sm" w="sm" type="none"/>
                    </a:lnL>
                    <a:lnT cap="flat" cmpd="sng" w="12700">
                      <a:solidFill>
                        <a:srgbClr val="000000"/>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b="1" lang="en" sz="1800">
                          <a:latin typeface="Times New Roman"/>
                          <a:ea typeface="Times New Roman"/>
                          <a:cs typeface="Times New Roman"/>
                          <a:sym typeface="Times New Roman"/>
                        </a:rPr>
                        <a:t>Sentence Type</a:t>
                      </a:r>
                      <a:endParaRPr b="1" sz="1800">
                        <a:latin typeface="Times New Roman"/>
                        <a:ea typeface="Times New Roman"/>
                        <a:cs typeface="Times New Roman"/>
                        <a:sym typeface="Times New Roman"/>
                      </a:endParaRPr>
                    </a:p>
                  </a:txBody>
                  <a:tcPr marT="45700" marB="45700" marR="45700" marL="45700">
                    <a:lnT cap="flat" cmpd="sng" w="12700">
                      <a:solidFill>
                        <a:srgbClr val="000000"/>
                      </a:solidFill>
                      <a:prstDash val="solid"/>
                      <a:round/>
                      <a:headEnd len="sm" w="sm" type="none"/>
                      <a:tailEnd len="sm" w="sm" type="none"/>
                    </a:lnT>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286350" y="2311450"/>
            <a:ext cx="8571300" cy="9420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sz="4044">
                <a:latin typeface="Times New Roman"/>
                <a:ea typeface="Times New Roman"/>
                <a:cs typeface="Times New Roman"/>
                <a:sym typeface="Times New Roman"/>
              </a:rPr>
              <a:t>Commented Layer</a:t>
            </a:r>
            <a:endParaRPr sz="4044">
              <a:latin typeface="Times New Roman"/>
              <a:ea typeface="Times New Roman"/>
              <a:cs typeface="Times New Roman"/>
              <a:sym typeface="Times New Roman"/>
            </a:endParaRPr>
          </a:p>
          <a:p>
            <a:pPr indent="0" lvl="0" marL="0" rtl="0" algn="ctr">
              <a:spcBef>
                <a:spcPts val="0"/>
              </a:spcBef>
              <a:spcAft>
                <a:spcPts val="0"/>
              </a:spcAft>
              <a:buNone/>
            </a:pPr>
            <a:r>
              <a:t/>
            </a:r>
            <a:endParaRPr sz="4044"/>
          </a:p>
          <a:p>
            <a:pPr indent="0" lvl="0" marL="0" rtl="0" algn="ctr">
              <a:spcBef>
                <a:spcPts val="0"/>
              </a:spcBef>
              <a:spcAft>
                <a:spcPts val="0"/>
              </a:spcAft>
              <a:buNone/>
            </a:pPr>
            <a:r>
              <a:rPr lang="en" sz="2200">
                <a:solidFill>
                  <a:schemeClr val="lt1"/>
                </a:solidFill>
                <a:latin typeface="Arial"/>
                <a:ea typeface="Arial"/>
                <a:cs typeface="Arial"/>
                <a:sym typeface="Arial"/>
              </a:rPr>
              <a:t>Original Sentence</a:t>
            </a:r>
            <a:endParaRPr sz="2200">
              <a:solidFill>
                <a:schemeClr val="lt1"/>
              </a:solidFill>
              <a:latin typeface="Arial"/>
              <a:ea typeface="Arial"/>
              <a:cs typeface="Arial"/>
              <a:sym typeface="Arial"/>
            </a:endParaRPr>
          </a:p>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nvSpPr>
        <p:spPr>
          <a:xfrm>
            <a:off x="182200" y="509250"/>
            <a:ext cx="8473200" cy="10989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Original Sentence commented with a # symbol.</a:t>
            </a:r>
            <a:endParaRPr sz="1800">
              <a:latin typeface="Times New Roman"/>
              <a:ea typeface="Times New Roman"/>
              <a:cs typeface="Times New Roman"/>
              <a:sym typeface="Times New Roman"/>
            </a:endParaRPr>
          </a:p>
          <a:p>
            <a:pPr indent="457200" lvl="0" marL="0" rtl="0" algn="l">
              <a:lnSpc>
                <a:spcPct val="115000"/>
              </a:lnSpc>
              <a:spcBef>
                <a:spcPts val="0"/>
              </a:spcBef>
              <a:spcAft>
                <a:spcPts val="0"/>
              </a:spcAft>
              <a:buNone/>
            </a:pPr>
            <a:r>
              <a:rPr lang="en" sz="1800">
                <a:latin typeface="Times New Roman"/>
                <a:ea typeface="Times New Roman"/>
                <a:cs typeface="Times New Roman"/>
                <a:sym typeface="Times New Roman"/>
              </a:rPr>
              <a:t>Example: </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sz="1800">
                <a:latin typeface="Times New Roman"/>
                <a:ea typeface="Times New Roman"/>
                <a:cs typeface="Times New Roman"/>
                <a:sym typeface="Times New Roman"/>
              </a:rPr>
              <a:t> # राम बस अड्डे पर एक पुराने दोस्त के साथ ही बात कर रहा था । </a:t>
            </a:r>
            <a:endParaRPr sz="1800">
              <a:latin typeface="Times New Roman"/>
              <a:ea typeface="Times New Roman"/>
              <a:cs typeface="Times New Roman"/>
              <a:sym typeface="Times New Roman"/>
            </a:endParaRPr>
          </a:p>
        </p:txBody>
      </p:sp>
      <p:sp>
        <p:nvSpPr>
          <p:cNvPr id="101" name="Google Shape;101;p19"/>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Commented </a:t>
            </a:r>
            <a:r>
              <a:rPr b="1" lang="en" sz="2200">
                <a:solidFill>
                  <a:schemeClr val="accent1"/>
                </a:solidFill>
                <a:latin typeface="Times New Roman"/>
                <a:ea typeface="Times New Roman"/>
                <a:cs typeface="Times New Roman"/>
                <a:sym typeface="Times New Roman"/>
              </a:rPr>
              <a:t>L</a:t>
            </a:r>
            <a:r>
              <a:rPr b="1" lang="en" sz="2200">
                <a:solidFill>
                  <a:schemeClr val="accent1"/>
                </a:solidFill>
                <a:latin typeface="Times New Roman"/>
                <a:ea typeface="Times New Roman"/>
                <a:cs typeface="Times New Roman"/>
                <a:sym typeface="Times New Roman"/>
              </a:rPr>
              <a:t>ayer</a:t>
            </a:r>
            <a:endParaRPr b="1" sz="2200">
              <a:solidFill>
                <a:schemeClr val="accen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nvSpPr>
        <p:spPr>
          <a:xfrm>
            <a:off x="182200" y="509250"/>
            <a:ext cx="8473200" cy="46038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TITLE</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Used for chapter titles.</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Sentence ID ends with TITLE.</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Sentence type: TITLE</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Example: Recipe_1TITLE</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Heading (H)</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For section/subsection headings.</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Sentence ID ends with H.</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Sentence type: heading</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Example: Geo_ncert_10stnd_2ch_0012H</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Term (T)</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Term and its definition split into two sub-sentences.</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Term ID ends with T; sentence type: Term</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Example: Hin_Geo_nios_7ch_0029T</a:t>
            </a:r>
            <a:endParaRPr sz="1800">
              <a:latin typeface="Times New Roman"/>
              <a:ea typeface="Times New Roman"/>
              <a:cs typeface="Times New Roman"/>
              <a:sym typeface="Times New Roman"/>
            </a:endParaRPr>
          </a:p>
        </p:txBody>
      </p:sp>
      <p:sp>
        <p:nvSpPr>
          <p:cNvPr id="107" name="Google Shape;107;p20"/>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Sub-sentence Identification</a:t>
            </a:r>
            <a:endParaRPr b="1" sz="2200">
              <a:solidFill>
                <a:schemeClr val="accen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nvSpPr>
        <p:spPr>
          <a:xfrm>
            <a:off x="4081400" y="859250"/>
            <a:ext cx="4176900" cy="26922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Username - Your Full Name</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Email - Institute Email Address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Organization - IIT (BHU)</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b="1" lang="en" sz="1800">
                <a:latin typeface="Times New Roman"/>
                <a:ea typeface="Times New Roman"/>
                <a:cs typeface="Times New Roman"/>
                <a:sym typeface="Times New Roman"/>
              </a:rPr>
              <a:t>Select Roles - Annotator</a:t>
            </a:r>
            <a:endParaRPr b="1"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Select Languages - Hindi or English</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Password - According to your choice </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Click on Register </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800">
              <a:latin typeface="Times New Roman"/>
              <a:ea typeface="Times New Roman"/>
              <a:cs typeface="Times New Roman"/>
              <a:sym typeface="Times New Roman"/>
            </a:endParaRPr>
          </a:p>
        </p:txBody>
      </p:sp>
      <p:sp>
        <p:nvSpPr>
          <p:cNvPr id="113" name="Google Shape;113;p21"/>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Interface Registration </a:t>
            </a:r>
            <a:endParaRPr b="1" sz="2200">
              <a:solidFill>
                <a:schemeClr val="accent1"/>
              </a:solidFill>
              <a:latin typeface="Times New Roman"/>
              <a:ea typeface="Times New Roman"/>
              <a:cs typeface="Times New Roman"/>
              <a:sym typeface="Times New Roman"/>
            </a:endParaRPr>
          </a:p>
        </p:txBody>
      </p:sp>
      <p:pic>
        <p:nvPicPr>
          <p:cNvPr id="114" name="Google Shape;114;p21"/>
          <p:cNvPicPr preferRelativeResize="0"/>
          <p:nvPr/>
        </p:nvPicPr>
        <p:blipFill>
          <a:blip r:embed="rId3">
            <a:alphaModFix/>
          </a:blip>
          <a:stretch>
            <a:fillRect/>
          </a:stretch>
        </p:blipFill>
        <p:spPr>
          <a:xfrm>
            <a:off x="701350" y="580725"/>
            <a:ext cx="3039772" cy="4315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nvSpPr>
        <p:spPr>
          <a:xfrm>
            <a:off x="182200" y="509250"/>
            <a:ext cx="8473200" cy="396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Why Segment Sentences?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Complex sentence USR is difficult.</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Automated generation is challenging.</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First segment into discourse units.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Avoid segmentation if it breaks coherence.</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Segmentation Rules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Each segment has a finite verb.</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Discourse unit = simple sentence/clause.</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Don’t split relative clauses with in-sentence reference.</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Split complement clauses.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Keep connectives with the split segment.</a:t>
            </a:r>
            <a:endParaRPr sz="1800">
              <a:latin typeface="Times New Roman"/>
              <a:ea typeface="Times New Roman"/>
              <a:cs typeface="Times New Roman"/>
              <a:sym typeface="Times New Roman"/>
            </a:endParaRPr>
          </a:p>
        </p:txBody>
      </p:sp>
      <p:sp>
        <p:nvSpPr>
          <p:cNvPr id="120" name="Google Shape;120;p22"/>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Sentence Segmentation</a:t>
            </a:r>
            <a:endParaRPr b="1" sz="2200">
              <a:solidFill>
                <a:schemeClr val="accent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nvSpPr>
        <p:spPr>
          <a:xfrm>
            <a:off x="301470" y="717972"/>
            <a:ext cx="8473200" cy="332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Discourse Units &amp; Finite Verbs</a:t>
            </a:r>
            <a:endParaRPr sz="1800">
              <a:latin typeface="Times New Roman"/>
              <a:ea typeface="Times New Roman"/>
              <a:cs typeface="Times New Roman"/>
              <a:sym typeface="Times New Roman"/>
            </a:endParaRPr>
          </a:p>
          <a:p>
            <a:pPr indent="-342900" lvl="0"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A discourse unit usually contains a finite verb.</a:t>
            </a:r>
            <a:endParaRPr sz="1800">
              <a:latin typeface="Times New Roman"/>
              <a:ea typeface="Times New Roman"/>
              <a:cs typeface="Times New Roman"/>
              <a:sym typeface="Times New Roman"/>
            </a:endParaRPr>
          </a:p>
          <a:p>
            <a:pPr indent="-342900" lvl="0"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Represents a simple sentence/clause contributing to the discourse.</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Example: </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Original:	Sent_ID_1 → #rāma bīmāra hai isalie vaha skūla nahīṃ gayā.</a:t>
            </a:r>
            <a:endParaRPr sz="1800">
              <a:latin typeface="Times New Roman"/>
              <a:ea typeface="Times New Roman"/>
              <a:cs typeface="Times New Roman"/>
              <a:sym typeface="Times New Roman"/>
            </a:endParaRPr>
          </a:p>
          <a:p>
            <a:pPr indent="0" lvl="0" marL="1371600" rtl="0" algn="l">
              <a:lnSpc>
                <a:spcPct val="115000"/>
              </a:lnSpc>
              <a:spcBef>
                <a:spcPts val="0"/>
              </a:spcBef>
              <a:spcAft>
                <a:spcPts val="0"/>
              </a:spcAft>
              <a:buNone/>
            </a:pPr>
            <a:r>
              <a:rPr lang="en" sz="1800">
                <a:latin typeface="Times New Roman"/>
                <a:ea typeface="Times New Roman"/>
                <a:cs typeface="Times New Roman"/>
                <a:sym typeface="Times New Roman"/>
              </a:rPr>
              <a:t>                        	(Rama is sick. Therefore, he did not go to school.)</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Segmented:</a:t>
            </a:r>
            <a:endParaRPr sz="1800">
              <a:latin typeface="Times New Roman"/>
              <a:ea typeface="Times New Roman"/>
              <a:cs typeface="Times New Roman"/>
              <a:sym typeface="Times New Roman"/>
            </a:endParaRPr>
          </a:p>
          <a:p>
            <a:pPr indent="0" lvl="0" marL="1371600" rtl="0" algn="l">
              <a:lnSpc>
                <a:spcPct val="115000"/>
              </a:lnSpc>
              <a:spcBef>
                <a:spcPts val="0"/>
              </a:spcBef>
              <a:spcAft>
                <a:spcPts val="0"/>
              </a:spcAft>
              <a:buNone/>
            </a:pPr>
            <a:r>
              <a:rPr lang="en" sz="1800">
                <a:latin typeface="Times New Roman"/>
                <a:ea typeface="Times New Roman"/>
                <a:cs typeface="Times New Roman"/>
                <a:sym typeface="Times New Roman"/>
              </a:rPr>
              <a:t>Sent_ID_1a → #rāma bīmāra hai.</a:t>
            </a:r>
            <a:endParaRPr sz="1800">
              <a:latin typeface="Times New Roman"/>
              <a:ea typeface="Times New Roman"/>
              <a:cs typeface="Times New Roman"/>
              <a:sym typeface="Times New Roman"/>
            </a:endParaRPr>
          </a:p>
          <a:p>
            <a:pPr indent="0" lvl="0" marL="1371600" rtl="0" algn="l">
              <a:lnSpc>
                <a:spcPct val="115000"/>
              </a:lnSpc>
              <a:spcBef>
                <a:spcPts val="0"/>
              </a:spcBef>
              <a:spcAft>
                <a:spcPts val="0"/>
              </a:spcAft>
              <a:buNone/>
            </a:pPr>
            <a:r>
              <a:rPr lang="en" sz="1800">
                <a:latin typeface="Times New Roman"/>
                <a:ea typeface="Times New Roman"/>
                <a:cs typeface="Times New Roman"/>
                <a:sym typeface="Times New Roman"/>
              </a:rPr>
              <a:t>Sent_ID_1b → #isalie vaha skūla nahīṃ gayā.</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t/>
            </a:r>
            <a:endParaRPr sz="1800">
              <a:latin typeface="Times New Roman"/>
              <a:ea typeface="Times New Roman"/>
              <a:cs typeface="Times New Roman"/>
              <a:sym typeface="Times New Roman"/>
            </a:endParaRPr>
          </a:p>
        </p:txBody>
      </p:sp>
      <p:sp>
        <p:nvSpPr>
          <p:cNvPr id="126" name="Google Shape;126;p23"/>
          <p:cNvSpPr txBox="1"/>
          <p:nvPr/>
        </p:nvSpPr>
        <p:spPr>
          <a:xfrm>
            <a:off x="353300" y="0"/>
            <a:ext cx="8302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chemeClr val="accent1"/>
                </a:solidFill>
                <a:latin typeface="Times New Roman"/>
                <a:ea typeface="Times New Roman"/>
                <a:cs typeface="Times New Roman"/>
                <a:sym typeface="Times New Roman"/>
              </a:rPr>
              <a:t>Sentence Segmentation</a:t>
            </a:r>
            <a:endParaRPr b="1" sz="2600">
              <a:solidFill>
                <a:schemeClr val="accent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nvSpPr>
        <p:spPr>
          <a:xfrm>
            <a:off x="182200" y="509250"/>
            <a:ext cx="8783100" cy="473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Relative Clauses</a:t>
            </a:r>
            <a:endParaRPr sz="1800">
              <a:latin typeface="Times New Roman"/>
              <a:ea typeface="Times New Roman"/>
              <a:cs typeface="Times New Roman"/>
              <a:sym typeface="Times New Roman"/>
            </a:endParaRPr>
          </a:p>
          <a:p>
            <a:pPr indent="-342900" lvl="0"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Do Not Segment when clause refers to a noun in the sentence.</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Example:</a:t>
            </a:r>
            <a:r>
              <a:rPr i="1" lang="en" sz="1800">
                <a:latin typeface="Times New Roman"/>
                <a:ea typeface="Times New Roman"/>
                <a:cs typeface="Times New Roman"/>
                <a:sym typeface="Times New Roman"/>
              </a:rPr>
              <a:t> bhārata kā sabase dakṣiṇī biṃdu jo iṃdirā biṃdu kahā jātā thā, san‌ 2004 meṃ jalamagna ho gayā.</a:t>
            </a:r>
            <a:endParaRPr i="1" sz="1800">
              <a:latin typeface="Times New Roman"/>
              <a:ea typeface="Times New Roman"/>
              <a:cs typeface="Times New Roman"/>
              <a:sym typeface="Times New Roman"/>
            </a:endParaRPr>
          </a:p>
          <a:p>
            <a:pPr indent="-342900" lvl="0" marL="914400" rtl="0" algn="l">
              <a:lnSpc>
                <a:spcPct val="115000"/>
              </a:lnSpc>
              <a:spcBef>
                <a:spcPts val="1000"/>
              </a:spcBef>
              <a:spcAft>
                <a:spcPts val="0"/>
              </a:spcAft>
              <a:buSzPts val="1800"/>
              <a:buFont typeface="Times New Roman"/>
              <a:buChar char="●"/>
            </a:pPr>
            <a:r>
              <a:rPr lang="en" sz="1800">
                <a:latin typeface="Times New Roman"/>
                <a:ea typeface="Times New Roman"/>
                <a:cs typeface="Times New Roman"/>
                <a:sym typeface="Times New Roman"/>
              </a:rPr>
              <a:t>Segment when multiple relative clauses are present</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Original:	</a:t>
            </a:r>
            <a:r>
              <a:rPr i="1" lang="en" sz="1800">
                <a:latin typeface="Times New Roman"/>
                <a:ea typeface="Times New Roman"/>
                <a:cs typeface="Times New Roman"/>
                <a:sym typeface="Times New Roman"/>
              </a:rPr>
              <a:t>pṛthvī ke dharātala ke ūṁce uṭhe hue bhāga jinakā śikhara hajāra mīṭara se adhika ūṁcā ho aura ḍhāla tīvra ho, tathā jinake banane meṃ jinakā lākhoṃ varṣa lage hoṃ, parvata kahalāte haiṃ.</a:t>
            </a:r>
            <a:endParaRPr i="1"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Segmented:</a:t>
            </a:r>
            <a:endParaRPr sz="1800">
              <a:latin typeface="Times New Roman"/>
              <a:ea typeface="Times New Roman"/>
              <a:cs typeface="Times New Roman"/>
              <a:sym typeface="Times New Roman"/>
            </a:endParaRPr>
          </a:p>
          <a:p>
            <a:pPr indent="0" lvl="0" marL="1371600" rtl="0" algn="l">
              <a:lnSpc>
                <a:spcPct val="115000"/>
              </a:lnSpc>
              <a:spcBef>
                <a:spcPts val="0"/>
              </a:spcBef>
              <a:spcAft>
                <a:spcPts val="0"/>
              </a:spcAft>
              <a:buNone/>
            </a:pPr>
            <a:r>
              <a:rPr lang="en" sz="1800">
                <a:latin typeface="Times New Roman"/>
                <a:ea typeface="Times New Roman"/>
                <a:cs typeface="Times New Roman"/>
                <a:sym typeface="Times New Roman"/>
              </a:rPr>
              <a:t>1a. pṛthvī ke dharātala ke ūṁce uṭhe hue bhāga parvata kahalāte haiṃ.</a:t>
            </a:r>
            <a:endParaRPr sz="1800">
              <a:latin typeface="Times New Roman"/>
              <a:ea typeface="Times New Roman"/>
              <a:cs typeface="Times New Roman"/>
              <a:sym typeface="Times New Roman"/>
            </a:endParaRPr>
          </a:p>
          <a:p>
            <a:pPr indent="0" lvl="0" marL="1371600" rtl="0" algn="l">
              <a:lnSpc>
                <a:spcPct val="115000"/>
              </a:lnSpc>
              <a:spcBef>
                <a:spcPts val="0"/>
              </a:spcBef>
              <a:spcAft>
                <a:spcPts val="0"/>
              </a:spcAft>
              <a:buNone/>
            </a:pPr>
            <a:r>
              <a:rPr lang="en" sz="1800">
                <a:latin typeface="Times New Roman"/>
                <a:ea typeface="Times New Roman"/>
                <a:cs typeface="Times New Roman"/>
                <a:sym typeface="Times New Roman"/>
              </a:rPr>
              <a:t>1b. jinakā śikhara hajāra mīṭara se adhika ūṁcā ho.</a:t>
            </a:r>
            <a:endParaRPr sz="1800">
              <a:latin typeface="Times New Roman"/>
              <a:ea typeface="Times New Roman"/>
              <a:cs typeface="Times New Roman"/>
              <a:sym typeface="Times New Roman"/>
            </a:endParaRPr>
          </a:p>
          <a:p>
            <a:pPr indent="0" lvl="0" marL="1371600" rtl="0" algn="l">
              <a:lnSpc>
                <a:spcPct val="115000"/>
              </a:lnSpc>
              <a:spcBef>
                <a:spcPts val="0"/>
              </a:spcBef>
              <a:spcAft>
                <a:spcPts val="0"/>
              </a:spcAft>
              <a:buNone/>
            </a:pPr>
            <a:r>
              <a:rPr lang="en" sz="1800">
                <a:latin typeface="Times New Roman"/>
                <a:ea typeface="Times New Roman"/>
                <a:cs typeface="Times New Roman"/>
                <a:sym typeface="Times New Roman"/>
              </a:rPr>
              <a:t>1c. aura jinakā ḍhāla tīvra ho.</a:t>
            </a:r>
            <a:endParaRPr sz="1800">
              <a:latin typeface="Times New Roman"/>
              <a:ea typeface="Times New Roman"/>
              <a:cs typeface="Times New Roman"/>
              <a:sym typeface="Times New Roman"/>
            </a:endParaRPr>
          </a:p>
          <a:p>
            <a:pPr indent="0" lvl="0" marL="1371600" rtl="0" algn="l">
              <a:lnSpc>
                <a:spcPct val="115000"/>
              </a:lnSpc>
              <a:spcBef>
                <a:spcPts val="0"/>
              </a:spcBef>
              <a:spcAft>
                <a:spcPts val="0"/>
              </a:spcAft>
              <a:buNone/>
            </a:pPr>
            <a:r>
              <a:rPr lang="en" sz="1800">
                <a:latin typeface="Times New Roman"/>
                <a:ea typeface="Times New Roman"/>
                <a:cs typeface="Times New Roman"/>
                <a:sym typeface="Times New Roman"/>
              </a:rPr>
              <a:t>1d. tathā jinake banane meṃ lākhoṃ varṣa lage hoṃ.</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t/>
            </a:r>
            <a:endParaRPr sz="1800">
              <a:latin typeface="Times New Roman"/>
              <a:ea typeface="Times New Roman"/>
              <a:cs typeface="Times New Roman"/>
              <a:sym typeface="Times New Roman"/>
            </a:endParaRPr>
          </a:p>
        </p:txBody>
      </p:sp>
      <p:sp>
        <p:nvSpPr>
          <p:cNvPr id="132" name="Google Shape;132;p24"/>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Sentence Segmentation</a:t>
            </a:r>
            <a:endParaRPr b="1" sz="2200">
              <a:solidFill>
                <a:schemeClr val="accen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nvSpPr>
        <p:spPr>
          <a:xfrm>
            <a:off x="182200" y="509250"/>
            <a:ext cx="8473200" cy="26922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Complement Clause Segmentation</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Rule: Add yaha (“this”) to the main clause to co-refer to the complement clause.</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Example</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Original Sentence: hīrā ne kahā ki ūṁṭa mileṃge</a:t>
            </a:r>
            <a:endParaRPr sz="1800">
              <a:latin typeface="Times New Roman"/>
              <a:ea typeface="Times New Roman"/>
              <a:cs typeface="Times New Roman"/>
              <a:sym typeface="Times New Roman"/>
            </a:endParaRPr>
          </a:p>
          <a:p>
            <a:pPr indent="0" lvl="0" marL="2286000" rtl="0" algn="l">
              <a:lnSpc>
                <a:spcPct val="115000"/>
              </a:lnSpc>
              <a:spcBef>
                <a:spcPts val="0"/>
              </a:spcBef>
              <a:spcAft>
                <a:spcPts val="0"/>
              </a:spcAft>
              <a:buNone/>
            </a:pPr>
            <a:r>
              <a:rPr lang="en" sz="1800">
                <a:latin typeface="Times New Roman"/>
                <a:ea typeface="Times New Roman"/>
                <a:cs typeface="Times New Roman"/>
                <a:sym typeface="Times New Roman"/>
              </a:rPr>
              <a:t>       (Hira said that the camel will be available there.)</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Segmented Outcome</a:t>
            </a:r>
            <a:endParaRPr sz="1800">
              <a:latin typeface="Times New Roman"/>
              <a:ea typeface="Times New Roman"/>
              <a:cs typeface="Times New Roman"/>
              <a:sym typeface="Times New Roman"/>
            </a:endParaRPr>
          </a:p>
          <a:p>
            <a:pPr indent="-342900" lvl="2" marL="13716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1a. hīrā ne yaha kahā — “Hira said this.”</a:t>
            </a:r>
            <a:endParaRPr sz="1800">
              <a:latin typeface="Times New Roman"/>
              <a:ea typeface="Times New Roman"/>
              <a:cs typeface="Times New Roman"/>
              <a:sym typeface="Times New Roman"/>
            </a:endParaRPr>
          </a:p>
          <a:p>
            <a:pPr indent="-342900" lvl="2" marL="13716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1b. ūṁṭa mileṃge — “Camel will be available there.”</a:t>
            </a:r>
            <a:endParaRPr sz="1800">
              <a:latin typeface="Times New Roman"/>
              <a:ea typeface="Times New Roman"/>
              <a:cs typeface="Times New Roman"/>
              <a:sym typeface="Times New Roman"/>
            </a:endParaRPr>
          </a:p>
        </p:txBody>
      </p:sp>
      <p:sp>
        <p:nvSpPr>
          <p:cNvPr id="138" name="Google Shape;138;p25"/>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Sentence Segmentation</a:t>
            </a:r>
            <a:endParaRPr b="1" sz="2200">
              <a:solidFill>
                <a:schemeClr val="accen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ph type="title"/>
          </p:nvPr>
        </p:nvSpPr>
        <p:spPr>
          <a:xfrm>
            <a:off x="286350" y="1643550"/>
            <a:ext cx="85713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latin typeface="Times New Roman"/>
                <a:ea typeface="Times New Roman"/>
                <a:cs typeface="Times New Roman"/>
                <a:sym typeface="Times New Roman"/>
              </a:rPr>
              <a:t>Concept Layer</a:t>
            </a:r>
            <a:endParaRPr>
              <a:solidFill>
                <a:schemeClr val="lt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7"/>
          <p:cNvSpPr txBox="1"/>
          <p:nvPr/>
        </p:nvSpPr>
        <p:spPr>
          <a:xfrm>
            <a:off x="182200" y="509250"/>
            <a:ext cx="8473200" cy="17361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Contains atomic words, multiword expressions, or derived words.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Concepts: Semantic constructs; simple or complex.</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Format: &lt;Root_ID&gt; Ex. bhāī_1 (brother), paḍha_1 (read)</a:t>
            </a:r>
            <a:endParaRPr sz="1800">
              <a:latin typeface="Times New Roman"/>
              <a:ea typeface="Times New Roman"/>
              <a:cs typeface="Times New Roman"/>
              <a:sym typeface="Times New Roman"/>
            </a:endParaRPr>
          </a:p>
          <a:p>
            <a:pPr indent="457200" lvl="0" marL="0" rtl="0" algn="l">
              <a:lnSpc>
                <a:spcPct val="115000"/>
              </a:lnSpc>
              <a:spcBef>
                <a:spcPts val="0"/>
              </a:spcBef>
              <a:spcAft>
                <a:spcPts val="0"/>
              </a:spcAft>
              <a:buNone/>
            </a:pPr>
            <a:r>
              <a:rPr lang="en" sz="1800">
                <a:latin typeface="Times New Roman"/>
                <a:ea typeface="Times New Roman"/>
                <a:cs typeface="Times New Roman"/>
                <a:sym typeface="Times New Roman"/>
              </a:rPr>
              <a:t>It resolves polysemy and maps concepts across languages.</a:t>
            </a:r>
            <a:endParaRPr sz="1800">
              <a:latin typeface="Times New Roman"/>
              <a:ea typeface="Times New Roman"/>
              <a:cs typeface="Times New Roman"/>
              <a:sym typeface="Times New Roman"/>
            </a:endParaRPr>
          </a:p>
          <a:p>
            <a:pPr indent="457200" lvl="0" marL="0" rtl="0" algn="l">
              <a:lnSpc>
                <a:spcPct val="115000"/>
              </a:lnSpc>
              <a:spcBef>
                <a:spcPts val="0"/>
              </a:spcBef>
              <a:spcAft>
                <a:spcPts val="0"/>
              </a:spcAft>
              <a:buNone/>
            </a:pPr>
            <a:r>
              <a:rPr lang="en" sz="1800">
                <a:latin typeface="Times New Roman"/>
                <a:ea typeface="Times New Roman"/>
                <a:cs typeface="Times New Roman"/>
                <a:sym typeface="Times New Roman"/>
              </a:rPr>
              <a:t>Example:     	paḍha_1 = read;      	paḍha_2 = study</a:t>
            </a:r>
            <a:endParaRPr sz="1800">
              <a:latin typeface="Times New Roman"/>
              <a:ea typeface="Times New Roman"/>
              <a:cs typeface="Times New Roman"/>
              <a:sym typeface="Times New Roman"/>
            </a:endParaRPr>
          </a:p>
        </p:txBody>
      </p:sp>
      <p:sp>
        <p:nvSpPr>
          <p:cNvPr id="149" name="Google Shape;149;p27"/>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Concept Layer</a:t>
            </a:r>
            <a:endParaRPr b="1" sz="2200">
              <a:solidFill>
                <a:schemeClr val="accent1"/>
              </a:solidFill>
              <a:latin typeface="Times New Roman"/>
              <a:ea typeface="Times New Roman"/>
              <a:cs typeface="Times New Roman"/>
              <a:sym typeface="Times New Roman"/>
            </a:endParaRPr>
          </a:p>
        </p:txBody>
      </p:sp>
      <p:graphicFrame>
        <p:nvGraphicFramePr>
          <p:cNvPr id="150" name="Google Shape;150;p27"/>
          <p:cNvGraphicFramePr/>
          <p:nvPr/>
        </p:nvGraphicFramePr>
        <p:xfrm>
          <a:off x="977646" y="2334841"/>
          <a:ext cx="3000000" cy="3000000"/>
        </p:xfrm>
        <a:graphic>
          <a:graphicData uri="http://schemas.openxmlformats.org/drawingml/2006/table">
            <a:tbl>
              <a:tblPr>
                <a:noFill/>
                <a:tableStyleId>{A08EB046-44EC-4B29-989E-B51535566E72}</a:tableStyleId>
              </a:tblPr>
              <a:tblGrid>
                <a:gridCol w="1402275"/>
                <a:gridCol w="1219775"/>
                <a:gridCol w="1461200"/>
                <a:gridCol w="1568325"/>
                <a:gridCol w="1332250"/>
                <a:gridCol w="783325"/>
              </a:tblGrid>
              <a:tr h="287175">
                <a:tc>
                  <a:txBody>
                    <a:bodyPr/>
                    <a:lstStyle/>
                    <a:p>
                      <a:pPr indent="0" lvl="0" marL="0" marR="0" rtl="0" algn="ctr">
                        <a:lnSpc>
                          <a:spcPct val="115000"/>
                        </a:lnSpc>
                        <a:spcBef>
                          <a:spcPts val="0"/>
                        </a:spcBef>
                        <a:spcAft>
                          <a:spcPts val="0"/>
                        </a:spcAft>
                        <a:buNone/>
                      </a:pPr>
                      <a:r>
                        <a:rPr b="1" lang="en" sz="1800">
                          <a:latin typeface="Times New Roman"/>
                          <a:ea typeface="Times New Roman"/>
                          <a:cs typeface="Times New Roman"/>
                          <a:sym typeface="Times New Roman"/>
                        </a:rPr>
                        <a:t>Hindi</a:t>
                      </a:r>
                      <a:endParaRPr b="1"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rPr b="1" lang="en" sz="1800">
                          <a:latin typeface="Times New Roman"/>
                          <a:ea typeface="Times New Roman"/>
                          <a:cs typeface="Times New Roman"/>
                          <a:sym typeface="Times New Roman"/>
                        </a:rPr>
                        <a:t>Eng</a:t>
                      </a:r>
                      <a:endParaRPr b="1"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rPr b="1" lang="en" sz="1800">
                          <a:latin typeface="Times New Roman"/>
                          <a:ea typeface="Times New Roman"/>
                          <a:cs typeface="Times New Roman"/>
                          <a:sym typeface="Times New Roman"/>
                        </a:rPr>
                        <a:t>Marathi</a:t>
                      </a:r>
                      <a:endParaRPr b="1"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rPr b="1" lang="en" sz="1800">
                          <a:latin typeface="Times New Roman"/>
                          <a:ea typeface="Times New Roman"/>
                          <a:cs typeface="Times New Roman"/>
                          <a:sym typeface="Times New Roman"/>
                        </a:rPr>
                        <a:t>Tamil</a:t>
                      </a:r>
                      <a:endParaRPr b="1"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rPr b="1" lang="en" sz="1800">
                          <a:latin typeface="Times New Roman"/>
                          <a:ea typeface="Times New Roman"/>
                          <a:cs typeface="Times New Roman"/>
                          <a:sym typeface="Times New Roman"/>
                        </a:rPr>
                        <a:t>German</a:t>
                      </a:r>
                      <a:endParaRPr b="1"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rPr b="1" lang="en" sz="1800">
                          <a:latin typeface="Times New Roman"/>
                          <a:ea typeface="Times New Roman"/>
                          <a:cs typeface="Times New Roman"/>
                          <a:sym typeface="Times New Roman"/>
                        </a:rPr>
                        <a:t>Jap.</a:t>
                      </a:r>
                      <a:endParaRPr b="1" sz="1800">
                        <a:latin typeface="Times New Roman"/>
                        <a:ea typeface="Times New Roman"/>
                        <a:cs typeface="Times New Roman"/>
                        <a:sym typeface="Times New Roman"/>
                      </a:endParaRPr>
                    </a:p>
                  </a:txBody>
                  <a:tcPr marT="0" marB="0" marR="0" marL="0" anchor="ctr"/>
                </a:tc>
              </a:tr>
              <a:tr h="318800">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kiwAba_1</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book_1</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puswaka_1</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pustakam_1</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t/>
                      </a:r>
                      <a:endParaRPr sz="1800">
                        <a:latin typeface="Times New Roman"/>
                        <a:ea typeface="Times New Roman"/>
                        <a:cs typeface="Times New Roman"/>
                        <a:sym typeface="Times New Roman"/>
                      </a:endParaRPr>
                    </a:p>
                  </a:txBody>
                  <a:tcPr marT="0" marB="0" marR="0" marL="0" anchor="ctr"/>
                </a:tc>
              </a:tr>
              <a:tr h="318800">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puswaka_1</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book_1</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puswaka_1</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pustakam_1</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t/>
                      </a:r>
                      <a:endParaRPr sz="1800">
                        <a:latin typeface="Times New Roman"/>
                        <a:ea typeface="Times New Roman"/>
                        <a:cs typeface="Times New Roman"/>
                        <a:sym typeface="Times New Roman"/>
                      </a:endParaRPr>
                    </a:p>
                  </a:txBody>
                  <a:tcPr marT="0" marB="0" marR="0" marL="0" anchor="ctr"/>
                </a:tc>
              </a:tr>
              <a:tr h="287175">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paDa_1</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read_1</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vAca_1</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pati_1</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t/>
                      </a:r>
                      <a:endParaRPr sz="1800">
                        <a:latin typeface="Times New Roman"/>
                        <a:ea typeface="Times New Roman"/>
                        <a:cs typeface="Times New Roman"/>
                        <a:sym typeface="Times New Roman"/>
                      </a:endParaRPr>
                    </a:p>
                  </a:txBody>
                  <a:tcPr marT="0" marB="0" marR="0" marL="0" anchor="ctr"/>
                </a:tc>
              </a:tr>
              <a:tr h="292800">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paDa_2</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study_1</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Sika_1</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pati_1</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t/>
                      </a:r>
                      <a:endParaRPr sz="1800">
                        <a:latin typeface="Times New Roman"/>
                        <a:ea typeface="Times New Roman"/>
                        <a:cs typeface="Times New Roman"/>
                        <a:sym typeface="Times New Roman"/>
                      </a:endParaRPr>
                    </a:p>
                  </a:txBody>
                  <a:tcPr marT="0" marB="0" marR="0" marL="0" anchor="ctr"/>
                </a:tc>
              </a:tr>
              <a:tr h="287175">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AxamI_1</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man_1</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mANusa_1</a:t>
                      </a:r>
                      <a:endParaRPr sz="1800">
                        <a:latin typeface="Times New Roman"/>
                        <a:ea typeface="Times New Roman"/>
                        <a:cs typeface="Times New Roman"/>
                        <a:sym typeface="Times New Roman"/>
                      </a:endParaRPr>
                    </a:p>
                  </a:txBody>
                  <a:tcPr marT="0" marB="0" marR="0" marL="0" anchor="ctr"/>
                </a:tc>
                <a:tc>
                  <a:txBody>
                    <a:bodyPr/>
                    <a:lstStyle/>
                    <a:p>
                      <a:pPr indent="0" lvl="0" marL="0" rtl="0" algn="ctr">
                        <a:spcBef>
                          <a:spcPts val="0"/>
                        </a:spcBef>
                        <a:spcAft>
                          <a:spcPts val="0"/>
                        </a:spcAft>
                        <a:buClr>
                          <a:srgbClr val="000000"/>
                        </a:buClr>
                        <a:buSzPts val="1800"/>
                        <a:buFont typeface="Arial"/>
                        <a:buNone/>
                      </a:pPr>
                      <a:r>
                        <a:rPr lang="en" sz="1800">
                          <a:solidFill>
                            <a:srgbClr val="434343"/>
                          </a:solidFill>
                          <a:latin typeface="Times New Roman"/>
                          <a:ea typeface="Times New Roman"/>
                          <a:cs typeface="Times New Roman"/>
                          <a:sym typeface="Times New Roman"/>
                        </a:rPr>
                        <a:t>maNiwanY_1</a:t>
                      </a:r>
                      <a:endParaRPr sz="1800">
                        <a:latin typeface="Times New Roman"/>
                        <a:ea typeface="Times New Roman"/>
                        <a:cs typeface="Times New Roman"/>
                        <a:sym typeface="Times New Roman"/>
                      </a:endParaRPr>
                    </a:p>
                  </a:txBody>
                  <a:tcPr marT="0" marB="0" marR="0" marL="0" anchor="ctr">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mann_1</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t/>
                      </a:r>
                      <a:endParaRPr sz="1800">
                        <a:latin typeface="Times New Roman"/>
                        <a:ea typeface="Times New Roman"/>
                        <a:cs typeface="Times New Roman"/>
                        <a:sym typeface="Times New Roman"/>
                      </a:endParaRPr>
                    </a:p>
                  </a:txBody>
                  <a:tcPr marT="0" marB="0" marR="0" marL="0" anchor="ctr"/>
                </a:tc>
              </a:tr>
              <a:tr h="287175">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A_1</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come_1</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ye_1</a:t>
                      </a:r>
                      <a:endParaRPr sz="1800">
                        <a:latin typeface="Times New Roman"/>
                        <a:ea typeface="Times New Roman"/>
                        <a:cs typeface="Times New Roman"/>
                        <a:sym typeface="Times New Roman"/>
                      </a:endParaRPr>
                    </a:p>
                  </a:txBody>
                  <a:tcPr marT="0" marB="0" marR="0" marL="0" anchor="ctr">
                    <a:lnR cap="flat" cmpd="sng" w="12700">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solidFill>
                            <a:srgbClr val="434343"/>
                          </a:solidFill>
                          <a:latin typeface="Times New Roman"/>
                          <a:ea typeface="Times New Roman"/>
                          <a:cs typeface="Times New Roman"/>
                          <a:sym typeface="Times New Roman"/>
                        </a:rPr>
                        <a:t>vA_1</a:t>
                      </a:r>
                      <a:endParaRPr sz="1800" u="none" cap="none" strike="noStrike">
                        <a:solidFill>
                          <a:srgbClr val="434343"/>
                        </a:solidFill>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kommen_1</a:t>
                      </a:r>
                      <a:endParaRPr sz="1800">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tcPr>
                </a:tc>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kuru_1</a:t>
                      </a:r>
                      <a:endParaRPr sz="1800">
                        <a:latin typeface="Times New Roman"/>
                        <a:ea typeface="Times New Roman"/>
                        <a:cs typeface="Times New Roman"/>
                        <a:sym typeface="Times New Roman"/>
                      </a:endParaRPr>
                    </a:p>
                  </a:txBody>
                  <a:tcPr marT="0" marB="0" marR="0" marL="0" anchor="ctr"/>
                </a:tc>
              </a:tr>
              <a:tr h="287175">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A_2</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rPr lang="en" sz="1800">
                          <a:latin typeface="Times New Roman"/>
                          <a:ea typeface="Times New Roman"/>
                          <a:cs typeface="Times New Roman"/>
                          <a:sym typeface="Times New Roman"/>
                        </a:rPr>
                        <a:t>know_1</a:t>
                      </a:r>
                      <a:endParaRPr sz="1800">
                        <a:latin typeface="Times New Roman"/>
                        <a:ea typeface="Times New Roman"/>
                        <a:cs typeface="Times New Roman"/>
                        <a:sym typeface="Times New Roman"/>
                      </a:endParaRPr>
                    </a:p>
                  </a:txBody>
                  <a:tcPr marT="0" marB="0" marR="0" marL="0" anchor="ctr"/>
                </a:tc>
                <a:tc>
                  <a:txBody>
                    <a:bodyPr/>
                    <a:lstStyle/>
                    <a:p>
                      <a:pPr indent="0" lvl="0" marL="0" marR="0" rtl="0" algn="ctr">
                        <a:lnSpc>
                          <a:spcPct val="115000"/>
                        </a:lnSpc>
                        <a:spcBef>
                          <a:spcPts val="0"/>
                        </a:spcBef>
                        <a:spcAft>
                          <a:spcPts val="0"/>
                        </a:spcAft>
                        <a:buNone/>
                      </a:pPr>
                      <a:r>
                        <a:t/>
                      </a:r>
                      <a:endParaRPr sz="1800">
                        <a:latin typeface="Times New Roman"/>
                        <a:ea typeface="Times New Roman"/>
                        <a:cs typeface="Times New Roman"/>
                        <a:sym typeface="Times New Roman"/>
                      </a:endParaRPr>
                    </a:p>
                  </a:txBody>
                  <a:tcPr marT="0" marB="0" marR="0" marL="0" anchor="ctr">
                    <a:lnR cap="flat" cmpd="sng" w="12700">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solidFill>
                            <a:srgbClr val="434343"/>
                          </a:solidFill>
                          <a:latin typeface="Times New Roman"/>
                          <a:ea typeface="Times New Roman"/>
                          <a:cs typeface="Times New Roman"/>
                          <a:sym typeface="Times New Roman"/>
                        </a:rPr>
                        <a:t>weriyum_1</a:t>
                      </a:r>
                      <a:endParaRPr sz="1800" u="none" cap="none" strike="noStrike">
                        <a:solidFill>
                          <a:srgbClr val="434343"/>
                        </a:solidFill>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800">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tcPr>
                </a:tc>
                <a:tc>
                  <a:txBody>
                    <a:bodyPr/>
                    <a:lstStyle/>
                    <a:p>
                      <a:pPr indent="0" lvl="0" marL="0" marR="0" rtl="0" algn="ctr">
                        <a:lnSpc>
                          <a:spcPct val="115000"/>
                        </a:lnSpc>
                        <a:spcBef>
                          <a:spcPts val="0"/>
                        </a:spcBef>
                        <a:spcAft>
                          <a:spcPts val="0"/>
                        </a:spcAft>
                        <a:buNone/>
                      </a:pPr>
                      <a:r>
                        <a:t/>
                      </a:r>
                      <a:endParaRPr sz="1800">
                        <a:latin typeface="Times New Roman"/>
                        <a:ea typeface="Times New Roman"/>
                        <a:cs typeface="Times New Roman"/>
                        <a:sym typeface="Times New Roman"/>
                      </a:endParaRPr>
                    </a:p>
                  </a:txBody>
                  <a:tcPr marT="0" marB="0" marR="0" marL="0" anchor="ct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8"/>
          <p:cNvSpPr txBox="1"/>
          <p:nvPr/>
        </p:nvSpPr>
        <p:spPr>
          <a:xfrm>
            <a:off x="182200" y="509250"/>
            <a:ext cx="84732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800">
              <a:latin typeface="Times New Roman"/>
              <a:ea typeface="Times New Roman"/>
              <a:cs typeface="Times New Roman"/>
              <a:sym typeface="Times New Roman"/>
            </a:endParaRPr>
          </a:p>
        </p:txBody>
      </p:sp>
      <p:sp>
        <p:nvSpPr>
          <p:cNvPr id="156" name="Google Shape;156;p28"/>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Concepts without Labels</a:t>
            </a:r>
            <a:endParaRPr b="1" sz="2200">
              <a:solidFill>
                <a:schemeClr val="accent1"/>
              </a:solidFill>
              <a:latin typeface="Times New Roman"/>
              <a:ea typeface="Times New Roman"/>
              <a:cs typeface="Times New Roman"/>
              <a:sym typeface="Times New Roman"/>
            </a:endParaRPr>
          </a:p>
        </p:txBody>
      </p:sp>
      <p:graphicFrame>
        <p:nvGraphicFramePr>
          <p:cNvPr id="157" name="Google Shape;157;p28"/>
          <p:cNvGraphicFramePr/>
          <p:nvPr/>
        </p:nvGraphicFramePr>
        <p:xfrm>
          <a:off x="484525" y="731800"/>
          <a:ext cx="3000000" cy="3000000"/>
        </p:xfrm>
        <a:graphic>
          <a:graphicData uri="http://schemas.openxmlformats.org/drawingml/2006/table">
            <a:tbl>
              <a:tblPr>
                <a:noFill/>
                <a:tableStyleId>{EE3ED6BA-528B-4D64-BD1A-DC52F9B1A0E4}</a:tableStyleId>
              </a:tblPr>
              <a:tblGrid>
                <a:gridCol w="4019875"/>
                <a:gridCol w="4151000"/>
              </a:tblGrid>
              <a:tr h="381000">
                <a:tc>
                  <a:txBody>
                    <a:bodyPr/>
                    <a:lstStyle/>
                    <a:p>
                      <a:pPr indent="0" lvl="0" marL="0" rtl="0" algn="l">
                        <a:spcBef>
                          <a:spcPts val="0"/>
                        </a:spcBef>
                        <a:spcAft>
                          <a:spcPts val="0"/>
                        </a:spcAft>
                        <a:buNone/>
                      </a:pPr>
                      <a:r>
                        <a:rPr b="1" lang="en" sz="1800" u="sng">
                          <a:latin typeface="Times New Roman"/>
                          <a:ea typeface="Times New Roman"/>
                          <a:cs typeface="Times New Roman"/>
                          <a:sym typeface="Times New Roman"/>
                        </a:rPr>
                        <a:t>Name of Concept</a:t>
                      </a:r>
                      <a:endParaRPr b="1" sz="1800" u="sng">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800" u="sng">
                          <a:latin typeface="Times New Roman"/>
                          <a:ea typeface="Times New Roman"/>
                          <a:cs typeface="Times New Roman"/>
                          <a:sym typeface="Times New Roman"/>
                        </a:rPr>
                        <a:t>Example</a:t>
                      </a:r>
                      <a:endParaRPr b="1" sz="1800" u="sng">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Named Entity</a:t>
                      </a:r>
                      <a:endParaRPr sz="1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rāma, bhārata</a:t>
                      </a:r>
                      <a:endParaRPr sz="1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Pronominal</a:t>
                      </a:r>
                      <a:endParaRPr sz="1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$speaker, $addressee, $wyax, $yax, $kim</a:t>
                      </a:r>
                      <a:endParaRPr sz="1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Numeral expression (year/date/cardinal)</a:t>
                      </a:r>
                      <a:endParaRPr sz="1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10, 1990</a:t>
                      </a:r>
                      <a:endParaRPr sz="1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Abbreviation</a:t>
                      </a:r>
                      <a:endParaRPr sz="1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highlight>
                            <a:srgbClr val="FFFFFF"/>
                          </a:highlight>
                          <a:latin typeface="Times New Roman"/>
                          <a:ea typeface="Times New Roman"/>
                          <a:cs typeface="Times New Roman"/>
                          <a:sym typeface="Times New Roman"/>
                        </a:rPr>
                        <a:t>@ec.sl.yU., @nAsA (NE)</a:t>
                      </a:r>
                      <a:endParaRPr sz="1800">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9"/>
          <p:cNvSpPr txBox="1"/>
          <p:nvPr/>
        </p:nvSpPr>
        <p:spPr>
          <a:xfrm>
            <a:off x="353300" y="0"/>
            <a:ext cx="8302200" cy="523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What not to represent in the concept layer</a:t>
            </a:r>
            <a:endParaRPr b="1" sz="2200">
              <a:solidFill>
                <a:schemeClr val="accent1"/>
              </a:solidFill>
              <a:latin typeface="Times New Roman"/>
              <a:ea typeface="Times New Roman"/>
              <a:cs typeface="Times New Roman"/>
              <a:sym typeface="Times New Roman"/>
            </a:endParaRPr>
          </a:p>
        </p:txBody>
      </p:sp>
      <p:graphicFrame>
        <p:nvGraphicFramePr>
          <p:cNvPr id="163" name="Google Shape;163;p29"/>
          <p:cNvGraphicFramePr/>
          <p:nvPr/>
        </p:nvGraphicFramePr>
        <p:xfrm>
          <a:off x="420900" y="711650"/>
          <a:ext cx="3000000" cy="3000000"/>
        </p:xfrm>
        <a:graphic>
          <a:graphicData uri="http://schemas.openxmlformats.org/drawingml/2006/table">
            <a:tbl>
              <a:tblPr>
                <a:noFill/>
                <a:tableStyleId>{EE3ED6BA-528B-4D64-BD1A-DC52F9B1A0E4}</a:tableStyleId>
              </a:tblPr>
              <a:tblGrid>
                <a:gridCol w="3119250"/>
                <a:gridCol w="5182950"/>
              </a:tblGrid>
              <a:tr h="304925">
                <a:tc>
                  <a:txBody>
                    <a:bodyPr/>
                    <a:lstStyle/>
                    <a:p>
                      <a:pPr indent="0" lvl="0" marL="0" rtl="0" algn="l">
                        <a:spcBef>
                          <a:spcPts val="0"/>
                        </a:spcBef>
                        <a:spcAft>
                          <a:spcPts val="0"/>
                        </a:spcAft>
                        <a:buNone/>
                      </a:pPr>
                      <a:r>
                        <a:rPr b="1" lang="en" sz="1800">
                          <a:latin typeface="Times New Roman"/>
                          <a:ea typeface="Times New Roman"/>
                          <a:cs typeface="Times New Roman"/>
                          <a:sym typeface="Times New Roman"/>
                        </a:rPr>
                        <a:t>Name of Concept</a:t>
                      </a:r>
                      <a:endParaRPr b="1" sz="1800">
                        <a:latin typeface="Times New Roman"/>
                        <a:ea typeface="Times New Roman"/>
                        <a:cs typeface="Times New Roman"/>
                        <a:sym typeface="Times New Roman"/>
                      </a:endParaRPr>
                    </a:p>
                  </a:txBody>
                  <a:tcPr marT="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800">
                          <a:latin typeface="Times New Roman"/>
                          <a:ea typeface="Times New Roman"/>
                          <a:cs typeface="Times New Roman"/>
                          <a:sym typeface="Times New Roman"/>
                        </a:rPr>
                        <a:t>Example</a:t>
                      </a:r>
                      <a:endParaRPr b="1" sz="1800">
                        <a:latin typeface="Times New Roman"/>
                        <a:ea typeface="Times New Roman"/>
                        <a:cs typeface="Times New Roman"/>
                        <a:sym typeface="Times New Roman"/>
                      </a:endParaRPr>
                    </a:p>
                  </a:txBody>
                  <a:tcPr marT="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61250">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Connectives</a:t>
                      </a:r>
                      <a:endParaRPr sz="1800">
                        <a:latin typeface="Times New Roman"/>
                        <a:ea typeface="Times New Roman"/>
                        <a:cs typeface="Times New Roman"/>
                        <a:sym typeface="Times New Roman"/>
                      </a:endParaRPr>
                    </a:p>
                  </a:txBody>
                  <a:tcPr marT="0"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aura ‘and’, yā ‘or’, kyoṃki ‘because’, isaliye ‘therefore’, udāharansvarupa ‘for example’, jaise ‘as such’, yathā ‘as an example’</a:t>
                      </a:r>
                      <a:endParaRPr sz="1800">
                        <a:latin typeface="Times New Roman"/>
                        <a:ea typeface="Times New Roman"/>
                        <a:cs typeface="Times New Roman"/>
                        <a:sym typeface="Times New Roman"/>
                      </a:endParaRPr>
                    </a:p>
                  </a:txBody>
                  <a:tcPr marT="0"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5675">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Discourse Particle</a:t>
                      </a:r>
                      <a:endParaRPr sz="1800">
                        <a:latin typeface="Times New Roman"/>
                        <a:ea typeface="Times New Roman"/>
                        <a:cs typeface="Times New Roman"/>
                        <a:sym typeface="Times New Roman"/>
                      </a:endParaRPr>
                    </a:p>
                  </a:txBody>
                  <a:tcPr marT="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hī, bhī, sir</a:t>
                      </a:r>
                      <a:r>
                        <a:rPr lang="en" sz="1800">
                          <a:latin typeface="Times New Roman"/>
                          <a:ea typeface="Times New Roman"/>
                          <a:cs typeface="Times New Roman"/>
                          <a:sym typeface="Times New Roman"/>
                        </a:rPr>
                        <a:t>pha</a:t>
                      </a:r>
                      <a:r>
                        <a:rPr lang="en" sz="1800">
                          <a:latin typeface="Times New Roman"/>
                          <a:ea typeface="Times New Roman"/>
                          <a:cs typeface="Times New Roman"/>
                          <a:sym typeface="Times New Roman"/>
                        </a:rPr>
                        <a:t>,khāsakara, vi</a:t>
                      </a:r>
                      <a:r>
                        <a:rPr lang="en" sz="1800">
                          <a:latin typeface="Times New Roman"/>
                          <a:ea typeface="Times New Roman"/>
                          <a:cs typeface="Times New Roman"/>
                          <a:sym typeface="Times New Roman"/>
                        </a:rPr>
                        <a:t>shesh</a:t>
                      </a:r>
                      <a:r>
                        <a:rPr lang="en" sz="1800">
                          <a:latin typeface="Times New Roman"/>
                          <a:ea typeface="Times New Roman"/>
                          <a:cs typeface="Times New Roman"/>
                          <a:sym typeface="Times New Roman"/>
                        </a:rPr>
                        <a:t>kara</a:t>
                      </a:r>
                      <a:endParaRPr sz="1800">
                        <a:latin typeface="Times New Roman"/>
                        <a:ea typeface="Times New Roman"/>
                        <a:cs typeface="Times New Roman"/>
                        <a:sym typeface="Times New Roman"/>
                      </a:endParaRPr>
                    </a:p>
                  </a:txBody>
                  <a:tcPr marT="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v</a:t>
                      </a:r>
                      <a:r>
                        <a:rPr lang="en" sz="1800">
                          <a:latin typeface="Times New Roman"/>
                          <a:ea typeface="Times New Roman"/>
                          <a:cs typeface="Times New Roman"/>
                          <a:sym typeface="Times New Roman"/>
                        </a:rPr>
                        <a:t>ālā</a:t>
                      </a:r>
                      <a:endParaRPr sz="1800">
                        <a:latin typeface="Times New Roman"/>
                        <a:ea typeface="Times New Roman"/>
                        <a:cs typeface="Times New Roman"/>
                        <a:sym typeface="Times New Roman"/>
                      </a:endParaRPr>
                    </a:p>
                  </a:txBody>
                  <a:tcPr marT="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When vālā comes as suffix and makes the concept adjective</a:t>
                      </a:r>
                      <a:endParaRPr sz="1800">
                        <a:latin typeface="Times New Roman"/>
                        <a:ea typeface="Times New Roman"/>
                        <a:cs typeface="Times New Roman"/>
                        <a:sym typeface="Times New Roman"/>
                      </a:endParaRPr>
                    </a:p>
                  </a:txBody>
                  <a:tcPr marT="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Light verb in V-V compound Verb or Raṃjaka kriyā</a:t>
                      </a:r>
                      <a:endParaRPr sz="1800">
                        <a:latin typeface="Times New Roman"/>
                        <a:ea typeface="Times New Roman"/>
                        <a:cs typeface="Times New Roman"/>
                        <a:sym typeface="Times New Roman"/>
                      </a:endParaRPr>
                    </a:p>
                  </a:txBody>
                  <a:tcPr marT="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khā </a:t>
                      </a:r>
                      <a:r>
                        <a:rPr b="1" lang="en" sz="1800">
                          <a:latin typeface="Times New Roman"/>
                          <a:ea typeface="Times New Roman"/>
                          <a:cs typeface="Times New Roman"/>
                          <a:sym typeface="Times New Roman"/>
                        </a:rPr>
                        <a:t>le</a:t>
                      </a:r>
                      <a:r>
                        <a:rPr lang="en" sz="1800">
                          <a:latin typeface="Times New Roman"/>
                          <a:ea typeface="Times New Roman"/>
                          <a:cs typeface="Times New Roman"/>
                          <a:sym typeface="Times New Roman"/>
                        </a:rPr>
                        <a:t> ‘eat’; sajā de ‘decorate’</a:t>
                      </a:r>
                      <a:endParaRPr sz="1800">
                        <a:latin typeface="Times New Roman"/>
                        <a:ea typeface="Times New Roman"/>
                        <a:cs typeface="Times New Roman"/>
                        <a:sym typeface="Times New Roman"/>
                      </a:endParaRPr>
                    </a:p>
                  </a:txBody>
                  <a:tcPr marT="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Salutation or Respect marker</a:t>
                      </a:r>
                      <a:endParaRPr sz="1800">
                        <a:latin typeface="Times New Roman"/>
                        <a:ea typeface="Times New Roman"/>
                        <a:cs typeface="Times New Roman"/>
                        <a:sym typeface="Times New Roman"/>
                      </a:endParaRPr>
                    </a:p>
                  </a:txBody>
                  <a:tcPr marT="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jī, srī, Mr., Ms. …</a:t>
                      </a:r>
                      <a:endParaRPr sz="1800">
                        <a:latin typeface="Times New Roman"/>
                        <a:ea typeface="Times New Roman"/>
                        <a:cs typeface="Times New Roman"/>
                        <a:sym typeface="Times New Roman"/>
                      </a:endParaRPr>
                    </a:p>
                  </a:txBody>
                  <a:tcPr marT="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kim in yn_interrogative sentence</a:t>
                      </a:r>
                      <a:endParaRPr sz="1800">
                        <a:latin typeface="Times New Roman"/>
                        <a:ea typeface="Times New Roman"/>
                        <a:cs typeface="Times New Roman"/>
                        <a:sym typeface="Times New Roman"/>
                      </a:endParaRPr>
                    </a:p>
                  </a:txBody>
                  <a:tcPr marT="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800">
                          <a:latin typeface="Times New Roman"/>
                          <a:ea typeface="Times New Roman"/>
                          <a:cs typeface="Times New Roman"/>
                          <a:sym typeface="Times New Roman"/>
                        </a:rPr>
                        <a:t>kyā </a:t>
                      </a:r>
                      <a:r>
                        <a:rPr lang="en" sz="1800">
                          <a:latin typeface="Times New Roman"/>
                          <a:ea typeface="Times New Roman"/>
                          <a:cs typeface="Times New Roman"/>
                          <a:sym typeface="Times New Roman"/>
                        </a:rPr>
                        <a:t>āpane cāvala khāye?</a:t>
                      </a:r>
                      <a:r>
                        <a:rPr b="1" lang="en" sz="1800">
                          <a:latin typeface="Times New Roman"/>
                          <a:ea typeface="Times New Roman"/>
                          <a:cs typeface="Times New Roman"/>
                          <a:sym typeface="Times New Roman"/>
                        </a:rPr>
                        <a:t> ‘Did </a:t>
                      </a:r>
                      <a:r>
                        <a:rPr lang="en" sz="1800">
                          <a:latin typeface="Times New Roman"/>
                          <a:ea typeface="Times New Roman"/>
                          <a:cs typeface="Times New Roman"/>
                          <a:sym typeface="Times New Roman"/>
                        </a:rPr>
                        <a:t>you eat rice?</a:t>
                      </a:r>
                      <a:r>
                        <a:rPr b="1" lang="en" sz="1800">
                          <a:latin typeface="Times New Roman"/>
                          <a:ea typeface="Times New Roman"/>
                          <a:cs typeface="Times New Roman"/>
                          <a:sym typeface="Times New Roman"/>
                        </a:rPr>
                        <a:t>’</a:t>
                      </a:r>
                      <a:endParaRPr b="1" sz="1800">
                        <a:latin typeface="Times New Roman"/>
                        <a:ea typeface="Times New Roman"/>
                        <a:cs typeface="Times New Roman"/>
                        <a:sym typeface="Times New Roman"/>
                      </a:endParaRPr>
                    </a:p>
                  </a:txBody>
                  <a:tcPr marT="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pratyeka/ prati as a part of a rate construction/ in-every/ in-each</a:t>
                      </a:r>
                      <a:endParaRPr sz="1800">
                        <a:latin typeface="Times New Roman"/>
                        <a:ea typeface="Times New Roman"/>
                        <a:cs typeface="Times New Roman"/>
                        <a:sym typeface="Times New Roman"/>
                      </a:endParaRPr>
                    </a:p>
                  </a:txBody>
                  <a:tcPr marT="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prārambha meṃ tāpamāna baDne kī ausata dara pratyeka 32 mīṭara kī girāī para 1⁰ selsiyasa hai|</a:t>
                      </a:r>
                      <a:endParaRPr sz="1800">
                        <a:latin typeface="Times New Roman"/>
                        <a:ea typeface="Times New Roman"/>
                        <a:cs typeface="Times New Roman"/>
                        <a:sym typeface="Times New Roman"/>
                      </a:endParaRPr>
                    </a:p>
                  </a:txBody>
                  <a:tcPr marT="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0"/>
          <p:cNvSpPr txBox="1"/>
          <p:nvPr/>
        </p:nvSpPr>
        <p:spPr>
          <a:xfrm>
            <a:off x="182200" y="509250"/>
            <a:ext cx="8473200" cy="44136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Simple Concepts</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Represent a single, indivisible idea.</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Cannot be broken into smaller semantic units.</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Examples:</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  	mohana, calā (from: mohana pedala 10 ghaṃṭe calā)</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    	pedala_1 (walked)</a:t>
            </a:r>
            <a:endParaRPr sz="1800">
              <a:latin typeface="Times New Roman"/>
              <a:ea typeface="Times New Roman"/>
              <a:cs typeface="Times New Roman"/>
              <a:sym typeface="Times New Roman"/>
            </a:endParaRPr>
          </a:p>
          <a:p>
            <a:pPr indent="-342900" lvl="0" marL="457200" rtl="0" algn="l">
              <a:lnSpc>
                <a:spcPct val="115000"/>
              </a:lnSpc>
              <a:spcBef>
                <a:spcPts val="1000"/>
              </a:spcBef>
              <a:spcAft>
                <a:spcPts val="0"/>
              </a:spcAft>
              <a:buSzPts val="1800"/>
              <a:buFont typeface="Times New Roman"/>
              <a:buChar char="●"/>
            </a:pPr>
            <a:r>
              <a:rPr lang="en" sz="1800">
                <a:latin typeface="Times New Roman"/>
                <a:ea typeface="Times New Roman"/>
                <a:cs typeface="Times New Roman"/>
                <a:sym typeface="Times New Roman"/>
              </a:rPr>
              <a:t>Complex Concepts</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Formed by combining multiple simple concepts.</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Enclosed in square brackets [].</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Example: </a:t>
            </a:r>
            <a:r>
              <a:rPr lang="en" sz="1800">
                <a:latin typeface="Times New Roman"/>
                <a:ea typeface="Times New Roman"/>
                <a:cs typeface="Times New Roman"/>
                <a:sym typeface="Times New Roman"/>
              </a:rPr>
              <a:t>basa sṭapa</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    	</a:t>
            </a:r>
            <a:r>
              <a:rPr lang="en" sz="1800">
                <a:latin typeface="Times New Roman"/>
                <a:ea typeface="Times New Roman"/>
                <a:cs typeface="Times New Roman"/>
                <a:sym typeface="Times New Roman"/>
              </a:rPr>
              <a:t>basa_1</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        sṭapa_1</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        [6-tat_1]</a:t>
            </a:r>
            <a:endParaRPr sz="1800">
              <a:latin typeface="Times New Roman"/>
              <a:ea typeface="Times New Roman"/>
              <a:cs typeface="Times New Roman"/>
              <a:sym typeface="Times New Roman"/>
            </a:endParaRPr>
          </a:p>
        </p:txBody>
      </p:sp>
      <p:sp>
        <p:nvSpPr>
          <p:cNvPr id="169" name="Google Shape;169;p30"/>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 Simple and Complex Concepts</a:t>
            </a:r>
            <a:endParaRPr b="1" sz="2200">
              <a:solidFill>
                <a:schemeClr val="accen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1"/>
          <p:cNvSpPr txBox="1"/>
          <p:nvPr/>
        </p:nvSpPr>
        <p:spPr>
          <a:xfrm>
            <a:off x="182200" y="509250"/>
            <a:ext cx="8473200" cy="37761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Events &amp; TAM Representation</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Verbs: Stative or action.</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Format: root-TAM  (e.g., </a:t>
            </a:r>
            <a:r>
              <a:rPr b="1" lang="en" sz="1800">
                <a:latin typeface="Times New Roman"/>
                <a:ea typeface="Times New Roman"/>
                <a:cs typeface="Times New Roman"/>
                <a:sym typeface="Times New Roman"/>
              </a:rPr>
              <a:t>kara_1-gā_1</a:t>
            </a:r>
            <a:r>
              <a:rPr lang="en" sz="1800">
                <a:latin typeface="Times New Roman"/>
                <a:ea typeface="Times New Roman"/>
                <a:cs typeface="Times New Roman"/>
                <a:sym typeface="Times New Roman"/>
              </a:rPr>
              <a:t> for </a:t>
            </a:r>
            <a:r>
              <a:rPr i="1" lang="en" sz="1800">
                <a:latin typeface="Times New Roman"/>
                <a:ea typeface="Times New Roman"/>
                <a:cs typeface="Times New Roman"/>
                <a:sym typeface="Times New Roman"/>
              </a:rPr>
              <a:t>kregā</a:t>
            </a:r>
            <a:r>
              <a:rPr lang="en"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TAM = Tense, Aspect, Mood</a:t>
            </a:r>
            <a:endParaRPr sz="1800">
              <a:latin typeface="Times New Roman"/>
              <a:ea typeface="Times New Roman"/>
              <a:cs typeface="Times New Roman"/>
              <a:sym typeface="Times New Roman"/>
            </a:endParaRPr>
          </a:p>
          <a:p>
            <a:pPr indent="-342900" lvl="0" marL="457200" rtl="0" algn="l">
              <a:lnSpc>
                <a:spcPct val="115000"/>
              </a:lnSpc>
              <a:spcBef>
                <a:spcPts val="1000"/>
              </a:spcBef>
              <a:spcAft>
                <a:spcPts val="0"/>
              </a:spcAft>
              <a:buSzPts val="1800"/>
              <a:buFont typeface="Times New Roman"/>
              <a:buChar char="●"/>
            </a:pPr>
            <a:r>
              <a:rPr lang="en" sz="1800">
                <a:latin typeface="Times New Roman"/>
                <a:ea typeface="Times New Roman"/>
                <a:cs typeface="Times New Roman"/>
                <a:sym typeface="Times New Roman"/>
              </a:rPr>
              <a:t>Verb Types</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Finite Verb: With TAM → kara_1-gā_1 (will do)</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Non-finite Verb: Root only → </a:t>
            </a:r>
            <a:r>
              <a:rPr b="1" lang="en" sz="1800">
                <a:latin typeface="Times New Roman"/>
                <a:ea typeface="Times New Roman"/>
                <a:cs typeface="Times New Roman"/>
                <a:sym typeface="Times New Roman"/>
              </a:rPr>
              <a:t>jā_1</a:t>
            </a:r>
            <a:r>
              <a:rPr lang="en" sz="1800">
                <a:latin typeface="Times New Roman"/>
                <a:ea typeface="Times New Roman"/>
                <a:cs typeface="Times New Roman"/>
                <a:sym typeface="Times New Roman"/>
              </a:rPr>
              <a:t> for </a:t>
            </a:r>
            <a:r>
              <a:rPr i="1" lang="en" sz="1800">
                <a:latin typeface="Times New Roman"/>
                <a:ea typeface="Times New Roman"/>
                <a:cs typeface="Times New Roman"/>
                <a:sym typeface="Times New Roman"/>
              </a:rPr>
              <a:t>jākara</a:t>
            </a:r>
            <a:r>
              <a:rPr lang="en" sz="1800">
                <a:latin typeface="Times New Roman"/>
                <a:ea typeface="Times New Roman"/>
                <a:cs typeface="Times New Roman"/>
                <a:sym typeface="Times New Roman"/>
              </a:rPr>
              <a:t>, </a:t>
            </a:r>
            <a:r>
              <a:rPr b="1" lang="en" sz="1800">
                <a:latin typeface="Times New Roman"/>
                <a:ea typeface="Times New Roman"/>
                <a:cs typeface="Times New Roman"/>
                <a:sym typeface="Times New Roman"/>
              </a:rPr>
              <a:t>khā_1</a:t>
            </a:r>
            <a:r>
              <a:rPr lang="en" sz="1800">
                <a:latin typeface="Times New Roman"/>
                <a:ea typeface="Times New Roman"/>
                <a:cs typeface="Times New Roman"/>
                <a:sym typeface="Times New Roman"/>
              </a:rPr>
              <a:t> for </a:t>
            </a:r>
            <a:r>
              <a:rPr i="1" lang="en" sz="1800">
                <a:latin typeface="Times New Roman"/>
                <a:ea typeface="Times New Roman"/>
                <a:cs typeface="Times New Roman"/>
                <a:sym typeface="Times New Roman"/>
              </a:rPr>
              <a:t>khānā</a:t>
            </a:r>
            <a:endParaRPr i="1"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Complex Predicate: </a:t>
            </a:r>
            <a:r>
              <a:rPr lang="en" sz="1800">
                <a:latin typeface="Times New Roman"/>
                <a:ea typeface="Times New Roman"/>
                <a:cs typeface="Times New Roman"/>
                <a:sym typeface="Times New Roman"/>
              </a:rPr>
              <a:t>bāta kara</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    	</a:t>
            </a:r>
            <a:r>
              <a:rPr b="1" lang="en" sz="1800">
                <a:latin typeface="Times New Roman"/>
                <a:ea typeface="Times New Roman"/>
                <a:cs typeface="Times New Roman"/>
                <a:sym typeface="Times New Roman"/>
              </a:rPr>
              <a:t>bāta_1                    </a:t>
            </a:r>
            <a:r>
              <a:rPr lang="en" sz="1800">
                <a:latin typeface="Times New Roman"/>
                <a:ea typeface="Times New Roman"/>
                <a:cs typeface="Times New Roman"/>
                <a:sym typeface="Times New Roman"/>
              </a:rPr>
              <a:t> (kriyāmūla)</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b="1" lang="en" sz="1800">
                <a:latin typeface="Times New Roman"/>
                <a:ea typeface="Times New Roman"/>
                <a:cs typeface="Times New Roman"/>
                <a:sym typeface="Times New Roman"/>
              </a:rPr>
              <a:t>        kara_1-yā_1  </a:t>
            </a:r>
            <a:r>
              <a:rPr lang="en" sz="1800">
                <a:latin typeface="Times New Roman"/>
                <a:ea typeface="Times New Roman"/>
                <a:cs typeface="Times New Roman"/>
                <a:sym typeface="Times New Roman"/>
              </a:rPr>
              <a:t>         (verbalizer)</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b="1" lang="en" sz="1800">
                <a:latin typeface="Times New Roman"/>
                <a:ea typeface="Times New Roman"/>
                <a:cs typeface="Times New Roman"/>
                <a:sym typeface="Times New Roman"/>
              </a:rPr>
              <a:t>        [cp_1]</a:t>
            </a:r>
            <a:endParaRPr b="1" sz="1800">
              <a:latin typeface="Times New Roman"/>
              <a:ea typeface="Times New Roman"/>
              <a:cs typeface="Times New Roman"/>
              <a:sym typeface="Times New Roman"/>
            </a:endParaRPr>
          </a:p>
        </p:txBody>
      </p:sp>
      <p:sp>
        <p:nvSpPr>
          <p:cNvPr id="175" name="Google Shape;175;p31"/>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TAM in Concept Layer</a:t>
            </a:r>
            <a:endParaRPr b="1" sz="2200">
              <a:solidFill>
                <a:schemeClr val="accen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2"/>
          <p:cNvSpPr txBox="1"/>
          <p:nvPr/>
        </p:nvSpPr>
        <p:spPr>
          <a:xfrm>
            <a:off x="182200" y="509250"/>
            <a:ext cx="8473200" cy="33294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Not assigned concept IDs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Represented using predefined labels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Mappings:</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1st Person  →   $</a:t>
            </a:r>
            <a:r>
              <a:rPr b="1" lang="en" sz="1800">
                <a:latin typeface="Times New Roman"/>
                <a:ea typeface="Times New Roman"/>
                <a:cs typeface="Times New Roman"/>
                <a:sym typeface="Times New Roman"/>
              </a:rPr>
              <a:t>speaker</a:t>
            </a:r>
            <a:r>
              <a:rPr lang="en" sz="1800">
                <a:latin typeface="Times New Roman"/>
                <a:ea typeface="Times New Roman"/>
                <a:cs typeface="Times New Roman"/>
                <a:sym typeface="Times New Roman"/>
              </a:rPr>
              <a:t> → maiṃ, hama, I, we </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2nd Person →   $</a:t>
            </a:r>
            <a:r>
              <a:rPr b="1" lang="en" sz="1800">
                <a:latin typeface="Times New Roman"/>
                <a:ea typeface="Times New Roman"/>
                <a:cs typeface="Times New Roman"/>
                <a:sym typeface="Times New Roman"/>
              </a:rPr>
              <a:t>addressee</a:t>
            </a:r>
            <a:r>
              <a:rPr lang="en" sz="1800">
                <a:latin typeface="Times New Roman"/>
                <a:ea typeface="Times New Roman"/>
                <a:cs typeface="Times New Roman"/>
                <a:sym typeface="Times New Roman"/>
              </a:rPr>
              <a:t> → tū, tuma, āpa, you</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3rd Person →    $</a:t>
            </a:r>
            <a:r>
              <a:rPr b="1" lang="en" sz="1800">
                <a:latin typeface="Times New Roman"/>
                <a:ea typeface="Times New Roman"/>
                <a:cs typeface="Times New Roman"/>
                <a:sym typeface="Times New Roman"/>
              </a:rPr>
              <a:t>wyax</a:t>
            </a:r>
            <a:r>
              <a:rPr lang="en" sz="1800">
                <a:latin typeface="Times New Roman"/>
                <a:ea typeface="Times New Roman"/>
                <a:cs typeface="Times New Roman"/>
                <a:sym typeface="Times New Roman"/>
              </a:rPr>
              <a:t> → yaha, vaha</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Interrogative → $</a:t>
            </a:r>
            <a:r>
              <a:rPr b="1" lang="en" sz="1800">
                <a:latin typeface="Times New Roman"/>
                <a:ea typeface="Times New Roman"/>
                <a:cs typeface="Times New Roman"/>
                <a:sym typeface="Times New Roman"/>
              </a:rPr>
              <a:t>kim</a:t>
            </a:r>
            <a:r>
              <a:rPr lang="en" sz="1800">
                <a:latin typeface="Times New Roman"/>
                <a:ea typeface="Times New Roman"/>
                <a:cs typeface="Times New Roman"/>
                <a:sym typeface="Times New Roman"/>
              </a:rPr>
              <a:t> → kahāṃ, kyā</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Relative    →     $</a:t>
            </a:r>
            <a:r>
              <a:rPr b="1" lang="en" sz="1800">
                <a:latin typeface="Times New Roman"/>
                <a:ea typeface="Times New Roman"/>
                <a:cs typeface="Times New Roman"/>
                <a:sym typeface="Times New Roman"/>
              </a:rPr>
              <a:t>yax</a:t>
            </a:r>
            <a:r>
              <a:rPr lang="en" sz="1800">
                <a:latin typeface="Times New Roman"/>
                <a:ea typeface="Times New Roman"/>
                <a:cs typeface="Times New Roman"/>
                <a:sym typeface="Times New Roman"/>
              </a:rPr>
              <a:t> → jo, jahāṃ</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Reciprocal   →  $</a:t>
            </a:r>
            <a:r>
              <a:rPr b="1" lang="en" sz="1800">
                <a:latin typeface="Times New Roman"/>
                <a:ea typeface="Times New Roman"/>
                <a:cs typeface="Times New Roman"/>
                <a:sym typeface="Times New Roman"/>
              </a:rPr>
              <a:t>eka</a:t>
            </a:r>
            <a:r>
              <a:rPr lang="en" sz="1800">
                <a:latin typeface="Times New Roman"/>
                <a:ea typeface="Times New Roman"/>
                <a:cs typeface="Times New Roman"/>
                <a:sym typeface="Times New Roman"/>
              </a:rPr>
              <a:t>+</a:t>
            </a:r>
            <a:r>
              <a:rPr b="1" lang="en" sz="1800">
                <a:latin typeface="Times New Roman"/>
                <a:ea typeface="Times New Roman"/>
                <a:cs typeface="Times New Roman"/>
                <a:sym typeface="Times New Roman"/>
              </a:rPr>
              <a:t>xUsarA</a:t>
            </a:r>
            <a:r>
              <a:rPr lang="en" sz="1800">
                <a:latin typeface="Times New Roman"/>
                <a:ea typeface="Times New Roman"/>
                <a:cs typeface="Times New Roman"/>
                <a:sym typeface="Times New Roman"/>
              </a:rPr>
              <a:t> → eka dūsare</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Reflexive    →   $</a:t>
            </a:r>
            <a:r>
              <a:rPr b="1" lang="en" sz="1800">
                <a:latin typeface="Times New Roman"/>
                <a:ea typeface="Times New Roman"/>
                <a:cs typeface="Times New Roman"/>
                <a:sym typeface="Times New Roman"/>
              </a:rPr>
              <a:t>apanA</a:t>
            </a:r>
            <a:r>
              <a:rPr lang="en" sz="1800">
                <a:latin typeface="Times New Roman"/>
                <a:ea typeface="Times New Roman"/>
                <a:cs typeface="Times New Roman"/>
                <a:sym typeface="Times New Roman"/>
              </a:rPr>
              <a:t> → apanā</a:t>
            </a:r>
            <a:endParaRPr sz="1800">
              <a:latin typeface="Times New Roman"/>
              <a:ea typeface="Times New Roman"/>
              <a:cs typeface="Times New Roman"/>
              <a:sym typeface="Times New Roman"/>
            </a:endParaRPr>
          </a:p>
        </p:txBody>
      </p:sp>
      <p:sp>
        <p:nvSpPr>
          <p:cNvPr id="181" name="Google Shape;181;p32"/>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Pronominals</a:t>
            </a:r>
            <a:endParaRPr b="1" sz="2200">
              <a:solidFill>
                <a:schemeClr val="accent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3"/>
          <p:cNvSpPr txBox="1"/>
          <p:nvPr/>
        </p:nvSpPr>
        <p:spPr>
          <a:xfrm>
            <a:off x="182200" y="509250"/>
            <a:ext cx="8473200" cy="39666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Multi-word Expressions (MWEs)</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MWE: a sequence of words that acts as a single unit, with its overall meaning or properties that are not predictable from the meanings of its individual parts</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MWEs are concepts made of multiple words.</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Components are joined with a plus (+) sign.</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Examples:</a:t>
            </a:r>
            <a:endParaRPr sz="1800">
              <a:latin typeface="Times New Roman"/>
              <a:ea typeface="Times New Roman"/>
              <a:cs typeface="Times New Roman"/>
              <a:sym typeface="Times New Roman"/>
            </a:endParaRPr>
          </a:p>
          <a:p>
            <a:pPr indent="-342900" lvl="2" marL="13716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Asa+pAsa_1 → around</a:t>
            </a:r>
            <a:endParaRPr sz="1800">
              <a:latin typeface="Times New Roman"/>
              <a:ea typeface="Times New Roman"/>
              <a:cs typeface="Times New Roman"/>
              <a:sym typeface="Times New Roman"/>
            </a:endParaRPr>
          </a:p>
          <a:p>
            <a:pPr indent="-342900" lvl="2" marL="13716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xina+prawixina_1 → everyday</a:t>
            </a:r>
            <a:endParaRPr sz="1800">
              <a:latin typeface="Times New Roman"/>
              <a:ea typeface="Times New Roman"/>
              <a:cs typeface="Times New Roman"/>
              <a:sym typeface="Times New Roman"/>
            </a:endParaRPr>
          </a:p>
          <a:p>
            <a:pPr indent="-342900" lvl="2" marL="13716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cAroM+Ora_4 → everywhere</a:t>
            </a:r>
            <a:endParaRPr sz="1800">
              <a:latin typeface="Times New Roman"/>
              <a:ea typeface="Times New Roman"/>
              <a:cs typeface="Times New Roman"/>
              <a:sym typeface="Times New Roman"/>
            </a:endParaRPr>
          </a:p>
          <a:p>
            <a:pPr indent="-342900" lvl="2" marL="13716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digrI+selsiyAsa_1 → degree Celsius</a:t>
            </a:r>
            <a:endParaRPr sz="1800">
              <a:latin typeface="Times New Roman"/>
              <a:ea typeface="Times New Roman"/>
              <a:cs typeface="Times New Roman"/>
              <a:sym typeface="Times New Roman"/>
            </a:endParaRPr>
          </a:p>
          <a:p>
            <a:pPr indent="-342900" lvl="2" marL="13716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mote+wora+para_1 → generally</a:t>
            </a:r>
            <a:endParaRPr sz="1800">
              <a:latin typeface="Times New Roman"/>
              <a:ea typeface="Times New Roman"/>
              <a:cs typeface="Times New Roman"/>
              <a:sym typeface="Times New Roman"/>
            </a:endParaRPr>
          </a:p>
          <a:p>
            <a:pPr indent="-342900" lvl="2" marL="13716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hAla+hI_1 → recently</a:t>
            </a:r>
            <a:endParaRPr sz="1800">
              <a:latin typeface="Times New Roman"/>
              <a:ea typeface="Times New Roman"/>
              <a:cs typeface="Times New Roman"/>
              <a:sym typeface="Times New Roman"/>
            </a:endParaRPr>
          </a:p>
        </p:txBody>
      </p:sp>
      <p:sp>
        <p:nvSpPr>
          <p:cNvPr id="187" name="Google Shape;187;p33"/>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Multi-word Expressions</a:t>
            </a:r>
            <a:endParaRPr b="1" sz="2200">
              <a:solidFill>
                <a:schemeClr val="accen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4"/>
          <p:cNvSpPr txBox="1"/>
          <p:nvPr/>
        </p:nvSpPr>
        <p:spPr>
          <a:xfrm>
            <a:off x="182200" y="509250"/>
            <a:ext cx="8473200" cy="32673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Pronominals → $</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No concept ID assigned</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Examples: $speaker, $addressee, $wyax, $kim</a:t>
            </a:r>
            <a:endParaRPr sz="1800">
              <a:latin typeface="Times New Roman"/>
              <a:ea typeface="Times New Roman"/>
              <a:cs typeface="Times New Roman"/>
              <a:sym typeface="Times New Roman"/>
            </a:endParaRPr>
          </a:p>
          <a:p>
            <a:pPr indent="-342900" lvl="0" marL="457200" rtl="0" algn="l">
              <a:lnSpc>
                <a:spcPct val="115000"/>
              </a:lnSpc>
              <a:spcBef>
                <a:spcPts val="1000"/>
              </a:spcBef>
              <a:spcAft>
                <a:spcPts val="0"/>
              </a:spcAft>
              <a:buSzPts val="1800"/>
              <a:buFont typeface="Times New Roman"/>
              <a:buChar char="●"/>
            </a:pPr>
            <a:r>
              <a:rPr lang="en" sz="1800">
                <a:latin typeface="Times New Roman"/>
                <a:ea typeface="Times New Roman"/>
                <a:cs typeface="Times New Roman"/>
                <a:sym typeface="Times New Roman"/>
              </a:rPr>
              <a:t>Foreign Words → ^</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Not transliterated</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Format: ^word_1</a:t>
            </a:r>
            <a:endParaRPr sz="1800">
              <a:latin typeface="Times New Roman"/>
              <a:ea typeface="Times New Roman"/>
              <a:cs typeface="Times New Roman"/>
              <a:sym typeface="Times New Roman"/>
            </a:endParaRPr>
          </a:p>
          <a:p>
            <a:pPr indent="-342900" lvl="0" marL="457200" rtl="0" algn="l">
              <a:lnSpc>
                <a:spcPct val="115000"/>
              </a:lnSpc>
              <a:spcBef>
                <a:spcPts val="1000"/>
              </a:spcBef>
              <a:spcAft>
                <a:spcPts val="0"/>
              </a:spcAft>
              <a:buSzPts val="1800"/>
              <a:buFont typeface="Times New Roman"/>
              <a:buChar char="●"/>
            </a:pPr>
            <a:r>
              <a:rPr lang="en" sz="1800">
                <a:latin typeface="Times New Roman"/>
                <a:ea typeface="Times New Roman"/>
                <a:cs typeface="Times New Roman"/>
                <a:sym typeface="Times New Roman"/>
              </a:rPr>
              <a:t>Abbreviations → @</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Transliterated in wx notation</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Format: @eic.sl.yU., @nAsA</a:t>
            </a:r>
            <a:endParaRPr sz="1800">
              <a:latin typeface="Times New Roman"/>
              <a:ea typeface="Times New Roman"/>
              <a:cs typeface="Times New Roman"/>
              <a:sym typeface="Times New Roman"/>
            </a:endParaRPr>
          </a:p>
        </p:txBody>
      </p:sp>
      <p:sp>
        <p:nvSpPr>
          <p:cNvPr id="193" name="Google Shape;193;p34"/>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Symbols used in USR</a:t>
            </a:r>
            <a:endParaRPr b="1" sz="2200">
              <a:solidFill>
                <a:schemeClr val="accent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5"/>
          <p:cNvSpPr txBox="1"/>
          <p:nvPr/>
        </p:nvSpPr>
        <p:spPr>
          <a:xfrm>
            <a:off x="182200" y="509250"/>
            <a:ext cx="8473200" cy="30108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Original Sentence: #</a:t>
            </a:r>
            <a:r>
              <a:rPr lang="en" sz="1800">
                <a:latin typeface="Times New Roman"/>
                <a:ea typeface="Times New Roman"/>
                <a:cs typeface="Times New Roman"/>
                <a:sym typeface="Times New Roman"/>
              </a:rPr>
              <a:t>rāma </a:t>
            </a:r>
            <a:r>
              <a:rPr lang="en" sz="1800">
                <a:latin typeface="Times New Roman"/>
                <a:ea typeface="Times New Roman"/>
                <a:cs typeface="Times New Roman"/>
                <a:sym typeface="Times New Roman"/>
              </a:rPr>
              <a:t>gāyoṃ ke duhane ke liye ghara gayā </a:t>
            </a:r>
            <a:endParaRPr sz="1800">
              <a:latin typeface="Times New Roman"/>
              <a:ea typeface="Times New Roman"/>
              <a:cs typeface="Times New Roman"/>
              <a:sym typeface="Times New Roman"/>
            </a:endParaRPr>
          </a:p>
          <a:p>
            <a:pPr indent="0" lvl="0" marL="2286000" rtl="0" algn="l">
              <a:lnSpc>
                <a:spcPct val="115000"/>
              </a:lnSpc>
              <a:spcBef>
                <a:spcPts val="0"/>
              </a:spcBef>
              <a:spcAft>
                <a:spcPts val="0"/>
              </a:spcAft>
              <a:buNone/>
            </a:pPr>
            <a:r>
              <a:rPr lang="en" sz="1800">
                <a:latin typeface="Times New Roman"/>
                <a:ea typeface="Times New Roman"/>
                <a:cs typeface="Times New Roman"/>
                <a:sym typeface="Times New Roman"/>
              </a:rPr>
              <a:t>‘Ram went home to milk the cows.’</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sz="1800">
                <a:latin typeface="Times New Roman"/>
                <a:ea typeface="Times New Roman"/>
                <a:cs typeface="Times New Roman"/>
                <a:sym typeface="Times New Roman"/>
              </a:rPr>
              <a:t>Concepts:</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r</a:t>
            </a:r>
            <a:r>
              <a:rPr lang="en" sz="1800">
                <a:latin typeface="Times New Roman"/>
                <a:ea typeface="Times New Roman"/>
                <a:cs typeface="Times New Roman"/>
                <a:sym typeface="Times New Roman"/>
              </a:rPr>
              <a:t>āma</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[ne_1]</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gāya_1</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d</a:t>
            </a:r>
            <a:r>
              <a:rPr lang="en" sz="1800">
                <a:latin typeface="Times New Roman"/>
                <a:ea typeface="Times New Roman"/>
                <a:cs typeface="Times New Roman"/>
                <a:sym typeface="Times New Roman"/>
              </a:rPr>
              <a:t>uha_1</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ghara_1</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ja_1-yā_1</a:t>
            </a:r>
            <a:endParaRPr sz="1800">
              <a:latin typeface="Times New Roman"/>
              <a:ea typeface="Times New Roman"/>
              <a:cs typeface="Times New Roman"/>
              <a:sym typeface="Times New Roman"/>
            </a:endParaRPr>
          </a:p>
        </p:txBody>
      </p:sp>
      <p:sp>
        <p:nvSpPr>
          <p:cNvPr id="199" name="Google Shape;199;p35"/>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Concept Layer</a:t>
            </a:r>
            <a:endParaRPr b="1" sz="2200">
              <a:solidFill>
                <a:schemeClr val="accent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6"/>
          <p:cNvSpPr txBox="1"/>
          <p:nvPr>
            <p:ph type="title"/>
          </p:nvPr>
        </p:nvSpPr>
        <p:spPr>
          <a:xfrm>
            <a:off x="286350" y="1724250"/>
            <a:ext cx="85713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latin typeface="Times New Roman"/>
                <a:ea typeface="Times New Roman"/>
                <a:cs typeface="Times New Roman"/>
                <a:sym typeface="Times New Roman"/>
              </a:rPr>
              <a:t>Semantic Category Layer</a:t>
            </a:r>
            <a:r>
              <a:rPr lang="en">
                <a:solidFill>
                  <a:schemeClr val="lt1"/>
                </a:solidFill>
                <a:latin typeface="Times New Roman"/>
                <a:ea typeface="Times New Roman"/>
                <a:cs typeface="Times New Roman"/>
                <a:sym typeface="Times New Roman"/>
              </a:rPr>
              <a:t> </a:t>
            </a:r>
            <a:endParaRPr>
              <a:solidFill>
                <a:schemeClr val="lt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7"/>
          <p:cNvSpPr txBox="1"/>
          <p:nvPr/>
        </p:nvSpPr>
        <p:spPr>
          <a:xfrm>
            <a:off x="182200" y="509250"/>
            <a:ext cx="8473200" cy="23736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Semantic Category = Ontological type of a concept</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Named Entity Categories: per, org, place, ne</a:t>
            </a:r>
            <a:endParaRPr sz="1800">
              <a:latin typeface="Times New Roman"/>
              <a:ea typeface="Times New Roman"/>
              <a:cs typeface="Times New Roman"/>
              <a:sym typeface="Times New Roman"/>
            </a:endParaRPr>
          </a:p>
          <a:p>
            <a:pPr indent="457200" lvl="0" marL="0" rtl="0" algn="l">
              <a:lnSpc>
                <a:spcPct val="115000"/>
              </a:lnSpc>
              <a:spcBef>
                <a:spcPts val="0"/>
              </a:spcBef>
              <a:spcAft>
                <a:spcPts val="0"/>
              </a:spcAft>
              <a:buNone/>
            </a:pPr>
            <a:r>
              <a:rPr lang="en" sz="1800">
                <a:latin typeface="Times New Roman"/>
                <a:ea typeface="Times New Roman"/>
                <a:cs typeface="Times New Roman"/>
                <a:sym typeface="Times New Roman"/>
              </a:rPr>
              <a:t>Examples:</a:t>
            </a:r>
            <a:endParaRPr sz="1800">
              <a:latin typeface="Times New Roman"/>
              <a:ea typeface="Times New Roman"/>
              <a:cs typeface="Times New Roman"/>
              <a:sym typeface="Times New Roman"/>
            </a:endParaRPr>
          </a:p>
          <a:p>
            <a:pPr indent="457200" lvl="0" marL="0" rtl="0" algn="l">
              <a:lnSpc>
                <a:spcPct val="115000"/>
              </a:lnSpc>
              <a:spcBef>
                <a:spcPts val="0"/>
              </a:spcBef>
              <a:spcAft>
                <a:spcPts val="0"/>
              </a:spcAft>
              <a:buNone/>
            </a:pPr>
            <a:r>
              <a:rPr lang="en" sz="1800">
                <a:latin typeface="Times New Roman"/>
                <a:ea typeface="Times New Roman"/>
                <a:cs typeface="Times New Roman"/>
                <a:sym typeface="Times New Roman"/>
              </a:rPr>
              <a:t>- </a:t>
            </a:r>
            <a:r>
              <a:rPr b="1" lang="en" sz="1800">
                <a:latin typeface="Times New Roman"/>
                <a:ea typeface="Times New Roman"/>
                <a:cs typeface="Times New Roman"/>
                <a:sym typeface="Times New Roman"/>
              </a:rPr>
              <a:t>per</a:t>
            </a:r>
            <a:r>
              <a:rPr lang="en" sz="1800">
                <a:latin typeface="Times New Roman"/>
                <a:ea typeface="Times New Roman"/>
                <a:cs typeface="Times New Roman"/>
                <a:sym typeface="Times New Roman"/>
              </a:rPr>
              <a:t>: Rāma, Sita, Riya, Stuti, Tanishka, Hari</a:t>
            </a:r>
            <a:endParaRPr sz="1800">
              <a:latin typeface="Times New Roman"/>
              <a:ea typeface="Times New Roman"/>
              <a:cs typeface="Times New Roman"/>
              <a:sym typeface="Times New Roman"/>
            </a:endParaRPr>
          </a:p>
          <a:p>
            <a:pPr indent="457200" lvl="0" marL="0" rtl="0" algn="l">
              <a:lnSpc>
                <a:spcPct val="115000"/>
              </a:lnSpc>
              <a:spcBef>
                <a:spcPts val="0"/>
              </a:spcBef>
              <a:spcAft>
                <a:spcPts val="0"/>
              </a:spcAft>
              <a:buNone/>
            </a:pPr>
            <a:r>
              <a:rPr lang="en" sz="1800">
                <a:latin typeface="Times New Roman"/>
                <a:ea typeface="Times New Roman"/>
                <a:cs typeface="Times New Roman"/>
                <a:sym typeface="Times New Roman"/>
              </a:rPr>
              <a:t>- </a:t>
            </a:r>
            <a:r>
              <a:rPr b="1" lang="en" sz="1800">
                <a:latin typeface="Times New Roman"/>
                <a:ea typeface="Times New Roman"/>
                <a:cs typeface="Times New Roman"/>
                <a:sym typeface="Times New Roman"/>
              </a:rPr>
              <a:t>place</a:t>
            </a:r>
            <a:r>
              <a:rPr lang="en" sz="1800">
                <a:latin typeface="Times New Roman"/>
                <a:ea typeface="Times New Roman"/>
                <a:cs typeface="Times New Roman"/>
                <a:sym typeface="Times New Roman"/>
              </a:rPr>
              <a:t>: Dillī (Delhi), Jaipur, Varanasi,</a:t>
            </a:r>
            <a:endParaRPr sz="1800">
              <a:latin typeface="Times New Roman"/>
              <a:ea typeface="Times New Roman"/>
              <a:cs typeface="Times New Roman"/>
              <a:sym typeface="Times New Roman"/>
            </a:endParaRPr>
          </a:p>
          <a:p>
            <a:pPr indent="457200" lvl="0" marL="0" rtl="0" algn="l">
              <a:lnSpc>
                <a:spcPct val="115000"/>
              </a:lnSpc>
              <a:spcBef>
                <a:spcPts val="0"/>
              </a:spcBef>
              <a:spcAft>
                <a:spcPts val="0"/>
              </a:spcAft>
              <a:buNone/>
            </a:pPr>
            <a:r>
              <a:rPr lang="en" sz="1800">
                <a:latin typeface="Times New Roman"/>
                <a:ea typeface="Times New Roman"/>
                <a:cs typeface="Times New Roman"/>
                <a:sym typeface="Times New Roman"/>
              </a:rPr>
              <a:t>- </a:t>
            </a:r>
            <a:r>
              <a:rPr b="1" lang="en" sz="1800">
                <a:latin typeface="Times New Roman"/>
                <a:ea typeface="Times New Roman"/>
                <a:cs typeface="Times New Roman"/>
                <a:sym typeface="Times New Roman"/>
              </a:rPr>
              <a:t>org</a:t>
            </a:r>
            <a:r>
              <a:rPr lang="en" sz="1800">
                <a:latin typeface="Times New Roman"/>
                <a:ea typeface="Times New Roman"/>
                <a:cs typeface="Times New Roman"/>
                <a:sym typeface="Times New Roman"/>
              </a:rPr>
              <a:t>: Banaras Hindu University, Banasthali Vidyapith, IIT BHU, IIIT</a:t>
            </a:r>
            <a:endParaRPr sz="1800">
              <a:latin typeface="Times New Roman"/>
              <a:ea typeface="Times New Roman"/>
              <a:cs typeface="Times New Roman"/>
              <a:sym typeface="Times New Roman"/>
            </a:endParaRPr>
          </a:p>
          <a:p>
            <a:pPr indent="457200" lvl="0" marL="0" rtl="0" algn="l">
              <a:lnSpc>
                <a:spcPct val="115000"/>
              </a:lnSpc>
              <a:spcBef>
                <a:spcPts val="0"/>
              </a:spcBef>
              <a:spcAft>
                <a:spcPts val="0"/>
              </a:spcAft>
              <a:buNone/>
            </a:pPr>
            <a:r>
              <a:rPr lang="en" sz="1800">
                <a:latin typeface="Times New Roman"/>
                <a:ea typeface="Times New Roman"/>
                <a:cs typeface="Times New Roman"/>
                <a:sym typeface="Times New Roman"/>
              </a:rPr>
              <a:t>- </a:t>
            </a:r>
            <a:r>
              <a:rPr b="1" lang="en" sz="1800">
                <a:latin typeface="Times New Roman"/>
                <a:ea typeface="Times New Roman"/>
                <a:cs typeface="Times New Roman"/>
                <a:sym typeface="Times New Roman"/>
              </a:rPr>
              <a:t>ne</a:t>
            </a:r>
            <a:r>
              <a:rPr lang="en" sz="1800">
                <a:latin typeface="Times New Roman"/>
                <a:ea typeface="Times New Roman"/>
                <a:cs typeface="Times New Roman"/>
                <a:sym typeface="Times New Roman"/>
              </a:rPr>
              <a:t>: Football, Pasta</a:t>
            </a:r>
            <a:endParaRPr sz="1800">
              <a:latin typeface="Times New Roman"/>
              <a:ea typeface="Times New Roman"/>
              <a:cs typeface="Times New Roman"/>
              <a:sym typeface="Times New Roman"/>
            </a:endParaRPr>
          </a:p>
        </p:txBody>
      </p:sp>
      <p:sp>
        <p:nvSpPr>
          <p:cNvPr id="210" name="Google Shape;210;p37"/>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Semantic Category Layer</a:t>
            </a:r>
            <a:endParaRPr b="1" sz="2200">
              <a:solidFill>
                <a:schemeClr val="accen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8"/>
          <p:cNvSpPr txBox="1"/>
          <p:nvPr/>
        </p:nvSpPr>
        <p:spPr>
          <a:xfrm>
            <a:off x="182200" y="509250"/>
            <a:ext cx="8473200" cy="23736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Temporal entities:</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  - day_of_week: </a:t>
            </a:r>
            <a:r>
              <a:rPr b="1" lang="en" sz="1800">
                <a:latin typeface="Times New Roman"/>
                <a:ea typeface="Times New Roman"/>
                <a:cs typeface="Times New Roman"/>
                <a:sym typeface="Times New Roman"/>
              </a:rPr>
              <a:t>dow</a:t>
            </a:r>
            <a:r>
              <a:rPr lang="en" sz="1800">
                <a:latin typeface="Times New Roman"/>
                <a:ea typeface="Times New Roman"/>
                <a:cs typeface="Times New Roman"/>
                <a:sym typeface="Times New Roman"/>
              </a:rPr>
              <a:t> (Śukravāra - Friday, Monday, Sunday)</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  - month_of_year: </a:t>
            </a:r>
            <a:r>
              <a:rPr b="1" lang="en" sz="1800">
                <a:latin typeface="Times New Roman"/>
                <a:ea typeface="Times New Roman"/>
                <a:cs typeface="Times New Roman"/>
                <a:sym typeface="Times New Roman"/>
              </a:rPr>
              <a:t>moy</a:t>
            </a:r>
            <a:r>
              <a:rPr lang="en" sz="1800">
                <a:latin typeface="Times New Roman"/>
                <a:ea typeface="Times New Roman"/>
                <a:cs typeface="Times New Roman"/>
                <a:sym typeface="Times New Roman"/>
              </a:rPr>
              <a:t> (Agasta - August, July, November)</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  - year_of_century: </a:t>
            </a:r>
            <a:r>
              <a:rPr b="1" lang="en" sz="1800">
                <a:latin typeface="Times New Roman"/>
                <a:ea typeface="Times New Roman"/>
                <a:cs typeface="Times New Roman"/>
                <a:sym typeface="Times New Roman"/>
              </a:rPr>
              <a:t>yoc</a:t>
            </a:r>
            <a:r>
              <a:rPr lang="en" sz="1800">
                <a:latin typeface="Times New Roman"/>
                <a:ea typeface="Times New Roman"/>
                <a:cs typeface="Times New Roman"/>
                <a:sym typeface="Times New Roman"/>
              </a:rPr>
              <a:t> (1947, 1940, 1998, 2010, 2023)</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  - date_of_month: </a:t>
            </a:r>
            <a:r>
              <a:rPr b="1" lang="en" sz="1800">
                <a:latin typeface="Times New Roman"/>
                <a:ea typeface="Times New Roman"/>
                <a:cs typeface="Times New Roman"/>
                <a:sym typeface="Times New Roman"/>
              </a:rPr>
              <a:t>dom</a:t>
            </a:r>
            <a:r>
              <a:rPr lang="en" sz="1800">
                <a:latin typeface="Times New Roman"/>
                <a:ea typeface="Times New Roman"/>
                <a:cs typeface="Times New Roman"/>
                <a:sym typeface="Times New Roman"/>
              </a:rPr>
              <a:t> (15th, 10th, 19th, 22nd)</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  - calendric_unit: </a:t>
            </a:r>
            <a:r>
              <a:rPr b="1" lang="en" sz="1800">
                <a:latin typeface="Times New Roman"/>
                <a:ea typeface="Times New Roman"/>
                <a:cs typeface="Times New Roman"/>
                <a:sym typeface="Times New Roman"/>
              </a:rPr>
              <a:t>calendric_unit</a:t>
            </a:r>
            <a:r>
              <a:rPr lang="en" sz="1800">
                <a:latin typeface="Times New Roman"/>
                <a:ea typeface="Times New Roman"/>
                <a:cs typeface="Times New Roman"/>
                <a:sym typeface="Times New Roman"/>
              </a:rPr>
              <a:t> (11+ tārīkha – 11th date)</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 </a:t>
            </a:r>
            <a:r>
              <a:rPr lang="en" sz="1800">
                <a:latin typeface="Times New Roman"/>
                <a:ea typeface="Times New Roman"/>
                <a:cs typeface="Times New Roman"/>
                <a:sym typeface="Times New Roman"/>
              </a:rPr>
              <a:t> - clock_time: </a:t>
            </a:r>
            <a:r>
              <a:rPr b="1" lang="en" sz="1800">
                <a:latin typeface="Times New Roman"/>
                <a:ea typeface="Times New Roman"/>
                <a:cs typeface="Times New Roman"/>
                <a:sym typeface="Times New Roman"/>
              </a:rPr>
              <a:t>clock_time</a:t>
            </a:r>
            <a:r>
              <a:rPr lang="en" sz="1800">
                <a:latin typeface="Times New Roman"/>
                <a:ea typeface="Times New Roman"/>
                <a:cs typeface="Times New Roman"/>
                <a:sym typeface="Times New Roman"/>
              </a:rPr>
              <a:t> (5+baje - 5 o'clock)</a:t>
            </a:r>
            <a:endParaRPr sz="1800">
              <a:latin typeface="Times New Roman"/>
              <a:ea typeface="Times New Roman"/>
              <a:cs typeface="Times New Roman"/>
              <a:sym typeface="Times New Roman"/>
            </a:endParaRPr>
          </a:p>
        </p:txBody>
      </p:sp>
      <p:sp>
        <p:nvSpPr>
          <p:cNvPr id="216" name="Google Shape;216;p38"/>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Semantic Category Layer</a:t>
            </a:r>
            <a:endParaRPr b="1" sz="2200">
              <a:solidFill>
                <a:schemeClr val="accen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9"/>
          <p:cNvSpPr txBox="1"/>
          <p:nvPr/>
        </p:nvSpPr>
        <p:spPr>
          <a:xfrm>
            <a:off x="182200" y="509250"/>
            <a:ext cx="8473200" cy="35859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Number</a:t>
            </a:r>
            <a:r>
              <a:rPr lang="en" sz="1800">
                <a:latin typeface="Times New Roman"/>
                <a:ea typeface="Times New Roman"/>
                <a:cs typeface="Times New Roman"/>
                <a:sym typeface="Times New Roman"/>
              </a:rPr>
              <a:t> entity categories</a:t>
            </a:r>
            <a:endParaRPr sz="1800">
              <a:latin typeface="Times New Roman"/>
              <a:ea typeface="Times New Roman"/>
              <a:cs typeface="Times New Roman"/>
              <a:sym typeface="Times New Roman"/>
            </a:endParaRPr>
          </a:p>
          <a:p>
            <a:pPr indent="457200" lvl="0" marL="0" rtl="0" algn="l">
              <a:lnSpc>
                <a:spcPct val="115000"/>
              </a:lnSpc>
              <a:spcBef>
                <a:spcPts val="0"/>
              </a:spcBef>
              <a:spcAft>
                <a:spcPts val="0"/>
              </a:spcAft>
              <a:buNone/>
            </a:pPr>
            <a:r>
              <a:rPr lang="en" sz="1800">
                <a:latin typeface="Times New Roman"/>
                <a:ea typeface="Times New Roman"/>
                <a:cs typeface="Times New Roman"/>
                <a:sym typeface="Times New Roman"/>
              </a:rPr>
              <a:t>Number Entity Categories: quantity (e.g., 5 +kilo, 10+meter)</a:t>
            </a:r>
            <a:endParaRPr sz="1800">
              <a:latin typeface="Times New Roman"/>
              <a:ea typeface="Times New Roman"/>
              <a:cs typeface="Times New Roman"/>
              <a:sym typeface="Times New Roman"/>
            </a:endParaRPr>
          </a:p>
          <a:p>
            <a:pPr indent="457200" lvl="0" marL="0" rtl="0" algn="l">
              <a:lnSpc>
                <a:spcPct val="115000"/>
              </a:lnSpc>
              <a:spcBef>
                <a:spcPts val="0"/>
              </a:spcBef>
              <a:spcAft>
                <a:spcPts val="0"/>
              </a:spcAft>
              <a:buNone/>
            </a:pPr>
            <a:r>
              <a:rPr lang="en" sz="1800">
                <a:latin typeface="Times New Roman"/>
                <a:ea typeface="Times New Roman"/>
                <a:cs typeface="Times New Roman"/>
                <a:sym typeface="Times New Roman"/>
              </a:rPr>
              <a:t>Marked with “</a:t>
            </a:r>
            <a:r>
              <a:rPr b="1" lang="en" sz="1800">
                <a:latin typeface="Times New Roman"/>
                <a:ea typeface="Times New Roman"/>
                <a:cs typeface="Times New Roman"/>
                <a:sym typeface="Times New Roman"/>
              </a:rPr>
              <a:t>numex</a:t>
            </a:r>
            <a:r>
              <a:rPr lang="en" sz="1800">
                <a:latin typeface="Times New Roman"/>
                <a:ea typeface="Times New Roman"/>
                <a:cs typeface="Times New Roman"/>
                <a:sym typeface="Times New Roman"/>
              </a:rPr>
              <a:t>” tag</a:t>
            </a:r>
            <a:endParaRPr sz="1800">
              <a:latin typeface="Times New Roman"/>
              <a:ea typeface="Times New Roman"/>
              <a:cs typeface="Times New Roman"/>
              <a:sym typeface="Times New Roman"/>
            </a:endParaRPr>
          </a:p>
          <a:p>
            <a:pPr indent="-342900" lvl="0" marL="457200" rtl="0" algn="l">
              <a:lnSpc>
                <a:spcPct val="115000"/>
              </a:lnSpc>
              <a:spcBef>
                <a:spcPts val="1000"/>
              </a:spcBef>
              <a:spcAft>
                <a:spcPts val="0"/>
              </a:spcAft>
              <a:buSzPts val="1800"/>
              <a:buFont typeface="Times New Roman"/>
              <a:buChar char="●"/>
            </a:pPr>
            <a:r>
              <a:rPr lang="en" sz="1800">
                <a:latin typeface="Times New Roman"/>
                <a:ea typeface="Times New Roman"/>
                <a:cs typeface="Times New Roman"/>
                <a:sym typeface="Times New Roman"/>
              </a:rPr>
              <a:t>Animacy Category</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	Living beings unless a proper noun</a:t>
            </a:r>
            <a:endParaRPr sz="1800">
              <a:latin typeface="Times New Roman"/>
              <a:ea typeface="Times New Roman"/>
              <a:cs typeface="Times New Roman"/>
              <a:sym typeface="Times New Roman"/>
            </a:endParaRPr>
          </a:p>
          <a:p>
            <a:pPr indent="457200" lvl="0" marL="0" rtl="0" algn="l">
              <a:lnSpc>
                <a:spcPct val="115000"/>
              </a:lnSpc>
              <a:spcBef>
                <a:spcPts val="0"/>
              </a:spcBef>
              <a:spcAft>
                <a:spcPts val="0"/>
              </a:spcAft>
              <a:buNone/>
            </a:pPr>
            <a:r>
              <a:rPr lang="en" sz="1800">
                <a:latin typeface="Times New Roman"/>
                <a:ea typeface="Times New Roman"/>
                <a:cs typeface="Times New Roman"/>
                <a:sym typeface="Times New Roman"/>
              </a:rPr>
              <a:t>Examples: Speaker, addressee, laḍakā (boy)</a:t>
            </a:r>
            <a:endParaRPr sz="1800">
              <a:latin typeface="Times New Roman"/>
              <a:ea typeface="Times New Roman"/>
              <a:cs typeface="Times New Roman"/>
              <a:sym typeface="Times New Roman"/>
            </a:endParaRPr>
          </a:p>
          <a:p>
            <a:pPr indent="-342900" lvl="0" marL="457200" rtl="0" algn="l">
              <a:lnSpc>
                <a:spcPct val="115000"/>
              </a:lnSpc>
              <a:spcBef>
                <a:spcPts val="1000"/>
              </a:spcBef>
              <a:spcAft>
                <a:spcPts val="0"/>
              </a:spcAft>
              <a:buSzPts val="1800"/>
              <a:buFont typeface="Times New Roman"/>
              <a:buChar char="●"/>
            </a:pPr>
            <a:r>
              <a:rPr lang="en" sz="1800">
                <a:latin typeface="Times New Roman"/>
                <a:ea typeface="Times New Roman"/>
                <a:cs typeface="Times New Roman"/>
                <a:sym typeface="Times New Roman"/>
              </a:rPr>
              <a:t>Gender Category</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sz="1800">
                <a:latin typeface="Times New Roman"/>
                <a:ea typeface="Times New Roman"/>
                <a:cs typeface="Times New Roman"/>
                <a:sym typeface="Times New Roman"/>
              </a:rPr>
              <a:t>Gender information of living beings with inherent gender</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sz="1800">
                <a:latin typeface="Times New Roman"/>
                <a:ea typeface="Times New Roman"/>
                <a:cs typeface="Times New Roman"/>
                <a:sym typeface="Times New Roman"/>
              </a:rPr>
              <a:t>Marked as </a:t>
            </a:r>
            <a:r>
              <a:rPr b="1" lang="en" sz="1800">
                <a:latin typeface="Times New Roman"/>
                <a:ea typeface="Times New Roman"/>
                <a:cs typeface="Times New Roman"/>
                <a:sym typeface="Times New Roman"/>
              </a:rPr>
              <a:t>m</a:t>
            </a:r>
            <a:r>
              <a:rPr lang="en" sz="1800">
                <a:latin typeface="Times New Roman"/>
                <a:ea typeface="Times New Roman"/>
                <a:cs typeface="Times New Roman"/>
                <a:sym typeface="Times New Roman"/>
              </a:rPr>
              <a:t> (masculine) or </a:t>
            </a:r>
            <a:r>
              <a:rPr b="1" lang="en" sz="1800">
                <a:latin typeface="Times New Roman"/>
                <a:ea typeface="Times New Roman"/>
                <a:cs typeface="Times New Roman"/>
                <a:sym typeface="Times New Roman"/>
              </a:rPr>
              <a:t>f</a:t>
            </a:r>
            <a:r>
              <a:rPr lang="en" sz="1800">
                <a:latin typeface="Times New Roman"/>
                <a:ea typeface="Times New Roman"/>
                <a:cs typeface="Times New Roman"/>
                <a:sym typeface="Times New Roman"/>
              </a:rPr>
              <a:t> (feminine)</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sz="1800">
                <a:latin typeface="Times New Roman"/>
                <a:ea typeface="Times New Roman"/>
                <a:cs typeface="Times New Roman"/>
                <a:sym typeface="Times New Roman"/>
              </a:rPr>
              <a:t>Example: Sītā baccoṃ ko phala detī hai (Sita gives fruit to the children.)</a:t>
            </a:r>
            <a:endParaRPr sz="1800">
              <a:latin typeface="Times New Roman"/>
              <a:ea typeface="Times New Roman"/>
              <a:cs typeface="Times New Roman"/>
              <a:sym typeface="Times New Roman"/>
            </a:endParaRPr>
          </a:p>
        </p:txBody>
      </p:sp>
      <p:sp>
        <p:nvSpPr>
          <p:cNvPr id="222" name="Google Shape;222;p39"/>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Semantic Category Layer</a:t>
            </a:r>
            <a:endParaRPr b="1" sz="2200">
              <a:solidFill>
                <a:schemeClr val="accen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0"/>
          <p:cNvSpPr txBox="1"/>
          <p:nvPr>
            <p:ph type="title"/>
          </p:nvPr>
        </p:nvSpPr>
        <p:spPr>
          <a:xfrm>
            <a:off x="286350" y="1761075"/>
            <a:ext cx="8571300" cy="942000"/>
          </a:xfrm>
          <a:prstGeom prst="rect">
            <a:avLst/>
          </a:prstGeom>
        </p:spPr>
        <p:txBody>
          <a:bodyPr anchorCtr="0" anchor="ctr" bIns="91425" lIns="91425" spcFirstLastPara="1" rIns="91425" wrap="square" tIns="91425">
            <a:normAutofit/>
          </a:bodyPr>
          <a:lstStyle/>
          <a:p>
            <a:pPr indent="0" lvl="0" marL="0" rtl="0" algn="ctr">
              <a:lnSpc>
                <a:spcPct val="115000"/>
              </a:lnSpc>
              <a:spcBef>
                <a:spcPts val="0"/>
              </a:spcBef>
              <a:spcAft>
                <a:spcPts val="0"/>
              </a:spcAft>
              <a:buNone/>
            </a:pPr>
            <a:r>
              <a:rPr lang="en">
                <a:latin typeface="Times New Roman"/>
                <a:ea typeface="Times New Roman"/>
                <a:cs typeface="Times New Roman"/>
                <a:sym typeface="Times New Roman"/>
              </a:rPr>
              <a:t>Morpho-Semantic Layer</a:t>
            </a:r>
            <a:endParaRPr>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1"/>
          <p:cNvSpPr txBox="1"/>
          <p:nvPr/>
        </p:nvSpPr>
        <p:spPr>
          <a:xfrm>
            <a:off x="182200" y="509250"/>
            <a:ext cx="8473200" cy="26922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Morpho-Semantic Row in USR</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sz="1800">
                <a:latin typeface="Times New Roman"/>
                <a:ea typeface="Times New Roman"/>
                <a:cs typeface="Times New Roman"/>
                <a:sym typeface="Times New Roman"/>
              </a:rPr>
              <a:t>Captures the speaker’s intent (vivakṣā) to:</a:t>
            </a:r>
            <a:endParaRPr sz="1800">
              <a:latin typeface="Times New Roman"/>
              <a:ea typeface="Times New Roman"/>
              <a:cs typeface="Times New Roman"/>
              <a:sym typeface="Times New Roman"/>
            </a:endParaRPr>
          </a:p>
          <a:p>
            <a:pPr indent="457200" lvl="0" marL="0" rtl="0" algn="l">
              <a:lnSpc>
                <a:spcPct val="115000"/>
              </a:lnSpc>
              <a:spcBef>
                <a:spcPts val="0"/>
              </a:spcBef>
              <a:spcAft>
                <a:spcPts val="0"/>
              </a:spcAft>
              <a:buNone/>
            </a:pPr>
            <a:r>
              <a:rPr lang="en" sz="1800">
                <a:latin typeface="Times New Roman"/>
                <a:ea typeface="Times New Roman"/>
                <a:cs typeface="Times New Roman"/>
                <a:sym typeface="Times New Roman"/>
              </a:rPr>
              <a:t>Compare, causativize, adjectivize and more</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sz="1800">
                <a:latin typeface="Times New Roman"/>
                <a:ea typeface="Times New Roman"/>
                <a:cs typeface="Times New Roman"/>
                <a:sym typeface="Times New Roman"/>
              </a:rPr>
              <a:t>Reflected in derived forms of root concepts during generation.</a:t>
            </a:r>
            <a:endParaRPr sz="1800">
              <a:latin typeface="Times New Roman"/>
              <a:ea typeface="Times New Roman"/>
              <a:cs typeface="Times New Roman"/>
              <a:sym typeface="Times New Roman"/>
            </a:endParaRPr>
          </a:p>
          <a:p>
            <a:pPr indent="457200" lvl="0" marL="0" rtl="0" algn="l">
              <a:lnSpc>
                <a:spcPct val="115000"/>
              </a:lnSpc>
              <a:spcBef>
                <a:spcPts val="0"/>
              </a:spcBef>
              <a:spcAft>
                <a:spcPts val="0"/>
              </a:spcAft>
              <a:buNone/>
            </a:pPr>
            <a:r>
              <a:rPr lang="en" sz="1800">
                <a:latin typeface="Times New Roman"/>
                <a:ea typeface="Times New Roman"/>
                <a:cs typeface="Times New Roman"/>
                <a:sym typeface="Times New Roman"/>
              </a:rPr>
              <a:t>Example:</a:t>
            </a:r>
            <a:endParaRPr sz="1800">
              <a:latin typeface="Times New Roman"/>
              <a:ea typeface="Times New Roman"/>
              <a:cs typeface="Times New Roman"/>
              <a:sym typeface="Times New Roman"/>
            </a:endParaRPr>
          </a:p>
          <a:p>
            <a:pPr indent="457200" lvl="0" marL="457200" rtl="0" algn="l">
              <a:lnSpc>
                <a:spcPct val="115000"/>
              </a:lnSpc>
              <a:spcBef>
                <a:spcPts val="0"/>
              </a:spcBef>
              <a:spcAft>
                <a:spcPts val="0"/>
              </a:spcAft>
              <a:buNone/>
            </a:pPr>
            <a:r>
              <a:rPr lang="en" sz="1800">
                <a:latin typeface="Times New Roman"/>
                <a:ea typeface="Times New Roman"/>
                <a:cs typeface="Times New Roman"/>
                <a:sym typeface="Times New Roman"/>
              </a:rPr>
              <a:t>mohana baccoṃ se kama buddhimāna hai.</a:t>
            </a:r>
            <a:endParaRPr sz="1800">
              <a:latin typeface="Times New Roman"/>
              <a:ea typeface="Times New Roman"/>
              <a:cs typeface="Times New Roman"/>
              <a:sym typeface="Times New Roman"/>
            </a:endParaRPr>
          </a:p>
          <a:p>
            <a:pPr indent="457200" lvl="0" marL="457200" rtl="0" algn="l">
              <a:lnSpc>
                <a:spcPct val="115000"/>
              </a:lnSpc>
              <a:spcBef>
                <a:spcPts val="0"/>
              </a:spcBef>
              <a:spcAft>
                <a:spcPts val="0"/>
              </a:spcAft>
              <a:buNone/>
            </a:pPr>
            <a:r>
              <a:rPr lang="en" sz="1800">
                <a:latin typeface="Times New Roman"/>
                <a:ea typeface="Times New Roman"/>
                <a:cs typeface="Times New Roman"/>
                <a:sym typeface="Times New Roman"/>
              </a:rPr>
              <a:t>Mohan is less intelligent than the children.</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800">
              <a:latin typeface="Times New Roman"/>
              <a:ea typeface="Times New Roman"/>
              <a:cs typeface="Times New Roman"/>
              <a:sym typeface="Times New Roman"/>
            </a:endParaRPr>
          </a:p>
        </p:txBody>
      </p:sp>
      <p:sp>
        <p:nvSpPr>
          <p:cNvPr id="233" name="Google Shape;233;p41"/>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Morpho-Semantic Category Layer</a:t>
            </a:r>
            <a:endParaRPr b="1" sz="2200">
              <a:solidFill>
                <a:schemeClr val="accent1"/>
              </a:solidFill>
              <a:latin typeface="Times New Roman"/>
              <a:ea typeface="Times New Roman"/>
              <a:cs typeface="Times New Roman"/>
              <a:sym typeface="Times New Roman"/>
            </a:endParaRPr>
          </a:p>
        </p:txBody>
      </p:sp>
      <p:graphicFrame>
        <p:nvGraphicFramePr>
          <p:cNvPr id="234" name="Google Shape;234;p41"/>
          <p:cNvGraphicFramePr/>
          <p:nvPr/>
        </p:nvGraphicFramePr>
        <p:xfrm>
          <a:off x="991693" y="3233000"/>
          <a:ext cx="3000000" cy="3000000"/>
        </p:xfrm>
        <a:graphic>
          <a:graphicData uri="http://schemas.openxmlformats.org/drawingml/2006/table">
            <a:tbl>
              <a:tblPr>
                <a:noFill/>
                <a:tableStyleId>{EE3ED6BA-528B-4D64-BD1A-DC52F9B1A0E4}</a:tableStyleId>
              </a:tblPr>
              <a:tblGrid>
                <a:gridCol w="2161075"/>
                <a:gridCol w="995675"/>
                <a:gridCol w="1024500"/>
                <a:gridCol w="1689150"/>
                <a:gridCol w="1467600"/>
              </a:tblGrid>
              <a:tr h="336675">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Original Sentence</a:t>
                      </a:r>
                      <a:endParaRPr sz="1800">
                        <a:latin typeface="Times New Roman"/>
                        <a:ea typeface="Times New Roman"/>
                        <a:cs typeface="Times New Roman"/>
                        <a:sym typeface="Times New Roman"/>
                      </a:endParaRPr>
                    </a:p>
                  </a:txBody>
                  <a:tcPr marT="0" marB="0"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4">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a:t>
                      </a:r>
                      <a:r>
                        <a:rPr lang="en" sz="1800">
                          <a:latin typeface="Times New Roman"/>
                          <a:ea typeface="Times New Roman"/>
                          <a:cs typeface="Times New Roman"/>
                          <a:sym typeface="Times New Roman"/>
                        </a:rPr>
                        <a:t>mohana bacco</a:t>
                      </a:r>
                      <a:r>
                        <a:rPr lang="en" sz="1800">
                          <a:latin typeface="Times New Roman"/>
                          <a:ea typeface="Times New Roman"/>
                          <a:cs typeface="Times New Roman"/>
                          <a:sym typeface="Times New Roman"/>
                        </a:rPr>
                        <a:t>ṃ</a:t>
                      </a:r>
                      <a:r>
                        <a:rPr lang="en" sz="1800">
                          <a:latin typeface="Times New Roman"/>
                          <a:ea typeface="Times New Roman"/>
                          <a:cs typeface="Times New Roman"/>
                          <a:sym typeface="Times New Roman"/>
                        </a:rPr>
                        <a:t> se kama buddhimāna hai.</a:t>
                      </a:r>
                      <a:endParaRPr sz="1800">
                        <a:latin typeface="Times New Roman"/>
                        <a:ea typeface="Times New Roman"/>
                        <a:cs typeface="Times New Roman"/>
                        <a:sym typeface="Times New Roman"/>
                      </a:endParaRPr>
                    </a:p>
                  </a:txBody>
                  <a:tcPr marT="0" marB="0"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c hMerge="1"/>
              </a:tr>
              <a:tr h="348475">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Concept</a:t>
                      </a:r>
                      <a:endParaRPr sz="1800">
                        <a:latin typeface="Times New Roman"/>
                        <a:ea typeface="Times New Roman"/>
                        <a:cs typeface="Times New Roman"/>
                        <a:sym typeface="Times New Roman"/>
                      </a:endParaRPr>
                    </a:p>
                  </a:txBody>
                  <a:tcPr marT="0" marB="0"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mohana</a:t>
                      </a:r>
                      <a:endParaRPr sz="1800">
                        <a:latin typeface="Times New Roman"/>
                        <a:ea typeface="Times New Roman"/>
                        <a:cs typeface="Times New Roman"/>
                        <a:sym typeface="Times New Roman"/>
                      </a:endParaRPr>
                    </a:p>
                  </a:txBody>
                  <a:tcPr marT="0" marB="0"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baccā_1</a:t>
                      </a:r>
                      <a:endParaRPr sz="1800">
                        <a:latin typeface="Times New Roman"/>
                        <a:ea typeface="Times New Roman"/>
                        <a:cs typeface="Times New Roman"/>
                        <a:sym typeface="Times New Roman"/>
                      </a:endParaRPr>
                    </a:p>
                  </a:txBody>
                  <a:tcPr marT="0" marB="0"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buddhimāna_1</a:t>
                      </a:r>
                      <a:endParaRPr sz="1800">
                        <a:latin typeface="Times New Roman"/>
                        <a:ea typeface="Times New Roman"/>
                        <a:cs typeface="Times New Roman"/>
                        <a:sym typeface="Times New Roman"/>
                      </a:endParaRPr>
                    </a:p>
                  </a:txBody>
                  <a:tcPr marT="0" marB="0"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hai_1-pres</a:t>
                      </a:r>
                      <a:endParaRPr sz="1800">
                        <a:latin typeface="Times New Roman"/>
                        <a:ea typeface="Times New Roman"/>
                        <a:cs typeface="Times New Roman"/>
                        <a:sym typeface="Times New Roman"/>
                      </a:endParaRPr>
                    </a:p>
                  </a:txBody>
                  <a:tcPr marT="0" marB="0"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2575">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Index</a:t>
                      </a:r>
                      <a:endParaRPr sz="1800">
                        <a:latin typeface="Times New Roman"/>
                        <a:ea typeface="Times New Roman"/>
                        <a:cs typeface="Times New Roman"/>
                        <a:sym typeface="Times New Roman"/>
                      </a:endParaRPr>
                    </a:p>
                  </a:txBody>
                  <a:tcPr marT="0" marB="0"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a:txBody>
                  <a:tcPr marT="0" marB="0"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2</a:t>
                      </a:r>
                      <a:endParaRPr sz="1800">
                        <a:latin typeface="Times New Roman"/>
                        <a:ea typeface="Times New Roman"/>
                        <a:cs typeface="Times New Roman"/>
                        <a:sym typeface="Times New Roman"/>
                      </a:endParaRPr>
                    </a:p>
                  </a:txBody>
                  <a:tcPr marT="0" marB="0"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3</a:t>
                      </a:r>
                      <a:endParaRPr sz="1800">
                        <a:latin typeface="Times New Roman"/>
                        <a:ea typeface="Times New Roman"/>
                        <a:cs typeface="Times New Roman"/>
                        <a:sym typeface="Times New Roman"/>
                      </a:endParaRPr>
                    </a:p>
                  </a:txBody>
                  <a:tcPr marT="0" marB="0"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4</a:t>
                      </a:r>
                      <a:endParaRPr sz="1800">
                        <a:latin typeface="Times New Roman"/>
                        <a:ea typeface="Times New Roman"/>
                        <a:cs typeface="Times New Roman"/>
                        <a:sym typeface="Times New Roman"/>
                      </a:endParaRPr>
                    </a:p>
                  </a:txBody>
                  <a:tcPr marT="0" marB="0"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6450">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Morpho-sem</a:t>
                      </a:r>
                      <a:endParaRPr sz="1800">
                        <a:latin typeface="Times New Roman"/>
                        <a:ea typeface="Times New Roman"/>
                        <a:cs typeface="Times New Roman"/>
                        <a:sym typeface="Times New Roman"/>
                      </a:endParaRPr>
                    </a:p>
                  </a:txBody>
                  <a:tcPr marT="0" marB="0"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Times New Roman"/>
                        <a:ea typeface="Times New Roman"/>
                        <a:cs typeface="Times New Roman"/>
                        <a:sym typeface="Times New Roman"/>
                      </a:endParaRPr>
                    </a:p>
                  </a:txBody>
                  <a:tcPr marT="0" marB="0"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pl</a:t>
                      </a:r>
                      <a:endParaRPr sz="1800">
                        <a:latin typeface="Times New Roman"/>
                        <a:ea typeface="Times New Roman"/>
                        <a:cs typeface="Times New Roman"/>
                        <a:sym typeface="Times New Roman"/>
                      </a:endParaRPr>
                    </a:p>
                  </a:txBody>
                  <a:tcPr marT="0" marB="0"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comparless</a:t>
                      </a:r>
                      <a:endParaRPr sz="1800">
                        <a:latin typeface="Times New Roman"/>
                        <a:ea typeface="Times New Roman"/>
                        <a:cs typeface="Times New Roman"/>
                        <a:sym typeface="Times New Roman"/>
                      </a:endParaRPr>
                    </a:p>
                  </a:txBody>
                  <a:tcPr marT="0" marB="0"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Times New Roman"/>
                        <a:ea typeface="Times New Roman"/>
                        <a:cs typeface="Times New Roman"/>
                        <a:sym typeface="Times New Roman"/>
                      </a:endParaRPr>
                    </a:p>
                  </a:txBody>
                  <a:tcPr marT="0" marB="0"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2"/>
          <p:cNvSpPr txBox="1"/>
          <p:nvPr/>
        </p:nvSpPr>
        <p:spPr>
          <a:xfrm>
            <a:off x="182200" y="509250"/>
            <a:ext cx="84732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800">
              <a:latin typeface="Times New Roman"/>
              <a:ea typeface="Times New Roman"/>
              <a:cs typeface="Times New Roman"/>
              <a:sym typeface="Times New Roman"/>
            </a:endParaRPr>
          </a:p>
        </p:txBody>
      </p:sp>
      <p:sp>
        <p:nvSpPr>
          <p:cNvPr id="240" name="Google Shape;240;p42"/>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Morpho-Semantic Category Layer</a:t>
            </a:r>
            <a:endParaRPr b="1" sz="2200">
              <a:solidFill>
                <a:schemeClr val="accent1"/>
              </a:solidFill>
              <a:latin typeface="Times New Roman"/>
              <a:ea typeface="Times New Roman"/>
              <a:cs typeface="Times New Roman"/>
              <a:sym typeface="Times New Roman"/>
            </a:endParaRPr>
          </a:p>
        </p:txBody>
      </p:sp>
      <p:graphicFrame>
        <p:nvGraphicFramePr>
          <p:cNvPr id="241" name="Google Shape;241;p42"/>
          <p:cNvGraphicFramePr/>
          <p:nvPr/>
        </p:nvGraphicFramePr>
        <p:xfrm>
          <a:off x="200875" y="659500"/>
          <a:ext cx="3000000" cy="3000000"/>
        </p:xfrm>
        <a:graphic>
          <a:graphicData uri="http://schemas.openxmlformats.org/drawingml/2006/table">
            <a:tbl>
              <a:tblPr>
                <a:noFill/>
                <a:tableStyleId>{EE3ED6BA-528B-4D64-BD1A-DC52F9B1A0E4}</a:tableStyleId>
              </a:tblPr>
              <a:tblGrid>
                <a:gridCol w="1390725"/>
                <a:gridCol w="1597125"/>
                <a:gridCol w="3237600"/>
                <a:gridCol w="2450225"/>
              </a:tblGrid>
              <a:tr h="311450">
                <a:tc>
                  <a:txBody>
                    <a:bodyPr/>
                    <a:lstStyle/>
                    <a:p>
                      <a:pPr indent="0" lvl="0" marL="0" rtl="0" algn="l">
                        <a:spcBef>
                          <a:spcPts val="0"/>
                        </a:spcBef>
                        <a:spcAft>
                          <a:spcPts val="0"/>
                        </a:spcAft>
                        <a:buNone/>
                      </a:pPr>
                      <a:r>
                        <a:rPr b="1" lang="en" sz="1800">
                          <a:latin typeface="Times New Roman"/>
                          <a:ea typeface="Times New Roman"/>
                          <a:cs typeface="Times New Roman"/>
                          <a:sym typeface="Times New Roman"/>
                        </a:rPr>
                        <a:t>Tag</a:t>
                      </a:r>
                      <a:endParaRPr b="1" sz="1800">
                        <a:latin typeface="Times New Roman"/>
                        <a:ea typeface="Times New Roman"/>
                        <a:cs typeface="Times New Roman"/>
                        <a:sym typeface="Times New Roman"/>
                      </a:endParaRPr>
                    </a:p>
                  </a:txBody>
                  <a:tcPr marT="0" marB="0" marR="91425" marL="91425"/>
                </a:tc>
                <a:tc>
                  <a:txBody>
                    <a:bodyPr/>
                    <a:lstStyle/>
                    <a:p>
                      <a:pPr indent="0" lvl="0" marL="0" rtl="0" algn="l">
                        <a:spcBef>
                          <a:spcPts val="0"/>
                        </a:spcBef>
                        <a:spcAft>
                          <a:spcPts val="0"/>
                        </a:spcAft>
                        <a:buNone/>
                      </a:pPr>
                      <a:r>
                        <a:rPr b="1" lang="en" sz="1800">
                          <a:latin typeface="Times New Roman"/>
                          <a:ea typeface="Times New Roman"/>
                          <a:cs typeface="Times New Roman"/>
                          <a:sym typeface="Times New Roman"/>
                        </a:rPr>
                        <a:t>Meaning</a:t>
                      </a:r>
                      <a:endParaRPr b="1" sz="1800">
                        <a:latin typeface="Times New Roman"/>
                        <a:ea typeface="Times New Roman"/>
                        <a:cs typeface="Times New Roman"/>
                        <a:sym typeface="Times New Roman"/>
                      </a:endParaRPr>
                    </a:p>
                  </a:txBody>
                  <a:tcPr marT="0" marB="0" marR="91425" marL="91425"/>
                </a:tc>
                <a:tc>
                  <a:txBody>
                    <a:bodyPr/>
                    <a:lstStyle/>
                    <a:p>
                      <a:pPr indent="0" lvl="0" marL="0" rtl="0" algn="l">
                        <a:spcBef>
                          <a:spcPts val="0"/>
                        </a:spcBef>
                        <a:spcAft>
                          <a:spcPts val="0"/>
                        </a:spcAft>
                        <a:buNone/>
                      </a:pPr>
                      <a:r>
                        <a:rPr b="1" lang="en" sz="1800">
                          <a:latin typeface="Times New Roman"/>
                          <a:ea typeface="Times New Roman"/>
                          <a:cs typeface="Times New Roman"/>
                          <a:sym typeface="Times New Roman"/>
                        </a:rPr>
                        <a:t>Example </a:t>
                      </a:r>
                      <a:endParaRPr b="1" sz="1800">
                        <a:latin typeface="Times New Roman"/>
                        <a:ea typeface="Times New Roman"/>
                        <a:cs typeface="Times New Roman"/>
                        <a:sym typeface="Times New Roman"/>
                      </a:endParaRPr>
                    </a:p>
                  </a:txBody>
                  <a:tcPr marT="0" marB="0" marR="91425" marL="91425"/>
                </a:tc>
                <a:tc>
                  <a:txBody>
                    <a:bodyPr/>
                    <a:lstStyle/>
                    <a:p>
                      <a:pPr indent="0" lvl="0" marL="0" rtl="0" algn="l">
                        <a:spcBef>
                          <a:spcPts val="0"/>
                        </a:spcBef>
                        <a:spcAft>
                          <a:spcPts val="0"/>
                        </a:spcAft>
                        <a:buNone/>
                      </a:pPr>
                      <a:r>
                        <a:rPr b="1" lang="en" sz="1800">
                          <a:latin typeface="Times New Roman"/>
                          <a:ea typeface="Times New Roman"/>
                          <a:cs typeface="Times New Roman"/>
                          <a:sym typeface="Times New Roman"/>
                        </a:rPr>
                        <a:t>Explanation</a:t>
                      </a:r>
                      <a:endParaRPr b="1" sz="1800">
                        <a:latin typeface="Times New Roman"/>
                        <a:ea typeface="Times New Roman"/>
                        <a:cs typeface="Times New Roman"/>
                        <a:sym typeface="Times New Roman"/>
                      </a:endParaRPr>
                    </a:p>
                  </a:txBody>
                  <a:tcPr marT="0" marB="0" marR="91425" marL="91425"/>
                </a:tc>
              </a:tr>
              <a:tr h="604900">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pl</a:t>
                      </a:r>
                      <a:endParaRPr sz="1800">
                        <a:latin typeface="Times New Roman"/>
                        <a:ea typeface="Times New Roman"/>
                        <a:cs typeface="Times New Roman"/>
                        <a:sym typeface="Times New Roman"/>
                      </a:endParaRPr>
                    </a:p>
                  </a:txBody>
                  <a:tcPr marT="0" marB="0" marR="91425" marL="91425"/>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Plural</a:t>
                      </a:r>
                      <a:endParaRPr sz="1800">
                        <a:latin typeface="Times New Roman"/>
                        <a:ea typeface="Times New Roman"/>
                        <a:cs typeface="Times New Roman"/>
                        <a:sym typeface="Times New Roman"/>
                      </a:endParaRPr>
                    </a:p>
                  </a:txBody>
                  <a:tcPr marT="0" marB="0" marR="91425" marL="91425"/>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rāma kala kaī chātroṃ[pl] se mile</a:t>
                      </a:r>
                      <a:endParaRPr sz="1800">
                        <a:latin typeface="Times New Roman"/>
                        <a:ea typeface="Times New Roman"/>
                        <a:cs typeface="Times New Roman"/>
                        <a:sym typeface="Times New Roman"/>
                      </a:endParaRPr>
                    </a:p>
                  </a:txBody>
                  <a:tcPr marT="0" marB="0" marR="91425" marL="91425"/>
                </a:tc>
                <a:tc>
                  <a:txBody>
                    <a:bodyPr/>
                    <a:lstStyle/>
                    <a:p>
                      <a:pPr indent="0" lvl="0" marL="0" rtl="0" algn="l">
                        <a:spcBef>
                          <a:spcPts val="0"/>
                        </a:spcBef>
                        <a:spcAft>
                          <a:spcPts val="0"/>
                        </a:spcAft>
                        <a:buNone/>
                      </a:pPr>
                      <a:r>
                        <a:rPr i="1" lang="en" sz="1800">
                          <a:latin typeface="Times New Roman"/>
                          <a:ea typeface="Times New Roman"/>
                          <a:cs typeface="Times New Roman"/>
                          <a:sym typeface="Times New Roman"/>
                        </a:rPr>
                        <a:t>chātra </a:t>
                      </a:r>
                      <a:r>
                        <a:rPr lang="en" sz="1800">
                          <a:latin typeface="Times New Roman"/>
                          <a:ea typeface="Times New Roman"/>
                          <a:cs typeface="Times New Roman"/>
                          <a:sym typeface="Times New Roman"/>
                        </a:rPr>
                        <a:t>(</a:t>
                      </a:r>
                      <a:r>
                        <a:rPr lang="en" sz="1800">
                          <a:latin typeface="Times New Roman"/>
                          <a:ea typeface="Times New Roman"/>
                          <a:cs typeface="Times New Roman"/>
                          <a:sym typeface="Times New Roman"/>
                        </a:rPr>
                        <a:t>student) marked as plural</a:t>
                      </a:r>
                      <a:endParaRPr sz="1800">
                        <a:latin typeface="Times New Roman"/>
                        <a:ea typeface="Times New Roman"/>
                        <a:cs typeface="Times New Roman"/>
                        <a:sym typeface="Times New Roman"/>
                      </a:endParaRPr>
                    </a:p>
                  </a:txBody>
                  <a:tcPr marT="0" marB="0" marR="91425" marL="91425"/>
                </a:tc>
              </a:tr>
              <a:tr h="637475">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mawup</a:t>
                      </a:r>
                      <a:endParaRPr sz="1800">
                        <a:latin typeface="Times New Roman"/>
                        <a:ea typeface="Times New Roman"/>
                        <a:cs typeface="Times New Roman"/>
                        <a:sym typeface="Times New Roman"/>
                      </a:endParaRPr>
                    </a:p>
                  </a:txBody>
                  <a:tcPr marT="0" marB="0" marR="91425" marL="91425"/>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Modifier with affix (e.g., -valā)</a:t>
                      </a:r>
                      <a:endParaRPr sz="1800">
                        <a:latin typeface="Times New Roman"/>
                        <a:ea typeface="Times New Roman"/>
                        <a:cs typeface="Times New Roman"/>
                        <a:sym typeface="Times New Roman"/>
                      </a:endParaRPr>
                    </a:p>
                  </a:txBody>
                  <a:tcPr marT="0" marB="0" marR="91425" marL="91425"/>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pūrṇa caṃdramā vālī rāta ko pūrṇimā kahā jātā hai</a:t>
                      </a:r>
                      <a:endParaRPr sz="1800">
                        <a:latin typeface="Times New Roman"/>
                        <a:ea typeface="Times New Roman"/>
                        <a:cs typeface="Times New Roman"/>
                        <a:sym typeface="Times New Roman"/>
                      </a:endParaRPr>
                    </a:p>
                  </a:txBody>
                  <a:tcPr marT="0" marB="0" marR="91425" marL="91425"/>
                </a:tc>
                <a:tc>
                  <a:txBody>
                    <a:bodyPr/>
                    <a:lstStyle/>
                    <a:p>
                      <a:pPr indent="0" lvl="0" marL="0" rtl="0" algn="l">
                        <a:spcBef>
                          <a:spcPts val="0"/>
                        </a:spcBef>
                        <a:spcAft>
                          <a:spcPts val="0"/>
                        </a:spcAft>
                        <a:buNone/>
                      </a:pPr>
                      <a:r>
                        <a:rPr i="1" lang="en" sz="1800">
                          <a:latin typeface="Times New Roman"/>
                          <a:ea typeface="Times New Roman"/>
                          <a:cs typeface="Times New Roman"/>
                          <a:sym typeface="Times New Roman"/>
                        </a:rPr>
                        <a:t>caṃdramā</a:t>
                      </a:r>
                      <a:r>
                        <a:rPr lang="en" sz="1800">
                          <a:latin typeface="Times New Roman"/>
                          <a:ea typeface="Times New Roman"/>
                          <a:cs typeface="Times New Roman"/>
                          <a:sym typeface="Times New Roman"/>
                        </a:rPr>
                        <a:t> </a:t>
                      </a:r>
                      <a:r>
                        <a:rPr lang="en" sz="1800">
                          <a:latin typeface="Times New Roman"/>
                          <a:ea typeface="Times New Roman"/>
                          <a:cs typeface="Times New Roman"/>
                          <a:sym typeface="Times New Roman"/>
                        </a:rPr>
                        <a:t>marked “mawup” as “</a:t>
                      </a:r>
                      <a:r>
                        <a:rPr lang="en" sz="1800">
                          <a:latin typeface="Times New Roman"/>
                          <a:ea typeface="Times New Roman"/>
                          <a:cs typeface="Times New Roman"/>
                          <a:sym typeface="Times New Roman"/>
                        </a:rPr>
                        <a:t>-valī” makes it an</a:t>
                      </a:r>
                      <a:r>
                        <a:rPr lang="en" sz="1800">
                          <a:latin typeface="Times New Roman"/>
                          <a:ea typeface="Times New Roman"/>
                          <a:cs typeface="Times New Roman"/>
                          <a:sym typeface="Times New Roman"/>
                        </a:rPr>
                        <a:t> adjectival modifier</a:t>
                      </a:r>
                      <a:endParaRPr sz="1800">
                        <a:latin typeface="Times New Roman"/>
                        <a:ea typeface="Times New Roman"/>
                        <a:cs typeface="Times New Roman"/>
                        <a:sym typeface="Times New Roman"/>
                      </a:endParaRPr>
                    </a:p>
                  </a:txBody>
                  <a:tcPr marT="0" marB="0" marR="91425" marL="91425"/>
                </a:tc>
              </a:tr>
              <a:tr h="617975">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comparmore</a:t>
                      </a:r>
                      <a:endParaRPr sz="1800">
                        <a:latin typeface="Times New Roman"/>
                        <a:ea typeface="Times New Roman"/>
                        <a:cs typeface="Times New Roman"/>
                        <a:sym typeface="Times New Roman"/>
                      </a:endParaRPr>
                    </a:p>
                  </a:txBody>
                  <a:tcPr marT="0" marB="0" marR="91425" marL="91425"/>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Comparative – more</a:t>
                      </a:r>
                      <a:endParaRPr sz="1800">
                        <a:latin typeface="Times New Roman"/>
                        <a:ea typeface="Times New Roman"/>
                        <a:cs typeface="Times New Roman"/>
                        <a:sym typeface="Times New Roman"/>
                      </a:endParaRPr>
                    </a:p>
                  </a:txBody>
                  <a:tcPr marT="0" marB="0" marR="91425" marL="91425"/>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gaṃgā yamunā se jyādā laṃbī hai</a:t>
                      </a:r>
                      <a:endParaRPr sz="1800">
                        <a:latin typeface="Times New Roman"/>
                        <a:ea typeface="Times New Roman"/>
                        <a:cs typeface="Times New Roman"/>
                        <a:sym typeface="Times New Roman"/>
                      </a:endParaRPr>
                    </a:p>
                  </a:txBody>
                  <a:tcPr marT="0" marB="0" marR="91425" marL="91425"/>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Ganga is longer than Yamuna.</a:t>
                      </a:r>
                      <a:endParaRPr sz="1800">
                        <a:latin typeface="Times New Roman"/>
                        <a:ea typeface="Times New Roman"/>
                        <a:cs typeface="Times New Roman"/>
                        <a:sym typeface="Times New Roman"/>
                      </a:endParaRPr>
                    </a:p>
                  </a:txBody>
                  <a:tcPr marT="0" marB="0" marR="91425" marL="91425"/>
                </a:tc>
              </a:tr>
              <a:tr h="591850">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xviwva</a:t>
                      </a:r>
                      <a:endParaRPr sz="1800">
                        <a:latin typeface="Times New Roman"/>
                        <a:ea typeface="Times New Roman"/>
                        <a:cs typeface="Times New Roman"/>
                        <a:sym typeface="Times New Roman"/>
                      </a:endParaRPr>
                    </a:p>
                  </a:txBody>
                  <a:tcPr marT="0" marB="0" marR="91425" marL="91425"/>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Full reduplication</a:t>
                      </a:r>
                      <a:endParaRPr sz="1800">
                        <a:latin typeface="Times New Roman"/>
                        <a:ea typeface="Times New Roman"/>
                        <a:cs typeface="Times New Roman"/>
                        <a:sym typeface="Times New Roman"/>
                      </a:endParaRPr>
                    </a:p>
                  </a:txBody>
                  <a:tcPr marT="0" marB="0" marR="91425" marL="91425"/>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ghara-ghara patra pahuṁcā</a:t>
                      </a:r>
                      <a:endParaRPr sz="1800">
                        <a:latin typeface="Times New Roman"/>
                        <a:ea typeface="Times New Roman"/>
                        <a:cs typeface="Times New Roman"/>
                        <a:sym typeface="Times New Roman"/>
                      </a:endParaRPr>
                    </a:p>
                  </a:txBody>
                  <a:tcPr marT="0" marB="0" marR="91425" marL="91425"/>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Repeats "house" for distributive sense</a:t>
                      </a:r>
                      <a:endParaRPr sz="1800">
                        <a:latin typeface="Times New Roman"/>
                        <a:ea typeface="Times New Roman"/>
                        <a:cs typeface="Times New Roman"/>
                        <a:sym typeface="Times New Roman"/>
                      </a:endParaRPr>
                    </a:p>
                  </a:txBody>
                  <a:tcPr marT="0" marB="0" marR="91425" marL="91425"/>
                </a:tc>
              </a:tr>
              <a:tr h="467850">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causative</a:t>
                      </a:r>
                      <a:endParaRPr sz="1800">
                        <a:latin typeface="Times New Roman"/>
                        <a:ea typeface="Times New Roman"/>
                        <a:cs typeface="Times New Roman"/>
                        <a:sym typeface="Times New Roman"/>
                      </a:endParaRPr>
                    </a:p>
                  </a:txBody>
                  <a:tcPr marT="0" marB="0" marR="91425" marL="91425"/>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Causative verb</a:t>
                      </a:r>
                      <a:endParaRPr sz="1800">
                        <a:latin typeface="Times New Roman"/>
                        <a:ea typeface="Times New Roman"/>
                        <a:cs typeface="Times New Roman"/>
                        <a:sym typeface="Times New Roman"/>
                      </a:endParaRPr>
                    </a:p>
                  </a:txBody>
                  <a:tcPr marT="0" marB="0" marR="91425" marL="91425"/>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māṃ ne bacce ko khānā khilāyā</a:t>
                      </a:r>
                      <a:endParaRPr sz="1800">
                        <a:latin typeface="Times New Roman"/>
                        <a:ea typeface="Times New Roman"/>
                        <a:cs typeface="Times New Roman"/>
                        <a:sym typeface="Times New Roman"/>
                      </a:endParaRPr>
                    </a:p>
                  </a:txBody>
                  <a:tcPr marT="0" marB="0" marR="91425" marL="91425"/>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Mother caused eating</a:t>
                      </a:r>
                      <a:endParaRPr sz="1800">
                        <a:latin typeface="Times New Roman"/>
                        <a:ea typeface="Times New Roman"/>
                        <a:cs typeface="Times New Roman"/>
                        <a:sym typeface="Times New Roman"/>
                      </a:endParaRPr>
                    </a:p>
                  </a:txBody>
                  <a:tcPr marT="0" marB="0" marR="91425" marL="91425"/>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3"/>
          <p:cNvSpPr txBox="1"/>
          <p:nvPr>
            <p:ph type="title"/>
          </p:nvPr>
        </p:nvSpPr>
        <p:spPr>
          <a:xfrm>
            <a:off x="286350" y="1678975"/>
            <a:ext cx="8571300" cy="1438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latin typeface="Times New Roman"/>
                <a:ea typeface="Times New Roman"/>
                <a:cs typeface="Times New Roman"/>
                <a:sym typeface="Times New Roman"/>
              </a:rPr>
              <a:t>Dependency Relation Layer</a:t>
            </a:r>
            <a:endParaRPr>
              <a:latin typeface="Times New Roman"/>
              <a:ea typeface="Times New Roman"/>
              <a:cs typeface="Times New Roman"/>
              <a:sym typeface="Times New Roman"/>
            </a:endParaRPr>
          </a:p>
          <a:p>
            <a:pPr indent="0" lvl="0" marL="0" rtl="0" algn="ctr">
              <a:spcBef>
                <a:spcPts val="0"/>
              </a:spcBef>
              <a:spcAft>
                <a:spcPts val="0"/>
              </a:spcAft>
              <a:buNone/>
            </a:pPr>
            <a:r>
              <a:t/>
            </a:r>
            <a:endParaRPr>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4"/>
          <p:cNvSpPr txBox="1"/>
          <p:nvPr/>
        </p:nvSpPr>
        <p:spPr>
          <a:xfrm>
            <a:off x="182200" y="509250"/>
            <a:ext cx="8473200" cy="46038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Format: Index of the head : relation of the dependent with the head</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800">
              <a:latin typeface="Times New Roman"/>
              <a:ea typeface="Times New Roman"/>
              <a:cs typeface="Times New Roman"/>
              <a:sym typeface="Times New Roman"/>
            </a:endParaRPr>
          </a:p>
          <a:p>
            <a:pPr indent="-342900" lvl="2" marL="13716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3</a:t>
            </a:r>
            <a:r>
              <a:rPr lang="en" sz="1800">
                <a:latin typeface="Times New Roman"/>
                <a:ea typeface="Times New Roman"/>
                <a:cs typeface="Times New Roman"/>
                <a:sym typeface="Times New Roman"/>
              </a:rPr>
              <a:t>:k2 </a:t>
            </a:r>
            <a:r>
              <a:rPr lang="en" sz="1800">
                <a:latin typeface="Times New Roman"/>
                <a:ea typeface="Times New Roman"/>
                <a:cs typeface="Times New Roman"/>
                <a:sym typeface="Times New Roman"/>
              </a:rPr>
              <a:t>→ Index 3 is the head, and the dependent is its k1 (kartā)</a:t>
            </a:r>
            <a:endParaRPr sz="1800">
              <a:latin typeface="Times New Roman"/>
              <a:ea typeface="Times New Roman"/>
              <a:cs typeface="Times New Roman"/>
              <a:sym typeface="Times New Roman"/>
            </a:endParaRPr>
          </a:p>
          <a:p>
            <a:pPr indent="-342900" lvl="2" marL="13716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To capture grammatical roles of dependents in relation to heads.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Types of Relations:</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Kāraka Relations </a:t>
            </a:r>
            <a:r>
              <a:rPr lang="en" sz="1800">
                <a:latin typeface="Times New Roman"/>
                <a:ea typeface="Times New Roman"/>
                <a:cs typeface="Times New Roman"/>
                <a:sym typeface="Times New Roman"/>
              </a:rPr>
              <a:t>– Between verbs and their dependent nouns.</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Kāraketara (Non-Kāraka) Relations – </a:t>
            </a:r>
            <a:endParaRPr sz="1800">
              <a:latin typeface="Times New Roman"/>
              <a:ea typeface="Times New Roman"/>
              <a:cs typeface="Times New Roman"/>
              <a:sym typeface="Times New Roman"/>
            </a:endParaRPr>
          </a:p>
          <a:p>
            <a:pPr indent="-342900" lvl="2" marL="13716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Between verbs and their other non-kāraka dependents.</a:t>
            </a:r>
            <a:endParaRPr sz="1800">
              <a:latin typeface="Times New Roman"/>
              <a:ea typeface="Times New Roman"/>
              <a:cs typeface="Times New Roman"/>
              <a:sym typeface="Times New Roman"/>
            </a:endParaRPr>
          </a:p>
          <a:p>
            <a:pPr indent="-342900" lvl="2" marL="13716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Between nouns and their modifiers.</a:t>
            </a:r>
            <a:endParaRPr sz="1800">
              <a:latin typeface="Times New Roman"/>
              <a:ea typeface="Times New Roman"/>
              <a:cs typeface="Times New Roman"/>
              <a:sym typeface="Times New Roman"/>
            </a:endParaRPr>
          </a:p>
        </p:txBody>
      </p:sp>
      <p:sp>
        <p:nvSpPr>
          <p:cNvPr id="252" name="Google Shape;252;p44"/>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Dependency Relation Layer</a:t>
            </a:r>
            <a:endParaRPr b="1" sz="2200">
              <a:solidFill>
                <a:schemeClr val="accent1"/>
              </a:solidFill>
              <a:latin typeface="Times New Roman"/>
              <a:ea typeface="Times New Roman"/>
              <a:cs typeface="Times New Roman"/>
              <a:sym typeface="Times New Roman"/>
            </a:endParaRPr>
          </a:p>
        </p:txBody>
      </p:sp>
      <p:graphicFrame>
        <p:nvGraphicFramePr>
          <p:cNvPr id="253" name="Google Shape;253;p44"/>
          <p:cNvGraphicFramePr/>
          <p:nvPr/>
        </p:nvGraphicFramePr>
        <p:xfrm>
          <a:off x="1228425" y="926950"/>
          <a:ext cx="3000000" cy="3000000"/>
        </p:xfrm>
        <a:graphic>
          <a:graphicData uri="http://schemas.openxmlformats.org/drawingml/2006/table">
            <a:tbl>
              <a:tblPr>
                <a:noFill/>
                <a:tableStyleId>{EE3ED6BA-528B-4D64-BD1A-DC52F9B1A0E4}</a:tableStyleId>
              </a:tblPr>
              <a:tblGrid>
                <a:gridCol w="2426375"/>
                <a:gridCol w="1136925"/>
                <a:gridCol w="1513350"/>
                <a:gridCol w="1439025"/>
              </a:tblGrid>
              <a:tr h="381000">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Sentence</a:t>
                      </a:r>
                      <a:endParaRPr sz="18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3">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rāma seba khātā hai</a:t>
                      </a:r>
                      <a:endParaRPr sz="18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r>
              <a:tr h="381000">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Concept_layer</a:t>
                      </a:r>
                      <a:endParaRPr sz="18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rāma</a:t>
                      </a:r>
                      <a:endParaRPr sz="18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seba_1</a:t>
                      </a:r>
                      <a:endParaRPr sz="18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khā-tā_hai</a:t>
                      </a:r>
                      <a:endParaRPr sz="18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Index</a:t>
                      </a:r>
                      <a:endParaRPr sz="18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2</a:t>
                      </a:r>
                      <a:endParaRPr sz="18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3</a:t>
                      </a:r>
                      <a:endParaRPr sz="18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Dependency layer</a:t>
                      </a:r>
                      <a:endParaRPr sz="18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3:k1</a:t>
                      </a:r>
                      <a:endParaRPr sz="18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3:k2</a:t>
                      </a:r>
                      <a:endParaRPr sz="18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0:main</a:t>
                      </a:r>
                      <a:endParaRPr sz="18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5"/>
          <p:cNvSpPr txBox="1"/>
          <p:nvPr/>
        </p:nvSpPr>
        <p:spPr>
          <a:xfrm>
            <a:off x="267800" y="523200"/>
            <a:ext cx="8473200" cy="39666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Head is always marked as: 0:main</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Viśeṣya–Viśeṣaṇa (Noun–Modifier) Relation:</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Format = Index of head : relation</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e.g., </a:t>
            </a:r>
            <a:r>
              <a:rPr lang="en" sz="1800">
                <a:latin typeface="Times New Roman"/>
                <a:ea typeface="Times New Roman"/>
                <a:cs typeface="Times New Roman"/>
                <a:sym typeface="Times New Roman"/>
              </a:rPr>
              <a:t>rāma (dependent) → 3:k1 (rāma is k1 of verb at index 1</a:t>
            </a:r>
            <a:r>
              <a:rPr lang="en"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Example :</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rāma [k1] seba khātā hai</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Dependency Row: 3:k1</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(rāma is the agent (k1) of the verb “eat” at index 2)</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Complex Concepts:</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sz="1800">
                <a:latin typeface="Times New Roman"/>
                <a:ea typeface="Times New Roman"/>
                <a:cs typeface="Times New Roman"/>
                <a:sym typeface="Times New Roman"/>
              </a:rPr>
              <a:t>  Don’t annotate individual dependencies –</a:t>
            </a:r>
            <a:endParaRPr sz="1800">
              <a:latin typeface="Times New Roman"/>
              <a:ea typeface="Times New Roman"/>
              <a:cs typeface="Times New Roman"/>
              <a:sym typeface="Times New Roman"/>
            </a:endParaRPr>
          </a:p>
          <a:p>
            <a:pPr indent="457200" lvl="0" marL="457200" rtl="0" algn="l">
              <a:lnSpc>
                <a:spcPct val="115000"/>
              </a:lnSpc>
              <a:spcBef>
                <a:spcPts val="0"/>
              </a:spcBef>
              <a:spcAft>
                <a:spcPts val="0"/>
              </a:spcAft>
              <a:buNone/>
            </a:pPr>
            <a:r>
              <a:rPr lang="en" sz="1800">
                <a:latin typeface="Times New Roman"/>
                <a:ea typeface="Times New Roman"/>
                <a:cs typeface="Times New Roman"/>
                <a:sym typeface="Times New Roman"/>
              </a:rPr>
              <a:t>They are captured in the Construction Row</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800">
              <a:latin typeface="Times New Roman"/>
              <a:ea typeface="Times New Roman"/>
              <a:cs typeface="Times New Roman"/>
              <a:sym typeface="Times New Roman"/>
            </a:endParaRPr>
          </a:p>
        </p:txBody>
      </p:sp>
      <p:sp>
        <p:nvSpPr>
          <p:cNvPr id="259" name="Google Shape;259;p45"/>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Dependency Relation Layer</a:t>
            </a:r>
            <a:endParaRPr b="1" sz="2200">
              <a:solidFill>
                <a:schemeClr val="accen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6"/>
          <p:cNvSpPr txBox="1"/>
          <p:nvPr/>
        </p:nvSpPr>
        <p:spPr>
          <a:xfrm>
            <a:off x="182200" y="509250"/>
            <a:ext cx="8473200" cy="30108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Kāraketara relations between Verb &amp; Non-Kāraka:</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rāma jaldī āyā</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Dependency Row: 3:mod (jaldī modifies verb āyā)</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 Kāraketara between Noun &amp; Modifier:</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accā_1 rāma</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Dependency Row: 2:mod (accā_1 modifies noun rāma)</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Note:</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These are non-core participants in the event</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Modifiers, degree expressions, etc.</a:t>
            </a:r>
            <a:endParaRPr sz="1800">
              <a:latin typeface="Times New Roman"/>
              <a:ea typeface="Times New Roman"/>
              <a:cs typeface="Times New Roman"/>
              <a:sym typeface="Times New Roman"/>
            </a:endParaRPr>
          </a:p>
        </p:txBody>
      </p:sp>
      <p:sp>
        <p:nvSpPr>
          <p:cNvPr id="265" name="Google Shape;265;p46"/>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Dependency Relation Layer</a:t>
            </a:r>
            <a:endParaRPr b="1" sz="2200">
              <a:solidFill>
                <a:schemeClr val="accen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7"/>
          <p:cNvSpPr txBox="1"/>
          <p:nvPr/>
        </p:nvSpPr>
        <p:spPr>
          <a:xfrm>
            <a:off x="182200" y="509250"/>
            <a:ext cx="84732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800">
              <a:latin typeface="Times New Roman"/>
              <a:ea typeface="Times New Roman"/>
              <a:cs typeface="Times New Roman"/>
              <a:sym typeface="Times New Roman"/>
            </a:endParaRPr>
          </a:p>
        </p:txBody>
      </p:sp>
      <p:sp>
        <p:nvSpPr>
          <p:cNvPr id="271" name="Google Shape;271;p47"/>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Dependency Relation Layer</a:t>
            </a:r>
            <a:endParaRPr b="1" sz="2200">
              <a:solidFill>
                <a:schemeClr val="accent1"/>
              </a:solidFill>
              <a:latin typeface="Times New Roman"/>
              <a:ea typeface="Times New Roman"/>
              <a:cs typeface="Times New Roman"/>
              <a:sym typeface="Times New Roman"/>
            </a:endParaRPr>
          </a:p>
        </p:txBody>
      </p:sp>
      <p:graphicFrame>
        <p:nvGraphicFramePr>
          <p:cNvPr id="272" name="Google Shape;272;p47"/>
          <p:cNvGraphicFramePr/>
          <p:nvPr/>
        </p:nvGraphicFramePr>
        <p:xfrm>
          <a:off x="353300" y="594900"/>
          <a:ext cx="3000000" cy="3000000"/>
        </p:xfrm>
        <a:graphic>
          <a:graphicData uri="http://schemas.openxmlformats.org/drawingml/2006/table">
            <a:tbl>
              <a:tblPr>
                <a:noFill/>
                <a:tableStyleId>{EE3ED6BA-528B-4D64-BD1A-DC52F9B1A0E4}</a:tableStyleId>
              </a:tblPr>
              <a:tblGrid>
                <a:gridCol w="1605950"/>
                <a:gridCol w="785625"/>
                <a:gridCol w="2695475"/>
                <a:gridCol w="3432850"/>
              </a:tblGrid>
              <a:tr h="580525">
                <a:tc>
                  <a:txBody>
                    <a:bodyPr/>
                    <a:lstStyle/>
                    <a:p>
                      <a:pPr indent="0" lvl="0" marL="0" rtl="0" algn="l">
                        <a:spcBef>
                          <a:spcPts val="0"/>
                        </a:spcBef>
                        <a:spcAft>
                          <a:spcPts val="0"/>
                        </a:spcAft>
                        <a:buNone/>
                      </a:pPr>
                      <a:r>
                        <a:rPr i="1" lang="en" sz="1800">
                          <a:latin typeface="Times New Roman"/>
                          <a:ea typeface="Times New Roman"/>
                          <a:cs typeface="Times New Roman"/>
                          <a:sym typeface="Times New Roman"/>
                        </a:rPr>
                        <a:t>kartā </a:t>
                      </a:r>
                      <a:endParaRPr i="1" sz="1800">
                        <a:latin typeface="Times New Roman"/>
                        <a:ea typeface="Times New Roman"/>
                        <a:cs typeface="Times New Roman"/>
                        <a:sym typeface="Times New Roman"/>
                      </a:endParaRPr>
                    </a:p>
                  </a:txBody>
                  <a:tcPr marT="13725" marB="13725" marR="13725" marL="13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k1</a:t>
                      </a:r>
                      <a:endParaRPr sz="1800">
                        <a:latin typeface="Times New Roman"/>
                        <a:ea typeface="Times New Roman"/>
                        <a:cs typeface="Times New Roman"/>
                        <a:sym typeface="Times New Roman"/>
                      </a:endParaRPr>
                    </a:p>
                  </a:txBody>
                  <a:tcPr marT="13725" marB="13725" marR="13725" marL="13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most independent participant of an action</a:t>
                      </a:r>
                      <a:endParaRPr sz="1800">
                        <a:latin typeface="Times New Roman"/>
                        <a:ea typeface="Times New Roman"/>
                        <a:cs typeface="Times New Roman"/>
                        <a:sym typeface="Times New Roman"/>
                      </a:endParaRPr>
                    </a:p>
                  </a:txBody>
                  <a:tcPr marT="13725" marB="13725" marR="13725" marL="13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800">
                          <a:highlight>
                            <a:srgbClr val="FFFFFF"/>
                          </a:highlight>
                          <a:latin typeface="Times New Roman"/>
                          <a:ea typeface="Times New Roman"/>
                          <a:cs typeface="Times New Roman"/>
                          <a:sym typeface="Times New Roman"/>
                        </a:rPr>
                        <a:t>rāma</a:t>
                      </a:r>
                      <a:r>
                        <a:rPr lang="en" sz="1800">
                          <a:highlight>
                            <a:srgbClr val="FFFFFF"/>
                          </a:highlight>
                          <a:latin typeface="Times New Roman"/>
                          <a:ea typeface="Times New Roman"/>
                          <a:cs typeface="Times New Roman"/>
                          <a:sym typeface="Times New Roman"/>
                        </a:rPr>
                        <a:t> āma </a:t>
                      </a:r>
                      <a:r>
                        <a:rPr lang="en" sz="1800" u="sng">
                          <a:highlight>
                            <a:srgbClr val="FFFFFF"/>
                          </a:highlight>
                          <a:latin typeface="Times New Roman"/>
                          <a:ea typeface="Times New Roman"/>
                          <a:cs typeface="Times New Roman"/>
                          <a:sym typeface="Times New Roman"/>
                        </a:rPr>
                        <a:t>khātā hai </a:t>
                      </a:r>
                      <a:r>
                        <a:rPr lang="en" sz="1800">
                          <a:highlight>
                            <a:srgbClr val="FFFFFF"/>
                          </a:highlight>
                          <a:latin typeface="Times New Roman"/>
                          <a:ea typeface="Times New Roman"/>
                          <a:cs typeface="Times New Roman"/>
                          <a:sym typeface="Times New Roman"/>
                        </a:rPr>
                        <a:t> </a:t>
                      </a:r>
                      <a:endParaRPr sz="1800">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 sz="1800">
                          <a:latin typeface="Times New Roman"/>
                          <a:ea typeface="Times New Roman"/>
                          <a:cs typeface="Times New Roman"/>
                          <a:sym typeface="Times New Roman"/>
                        </a:rPr>
                        <a:t>‘Ram eats mango.’</a:t>
                      </a:r>
                      <a:endParaRPr sz="1800">
                        <a:latin typeface="Times New Roman"/>
                        <a:ea typeface="Times New Roman"/>
                        <a:cs typeface="Times New Roman"/>
                        <a:sym typeface="Times New Roman"/>
                      </a:endParaRPr>
                    </a:p>
                  </a:txBody>
                  <a:tcPr marT="13725" marB="13725" marR="13725" marL="13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0525">
                <a:tc>
                  <a:txBody>
                    <a:bodyPr/>
                    <a:lstStyle/>
                    <a:p>
                      <a:pPr indent="0" lvl="0" marL="0" rtl="0" algn="l">
                        <a:spcBef>
                          <a:spcPts val="0"/>
                        </a:spcBef>
                        <a:spcAft>
                          <a:spcPts val="0"/>
                        </a:spcAft>
                        <a:buNone/>
                      </a:pPr>
                      <a:r>
                        <a:rPr i="1" lang="en" sz="1800">
                          <a:latin typeface="Times New Roman"/>
                          <a:ea typeface="Times New Roman"/>
                          <a:cs typeface="Times New Roman"/>
                          <a:sym typeface="Times New Roman"/>
                        </a:rPr>
                        <a:t>karma</a:t>
                      </a:r>
                      <a:endParaRPr i="1" sz="1800">
                        <a:latin typeface="Times New Roman"/>
                        <a:ea typeface="Times New Roman"/>
                        <a:cs typeface="Times New Roman"/>
                        <a:sym typeface="Times New Roman"/>
                      </a:endParaRPr>
                    </a:p>
                  </a:txBody>
                  <a:tcPr marT="13725" marB="13725" marR="13725" marL="13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k2</a:t>
                      </a:r>
                      <a:endParaRPr sz="1800">
                        <a:latin typeface="Times New Roman"/>
                        <a:ea typeface="Times New Roman"/>
                        <a:cs typeface="Times New Roman"/>
                        <a:sym typeface="Times New Roman"/>
                      </a:endParaRPr>
                    </a:p>
                  </a:txBody>
                  <a:tcPr marT="13725" marB="13725" marR="13725" marL="13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locus of the result of the action</a:t>
                      </a:r>
                      <a:endParaRPr sz="1800">
                        <a:latin typeface="Times New Roman"/>
                        <a:ea typeface="Times New Roman"/>
                        <a:cs typeface="Times New Roman"/>
                        <a:sym typeface="Times New Roman"/>
                      </a:endParaRPr>
                    </a:p>
                  </a:txBody>
                  <a:tcPr marT="13725" marB="13725" marR="13725" marL="13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highlight>
                            <a:srgbClr val="FFFFFF"/>
                          </a:highlight>
                          <a:latin typeface="Times New Roman"/>
                          <a:ea typeface="Times New Roman"/>
                          <a:cs typeface="Times New Roman"/>
                          <a:sym typeface="Times New Roman"/>
                        </a:rPr>
                        <a:t>mōhana nē</a:t>
                      </a:r>
                      <a:r>
                        <a:rPr b="1" lang="en" sz="1800">
                          <a:highlight>
                            <a:srgbClr val="FFFFFF"/>
                          </a:highlight>
                          <a:latin typeface="Times New Roman"/>
                          <a:ea typeface="Times New Roman"/>
                          <a:cs typeface="Times New Roman"/>
                          <a:sym typeface="Times New Roman"/>
                        </a:rPr>
                        <a:t> āma</a:t>
                      </a:r>
                      <a:r>
                        <a:rPr lang="en" sz="1800">
                          <a:highlight>
                            <a:srgbClr val="FFFFFF"/>
                          </a:highlight>
                          <a:latin typeface="Times New Roman"/>
                          <a:ea typeface="Times New Roman"/>
                          <a:cs typeface="Times New Roman"/>
                          <a:sym typeface="Times New Roman"/>
                        </a:rPr>
                        <a:t> </a:t>
                      </a:r>
                      <a:r>
                        <a:rPr lang="en" sz="1800" u="sng">
                          <a:highlight>
                            <a:srgbClr val="FFFFFF"/>
                          </a:highlight>
                          <a:latin typeface="Times New Roman"/>
                          <a:ea typeface="Times New Roman"/>
                          <a:cs typeface="Times New Roman"/>
                          <a:sym typeface="Times New Roman"/>
                        </a:rPr>
                        <a:t>kharīde </a:t>
                      </a:r>
                      <a:r>
                        <a:rPr lang="en" sz="1800">
                          <a:highlight>
                            <a:srgbClr val="FFFFFF"/>
                          </a:highlight>
                          <a:latin typeface="Times New Roman"/>
                          <a:ea typeface="Times New Roman"/>
                          <a:cs typeface="Times New Roman"/>
                          <a:sym typeface="Times New Roman"/>
                        </a:rPr>
                        <a:t> </a:t>
                      </a:r>
                      <a:endParaRPr sz="1800">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 sz="1800">
                          <a:highlight>
                            <a:srgbClr val="FFFFFF"/>
                          </a:highlight>
                          <a:latin typeface="Times New Roman"/>
                          <a:ea typeface="Times New Roman"/>
                          <a:cs typeface="Times New Roman"/>
                          <a:sym typeface="Times New Roman"/>
                        </a:rPr>
                        <a:t>‘Mohana bought mangoes.’</a:t>
                      </a:r>
                      <a:endParaRPr sz="1800">
                        <a:latin typeface="Times New Roman"/>
                        <a:ea typeface="Times New Roman"/>
                        <a:cs typeface="Times New Roman"/>
                        <a:sym typeface="Times New Roman"/>
                      </a:endParaRPr>
                    </a:p>
                  </a:txBody>
                  <a:tcPr marT="13725" marB="13725" marR="13725" marL="13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56975">
                <a:tc>
                  <a:txBody>
                    <a:bodyPr/>
                    <a:lstStyle/>
                    <a:p>
                      <a:pPr indent="0" lvl="0" marL="0" rtl="0" algn="l">
                        <a:spcBef>
                          <a:spcPts val="0"/>
                        </a:spcBef>
                        <a:spcAft>
                          <a:spcPts val="0"/>
                        </a:spcAft>
                        <a:buNone/>
                      </a:pPr>
                      <a:r>
                        <a:rPr i="1" lang="en" sz="1800">
                          <a:latin typeface="Times New Roman"/>
                          <a:ea typeface="Times New Roman"/>
                          <a:cs typeface="Times New Roman"/>
                          <a:sym typeface="Times New Roman"/>
                        </a:rPr>
                        <a:t>karaṇa</a:t>
                      </a:r>
                      <a:endParaRPr i="1" sz="1800">
                        <a:latin typeface="Times New Roman"/>
                        <a:ea typeface="Times New Roman"/>
                        <a:cs typeface="Times New Roman"/>
                        <a:sym typeface="Times New Roman"/>
                      </a:endParaRPr>
                    </a:p>
                  </a:txBody>
                  <a:tcPr marT="13725" marB="13725" marR="13725" marL="13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k3</a:t>
                      </a:r>
                      <a:endParaRPr sz="1800">
                        <a:latin typeface="Times New Roman"/>
                        <a:ea typeface="Times New Roman"/>
                        <a:cs typeface="Times New Roman"/>
                        <a:sym typeface="Times New Roman"/>
                      </a:endParaRPr>
                    </a:p>
                  </a:txBody>
                  <a:tcPr marT="13725" marB="13725" marR="13725" marL="13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highlight>
                            <a:srgbClr val="FFFFFF"/>
                          </a:highlight>
                          <a:latin typeface="Times New Roman"/>
                          <a:ea typeface="Times New Roman"/>
                          <a:cs typeface="Times New Roman"/>
                          <a:sym typeface="Times New Roman"/>
                        </a:rPr>
                        <a:t>The instrument required for the performance of the action</a:t>
                      </a:r>
                      <a:endParaRPr sz="1800">
                        <a:latin typeface="Times New Roman"/>
                        <a:ea typeface="Times New Roman"/>
                        <a:cs typeface="Times New Roman"/>
                        <a:sym typeface="Times New Roman"/>
                      </a:endParaRPr>
                    </a:p>
                  </a:txBody>
                  <a:tcPr marT="13725" marB="13725" marR="13725" marL="13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highlight>
                            <a:srgbClr val="FFFFFF"/>
                          </a:highlight>
                          <a:latin typeface="Times New Roman"/>
                          <a:ea typeface="Times New Roman"/>
                          <a:cs typeface="Times New Roman"/>
                          <a:sym typeface="Times New Roman"/>
                        </a:rPr>
                        <a:t>ratanā ne āma </a:t>
                      </a:r>
                      <a:r>
                        <a:rPr b="1" lang="en" sz="1800">
                          <a:highlight>
                            <a:srgbClr val="FFFFFF"/>
                          </a:highlight>
                          <a:latin typeface="Times New Roman"/>
                          <a:ea typeface="Times New Roman"/>
                          <a:cs typeface="Times New Roman"/>
                          <a:sym typeface="Times New Roman"/>
                        </a:rPr>
                        <a:t>cākū se</a:t>
                      </a:r>
                      <a:r>
                        <a:rPr lang="en" sz="1800">
                          <a:highlight>
                            <a:srgbClr val="FFFFFF"/>
                          </a:highlight>
                          <a:latin typeface="Times New Roman"/>
                          <a:ea typeface="Times New Roman"/>
                          <a:cs typeface="Times New Roman"/>
                          <a:sym typeface="Times New Roman"/>
                        </a:rPr>
                        <a:t> </a:t>
                      </a:r>
                      <a:r>
                        <a:rPr lang="en" sz="1800" u="sng">
                          <a:highlight>
                            <a:srgbClr val="FFFFFF"/>
                          </a:highlight>
                          <a:latin typeface="Times New Roman"/>
                          <a:ea typeface="Times New Roman"/>
                          <a:cs typeface="Times New Roman"/>
                          <a:sym typeface="Times New Roman"/>
                        </a:rPr>
                        <a:t>kāṭe</a:t>
                      </a:r>
                      <a:endParaRPr sz="1800" u="sng">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 sz="1800">
                          <a:highlight>
                            <a:srgbClr val="FFFFFF"/>
                          </a:highlight>
                          <a:latin typeface="Times New Roman"/>
                          <a:ea typeface="Times New Roman"/>
                          <a:cs typeface="Times New Roman"/>
                          <a:sym typeface="Times New Roman"/>
                        </a:rPr>
                        <a:t>‘Ratna cut the mangoes with a knife.’</a:t>
                      </a:r>
                      <a:endParaRPr sz="1800">
                        <a:latin typeface="Times New Roman"/>
                        <a:ea typeface="Times New Roman"/>
                        <a:cs typeface="Times New Roman"/>
                        <a:sym typeface="Times New Roman"/>
                      </a:endParaRPr>
                    </a:p>
                  </a:txBody>
                  <a:tcPr marT="13725" marB="13725" marR="13725" marL="13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29350">
                <a:tc>
                  <a:txBody>
                    <a:bodyPr/>
                    <a:lstStyle/>
                    <a:p>
                      <a:pPr indent="0" lvl="0" marL="0" rtl="0" algn="just">
                        <a:lnSpc>
                          <a:spcPct val="115000"/>
                        </a:lnSpc>
                        <a:spcBef>
                          <a:spcPts val="0"/>
                        </a:spcBef>
                        <a:spcAft>
                          <a:spcPts val="0"/>
                        </a:spcAft>
                        <a:buNone/>
                      </a:pPr>
                      <a:r>
                        <a:rPr i="1" lang="en" sz="1800">
                          <a:latin typeface="Times New Roman"/>
                          <a:ea typeface="Times New Roman"/>
                          <a:cs typeface="Times New Roman"/>
                          <a:sym typeface="Times New Roman"/>
                        </a:rPr>
                        <a:t>anubhava-kartā</a:t>
                      </a:r>
                      <a:endParaRPr i="1" sz="1800">
                        <a:latin typeface="Times New Roman"/>
                        <a:ea typeface="Times New Roman"/>
                        <a:cs typeface="Times New Roman"/>
                        <a:sym typeface="Times New Roman"/>
                      </a:endParaRPr>
                    </a:p>
                  </a:txBody>
                  <a:tcPr marT="17375" marB="17375" marR="17375" marL="173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en" sz="1800">
                          <a:latin typeface="Times New Roman"/>
                          <a:ea typeface="Times New Roman"/>
                          <a:cs typeface="Times New Roman"/>
                          <a:sym typeface="Times New Roman"/>
                        </a:rPr>
                        <a:t>k4a</a:t>
                      </a:r>
                      <a:endParaRPr sz="1800">
                        <a:latin typeface="Times New Roman"/>
                        <a:ea typeface="Times New Roman"/>
                        <a:cs typeface="Times New Roman"/>
                        <a:sym typeface="Times New Roman"/>
                      </a:endParaRPr>
                    </a:p>
                  </a:txBody>
                  <a:tcPr marT="17375" marB="17375" marR="17375" marL="173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en" sz="1800">
                          <a:latin typeface="Times New Roman"/>
                          <a:ea typeface="Times New Roman"/>
                          <a:cs typeface="Times New Roman"/>
                          <a:sym typeface="Times New Roman"/>
                        </a:rPr>
                        <a:t>Experiencer</a:t>
                      </a:r>
                      <a:endParaRPr sz="1800">
                        <a:latin typeface="Times New Roman"/>
                        <a:ea typeface="Times New Roman"/>
                        <a:cs typeface="Times New Roman"/>
                        <a:sym typeface="Times New Roman"/>
                      </a:endParaRPr>
                    </a:p>
                  </a:txBody>
                  <a:tcPr marT="17375" marB="17375" marR="17375" marL="173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800">
                          <a:latin typeface="Times New Roman"/>
                          <a:ea typeface="Times New Roman"/>
                          <a:cs typeface="Times New Roman"/>
                          <a:sym typeface="Times New Roman"/>
                        </a:rPr>
                        <a:t>rāma ko bukh</a:t>
                      </a:r>
                      <a:r>
                        <a:rPr lang="en" sz="1800">
                          <a:latin typeface="Times New Roman"/>
                          <a:ea typeface="Times New Roman"/>
                          <a:cs typeface="Times New Roman"/>
                          <a:sym typeface="Times New Roman"/>
                        </a:rPr>
                        <a:t>āra </a:t>
                      </a:r>
                      <a:r>
                        <a:rPr lang="en" sz="1800" u="sng">
                          <a:latin typeface="Times New Roman"/>
                          <a:ea typeface="Times New Roman"/>
                          <a:cs typeface="Times New Roman"/>
                          <a:sym typeface="Times New Roman"/>
                        </a:rPr>
                        <a:t>hai</a:t>
                      </a:r>
                      <a:endParaRPr sz="1800" u="sng">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 sz="1800">
                          <a:latin typeface="Times New Roman"/>
                          <a:ea typeface="Times New Roman"/>
                          <a:cs typeface="Times New Roman"/>
                          <a:sym typeface="Times New Roman"/>
                        </a:rPr>
                        <a:t>‘</a:t>
                      </a:r>
                      <a:r>
                        <a:rPr b="1" lang="en" sz="1800">
                          <a:latin typeface="Times New Roman"/>
                          <a:ea typeface="Times New Roman"/>
                          <a:cs typeface="Times New Roman"/>
                          <a:sym typeface="Times New Roman"/>
                        </a:rPr>
                        <a:t>Ram</a:t>
                      </a:r>
                      <a:r>
                        <a:rPr lang="en" sz="1800">
                          <a:latin typeface="Times New Roman"/>
                          <a:ea typeface="Times New Roman"/>
                          <a:cs typeface="Times New Roman"/>
                          <a:sym typeface="Times New Roman"/>
                        </a:rPr>
                        <a:t> </a:t>
                      </a:r>
                      <a:r>
                        <a:rPr lang="en" sz="1800" u="sng">
                          <a:latin typeface="Times New Roman"/>
                          <a:ea typeface="Times New Roman"/>
                          <a:cs typeface="Times New Roman"/>
                          <a:sym typeface="Times New Roman"/>
                        </a:rPr>
                        <a:t>has</a:t>
                      </a:r>
                      <a:r>
                        <a:rPr lang="en" sz="1800">
                          <a:latin typeface="Times New Roman"/>
                          <a:ea typeface="Times New Roman"/>
                          <a:cs typeface="Times New Roman"/>
                          <a:sym typeface="Times New Roman"/>
                        </a:rPr>
                        <a:t> fever.’</a:t>
                      </a:r>
                      <a:endParaRPr sz="1800">
                        <a:latin typeface="Times New Roman"/>
                        <a:ea typeface="Times New Roman"/>
                        <a:cs typeface="Times New Roman"/>
                        <a:sym typeface="Times New Roman"/>
                      </a:endParaRPr>
                    </a:p>
                  </a:txBody>
                  <a:tcPr marT="17375" marB="17375" marR="17375" marL="173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0525">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bhāvalakṣaṇa anantarakālika</a:t>
                      </a:r>
                      <a:endParaRPr sz="1800">
                        <a:latin typeface="Times New Roman"/>
                        <a:ea typeface="Times New Roman"/>
                        <a:cs typeface="Times New Roman"/>
                        <a:sym typeface="Times New Roman"/>
                      </a:endParaRPr>
                    </a:p>
                  </a:txBody>
                  <a:tcPr marT="13725" marB="13725" marR="13725" marL="13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rblak</a:t>
                      </a:r>
                      <a:endParaRPr sz="1800">
                        <a:latin typeface="Times New Roman"/>
                        <a:ea typeface="Times New Roman"/>
                        <a:cs typeface="Times New Roman"/>
                        <a:sym typeface="Times New Roman"/>
                      </a:endParaRPr>
                    </a:p>
                  </a:txBody>
                  <a:tcPr marT="13725" marB="13725" marR="13725" marL="13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highlight>
                            <a:srgbClr val="FFFFFF"/>
                          </a:highlight>
                          <a:latin typeface="Times New Roman"/>
                          <a:ea typeface="Times New Roman"/>
                          <a:cs typeface="Times New Roman"/>
                          <a:sym typeface="Times New Roman"/>
                        </a:rPr>
                        <a:t>VN precedes VM</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highlight>
                          <a:srgbClr val="FFFFFF"/>
                        </a:highlight>
                        <a:latin typeface="Times New Roman"/>
                        <a:ea typeface="Times New Roman"/>
                        <a:cs typeface="Times New Roman"/>
                        <a:sym typeface="Times New Roman"/>
                      </a:endParaRPr>
                    </a:p>
                  </a:txBody>
                  <a:tcPr marT="13725" marB="13725" marR="13725" marL="13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sūrya</a:t>
                      </a:r>
                      <a:r>
                        <a:rPr b="1" lang="en" sz="1800">
                          <a:latin typeface="Times New Roman"/>
                          <a:ea typeface="Times New Roman"/>
                          <a:cs typeface="Times New Roman"/>
                          <a:sym typeface="Times New Roman"/>
                        </a:rPr>
                        <a:t> ugane ke bāda</a:t>
                      </a:r>
                      <a:r>
                        <a:rPr lang="en" sz="1800">
                          <a:latin typeface="Times New Roman"/>
                          <a:ea typeface="Times New Roman"/>
                          <a:cs typeface="Times New Roman"/>
                          <a:sym typeface="Times New Roman"/>
                        </a:rPr>
                        <a:t> khānā </a:t>
                      </a:r>
                      <a:r>
                        <a:rPr lang="en" sz="1800" u="sng">
                          <a:latin typeface="Times New Roman"/>
                          <a:ea typeface="Times New Roman"/>
                          <a:cs typeface="Times New Roman"/>
                          <a:sym typeface="Times New Roman"/>
                        </a:rPr>
                        <a:t>khāo</a:t>
                      </a:r>
                      <a:endParaRPr sz="1800" u="sng">
                        <a:latin typeface="Times New Roman"/>
                        <a:ea typeface="Times New Roman"/>
                        <a:cs typeface="Times New Roman"/>
                        <a:sym typeface="Times New Roman"/>
                      </a:endParaRPr>
                    </a:p>
                    <a:p>
                      <a:pPr indent="0" lvl="0" marL="0" rtl="0" algn="l">
                        <a:spcBef>
                          <a:spcPts val="0"/>
                        </a:spcBef>
                        <a:spcAft>
                          <a:spcPts val="0"/>
                        </a:spcAft>
                        <a:buNone/>
                      </a:pPr>
                      <a:r>
                        <a:rPr lang="en" sz="1800">
                          <a:latin typeface="Times New Roman"/>
                          <a:ea typeface="Times New Roman"/>
                          <a:cs typeface="Times New Roman"/>
                          <a:sym typeface="Times New Roman"/>
                        </a:rPr>
                        <a:t>‘Eat after the sun rises.’</a:t>
                      </a:r>
                      <a:endParaRPr sz="1800">
                        <a:latin typeface="Times New Roman"/>
                        <a:ea typeface="Times New Roman"/>
                        <a:cs typeface="Times New Roman"/>
                        <a:sym typeface="Times New Roman"/>
                      </a:endParaRPr>
                    </a:p>
                  </a:txBody>
                  <a:tcPr marT="13725" marB="13725" marR="13725" marL="13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133425">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samānakālika</a:t>
                      </a:r>
                      <a:endParaRPr sz="1800">
                        <a:latin typeface="Times New Roman"/>
                        <a:ea typeface="Times New Roman"/>
                        <a:cs typeface="Times New Roman"/>
                        <a:sym typeface="Times New Roman"/>
                      </a:endParaRPr>
                    </a:p>
                  </a:txBody>
                  <a:tcPr marT="13725" marB="13725" marR="13725" marL="13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rsk</a:t>
                      </a:r>
                      <a:endParaRPr sz="1800">
                        <a:latin typeface="Times New Roman"/>
                        <a:ea typeface="Times New Roman"/>
                        <a:cs typeface="Times New Roman"/>
                        <a:sym typeface="Times New Roman"/>
                      </a:endParaRPr>
                    </a:p>
                  </a:txBody>
                  <a:tcPr marT="13725" marB="13725" marR="13725" marL="13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Two events occur simultaneously and the kartā is shared.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txBody>
                  <a:tcPr marT="13725" marB="13725" marR="13725" marL="13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rāma </a:t>
                      </a:r>
                      <a:r>
                        <a:rPr b="1" lang="en" sz="1800">
                          <a:latin typeface="Times New Roman"/>
                          <a:ea typeface="Times New Roman"/>
                          <a:cs typeface="Times New Roman"/>
                          <a:sym typeface="Times New Roman"/>
                        </a:rPr>
                        <a:t>sote hue</a:t>
                      </a:r>
                      <a:r>
                        <a:rPr lang="en" sz="1800">
                          <a:latin typeface="Times New Roman"/>
                          <a:ea typeface="Times New Roman"/>
                          <a:cs typeface="Times New Roman"/>
                          <a:sym typeface="Times New Roman"/>
                        </a:rPr>
                        <a:t> </a:t>
                      </a:r>
                      <a:r>
                        <a:rPr lang="en" sz="1800" u="sng">
                          <a:latin typeface="Times New Roman"/>
                          <a:ea typeface="Times New Roman"/>
                          <a:cs typeface="Times New Roman"/>
                          <a:sym typeface="Times New Roman"/>
                        </a:rPr>
                        <a:t>kharrāṭe bharatā hai</a:t>
                      </a:r>
                      <a:endParaRPr sz="1800" u="sng">
                        <a:latin typeface="Times New Roman"/>
                        <a:ea typeface="Times New Roman"/>
                        <a:cs typeface="Times New Roman"/>
                        <a:sym typeface="Times New Roman"/>
                      </a:endParaRPr>
                    </a:p>
                    <a:p>
                      <a:pPr indent="0" lvl="0" marL="0" rtl="0" algn="l">
                        <a:spcBef>
                          <a:spcPts val="0"/>
                        </a:spcBef>
                        <a:spcAft>
                          <a:spcPts val="0"/>
                        </a:spcAft>
                        <a:buNone/>
                      </a:pPr>
                      <a:r>
                        <a:rPr lang="en" sz="1800">
                          <a:latin typeface="Times New Roman"/>
                          <a:ea typeface="Times New Roman"/>
                          <a:cs typeface="Times New Roman"/>
                          <a:sym typeface="Times New Roman"/>
                        </a:rPr>
                        <a:t>‘Ram snores while sleeping.’</a:t>
                      </a:r>
                      <a:endParaRPr sz="1800">
                        <a:latin typeface="Times New Roman"/>
                        <a:ea typeface="Times New Roman"/>
                        <a:cs typeface="Times New Roman"/>
                        <a:sym typeface="Times New Roman"/>
                      </a:endParaRPr>
                    </a:p>
                  </a:txBody>
                  <a:tcPr marT="13725" marB="13725" marR="13725" marL="13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8"/>
          <p:cNvSpPr txBox="1"/>
          <p:nvPr>
            <p:ph type="title"/>
          </p:nvPr>
        </p:nvSpPr>
        <p:spPr>
          <a:xfrm>
            <a:off x="239675" y="2100750"/>
            <a:ext cx="8571300" cy="9420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sz="4000"/>
              <a:t>layer</a:t>
            </a:r>
            <a:r>
              <a:rPr lang="en" sz="4000"/>
              <a:t> 7</a:t>
            </a:r>
            <a:endParaRPr sz="4000"/>
          </a:p>
          <a:p>
            <a:pPr indent="0" lvl="0" marL="0" rtl="0" algn="l">
              <a:spcBef>
                <a:spcPts val="0"/>
              </a:spcBef>
              <a:spcAft>
                <a:spcPts val="0"/>
              </a:spcAft>
              <a:buNone/>
            </a:pPr>
            <a:r>
              <a:t/>
            </a:r>
            <a:endParaRPr sz="4000"/>
          </a:p>
          <a:p>
            <a:pPr indent="0" lvl="0" marL="0" rtl="0" algn="ctr">
              <a:spcBef>
                <a:spcPts val="0"/>
              </a:spcBef>
              <a:spcAft>
                <a:spcPts val="0"/>
              </a:spcAft>
              <a:buNone/>
            </a:pPr>
            <a:r>
              <a:rPr lang="en" sz="2200">
                <a:solidFill>
                  <a:schemeClr val="lt1"/>
                </a:solidFill>
                <a:latin typeface="Arial"/>
                <a:ea typeface="Arial"/>
                <a:cs typeface="Arial"/>
                <a:sym typeface="Arial"/>
              </a:rPr>
              <a:t>Discourse Elements</a:t>
            </a:r>
            <a:endParaRPr sz="2200">
              <a:solidFill>
                <a:schemeClr val="lt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9"/>
          <p:cNvSpPr txBox="1"/>
          <p:nvPr>
            <p:ph type="title"/>
          </p:nvPr>
        </p:nvSpPr>
        <p:spPr>
          <a:xfrm>
            <a:off x="311700" y="1080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000">
                <a:latin typeface="Times New Roman"/>
                <a:ea typeface="Times New Roman"/>
                <a:cs typeface="Times New Roman"/>
                <a:sym typeface="Times New Roman"/>
              </a:rPr>
              <a:t>Discourse </a:t>
            </a:r>
            <a:r>
              <a:rPr lang="en" sz="2000">
                <a:latin typeface="Times New Roman"/>
                <a:ea typeface="Times New Roman"/>
                <a:cs typeface="Times New Roman"/>
                <a:sym typeface="Times New Roman"/>
              </a:rPr>
              <a:t>layer</a:t>
            </a:r>
            <a:endParaRPr sz="2000">
              <a:latin typeface="Times New Roman"/>
              <a:ea typeface="Times New Roman"/>
              <a:cs typeface="Times New Roman"/>
              <a:sym typeface="Times New Roman"/>
            </a:endParaRPr>
          </a:p>
        </p:txBody>
      </p:sp>
      <p:sp>
        <p:nvSpPr>
          <p:cNvPr id="283" name="Google Shape;283;p49"/>
          <p:cNvSpPr txBox="1"/>
          <p:nvPr>
            <p:ph idx="1" type="body"/>
          </p:nvPr>
        </p:nvSpPr>
        <p:spPr>
          <a:xfrm>
            <a:off x="311700" y="1602500"/>
            <a:ext cx="8520600" cy="33027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solidFill>
                  <a:srgbClr val="000000"/>
                </a:solidFill>
                <a:latin typeface="Times New Roman"/>
                <a:ea typeface="Times New Roman"/>
                <a:cs typeface="Times New Roman"/>
                <a:sym typeface="Times New Roman"/>
              </a:rPr>
              <a:t>Language as a mode of communication always occurs as a discourse in which a sentence or elements within a sentence can have a connection with a previous or following sentence. This ensures cohesion and coherence in the discourse. </a:t>
            </a:r>
            <a:endParaRPr>
              <a:solidFill>
                <a:srgbClr val="000000"/>
              </a:solidFill>
              <a:latin typeface="Times New Roman"/>
              <a:ea typeface="Times New Roman"/>
              <a:cs typeface="Times New Roman"/>
              <a:sym typeface="Times New Roman"/>
            </a:endParaRPr>
          </a:p>
          <a:p>
            <a:pPr indent="0" lvl="0" marL="0" rtl="0" algn="just">
              <a:spcBef>
                <a:spcPts val="0"/>
              </a:spcBef>
              <a:spcAft>
                <a:spcPts val="0"/>
              </a:spcAft>
              <a:buNone/>
            </a:pPr>
            <a:r>
              <a:t/>
            </a:r>
            <a:endParaRPr>
              <a:solidFill>
                <a:srgbClr val="000000"/>
              </a:solidFill>
              <a:latin typeface="Times New Roman"/>
              <a:ea typeface="Times New Roman"/>
              <a:cs typeface="Times New Roman"/>
              <a:sym typeface="Times New Roman"/>
            </a:endParaRPr>
          </a:p>
          <a:p>
            <a:pPr indent="0" lvl="0" marL="0" rtl="0" algn="just">
              <a:spcBef>
                <a:spcPts val="0"/>
              </a:spcBef>
              <a:spcAft>
                <a:spcPts val="0"/>
              </a:spcAft>
              <a:buNone/>
            </a:pPr>
            <a:r>
              <a:rPr lang="en">
                <a:solidFill>
                  <a:srgbClr val="000000"/>
                </a:solidFill>
                <a:latin typeface="Times New Roman"/>
                <a:ea typeface="Times New Roman"/>
                <a:cs typeface="Times New Roman"/>
                <a:sym typeface="Times New Roman"/>
              </a:rPr>
              <a:t>Types of discourse information:</a:t>
            </a:r>
            <a:endParaRPr>
              <a:solidFill>
                <a:srgbClr val="000000"/>
              </a:solidFill>
              <a:latin typeface="Times New Roman"/>
              <a:ea typeface="Times New Roman"/>
              <a:cs typeface="Times New Roman"/>
              <a:sym typeface="Times New Roman"/>
            </a:endParaRPr>
          </a:p>
          <a:p>
            <a:pPr indent="-342900" lvl="0" marL="457200" rtl="0" algn="just">
              <a:spcBef>
                <a:spcPts val="0"/>
              </a:spcBef>
              <a:spcAft>
                <a:spcPts val="0"/>
              </a:spcAft>
              <a:buClr>
                <a:srgbClr val="000000"/>
              </a:buClr>
              <a:buSzPts val="1800"/>
              <a:buFont typeface="Times New Roman"/>
              <a:buChar char="●"/>
            </a:pPr>
            <a:r>
              <a:rPr b="1" lang="en">
                <a:solidFill>
                  <a:srgbClr val="000000"/>
                </a:solidFill>
                <a:latin typeface="Times New Roman"/>
                <a:ea typeface="Times New Roman"/>
                <a:cs typeface="Times New Roman"/>
                <a:sym typeface="Times New Roman"/>
              </a:rPr>
              <a:t>Discourse Connective Relation</a:t>
            </a:r>
            <a:endParaRPr>
              <a:solidFill>
                <a:srgbClr val="000000"/>
              </a:solidFill>
              <a:latin typeface="Times New Roman"/>
              <a:ea typeface="Times New Roman"/>
              <a:cs typeface="Times New Roman"/>
              <a:sym typeface="Times New Roman"/>
            </a:endParaRPr>
          </a:p>
          <a:p>
            <a:pPr indent="-342900" lvl="0" marL="457200" rtl="0" algn="just">
              <a:spcBef>
                <a:spcPts val="0"/>
              </a:spcBef>
              <a:spcAft>
                <a:spcPts val="0"/>
              </a:spcAft>
              <a:buClr>
                <a:srgbClr val="000000"/>
              </a:buClr>
              <a:buSzPts val="1800"/>
              <a:buFont typeface="Times New Roman"/>
              <a:buChar char="●"/>
            </a:pPr>
            <a:r>
              <a:rPr b="1" lang="en">
                <a:solidFill>
                  <a:srgbClr val="000000"/>
                </a:solidFill>
                <a:latin typeface="Times New Roman"/>
                <a:ea typeface="Times New Roman"/>
                <a:cs typeface="Times New Roman"/>
                <a:sym typeface="Times New Roman"/>
              </a:rPr>
              <a:t>Pronominal coreference</a:t>
            </a:r>
            <a:endParaRPr sz="1200">
              <a:solidFill>
                <a:srgbClr val="000000"/>
              </a:solidFill>
              <a:latin typeface="Times New Roman"/>
              <a:ea typeface="Times New Roman"/>
              <a:cs typeface="Times New Roman"/>
              <a:sym typeface="Times New Roman"/>
            </a:endParaRPr>
          </a:p>
          <a:p>
            <a:pPr indent="0" lvl="0" marL="0" rtl="0" algn="just">
              <a:spcBef>
                <a:spcPts val="0"/>
              </a:spcBef>
              <a:spcAft>
                <a:spcPts val="0"/>
              </a:spcAft>
              <a:buNone/>
            </a:pPr>
            <a:r>
              <a:rPr lang="en" sz="1200">
                <a:solidFill>
                  <a:srgbClr val="000000"/>
                </a:solidFill>
                <a:latin typeface="Times New Roman"/>
                <a:ea typeface="Times New Roman"/>
                <a:cs typeface="Times New Roman"/>
                <a:sym typeface="Times New Roman"/>
              </a:rPr>
              <a:t> </a:t>
            </a:r>
            <a:endParaRPr sz="1200">
              <a:solidFill>
                <a:srgbClr val="000000"/>
              </a:solidFill>
              <a:latin typeface="Times New Roman"/>
              <a:ea typeface="Times New Roman"/>
              <a:cs typeface="Times New Roman"/>
              <a:sym typeface="Times New Roman"/>
            </a:endParaRPr>
          </a:p>
          <a:p>
            <a:pPr indent="0" lvl="0" marL="0" rtl="0" algn="l">
              <a:spcBef>
                <a:spcPts val="0"/>
              </a:spcBef>
              <a:spcAft>
                <a:spcPts val="120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0"/>
          <p:cNvSpPr txBox="1"/>
          <p:nvPr>
            <p:ph type="title"/>
          </p:nvPr>
        </p:nvSpPr>
        <p:spPr>
          <a:xfrm>
            <a:off x="311700" y="697175"/>
            <a:ext cx="8520600" cy="707400"/>
          </a:xfrm>
          <a:prstGeom prst="rect">
            <a:avLst/>
          </a:prstGeom>
        </p:spPr>
        <p:txBody>
          <a:bodyPr anchorCtr="0" anchor="t" bIns="91425" lIns="91425" spcFirstLastPara="1" rIns="91425" wrap="square" tIns="91425">
            <a:normAutofit/>
          </a:bodyPr>
          <a:lstStyle/>
          <a:p>
            <a:pPr indent="0" lvl="0" marL="0" rtl="0" algn="just">
              <a:lnSpc>
                <a:spcPct val="115000"/>
              </a:lnSpc>
              <a:spcBef>
                <a:spcPts val="1800"/>
              </a:spcBef>
              <a:spcAft>
                <a:spcPts val="600"/>
              </a:spcAft>
              <a:buNone/>
            </a:pPr>
            <a:r>
              <a:rPr lang="en" sz="2200">
                <a:latin typeface="Arial"/>
                <a:ea typeface="Arial"/>
                <a:cs typeface="Arial"/>
                <a:sym typeface="Arial"/>
              </a:rPr>
              <a:t>Discourse Connective Relation</a:t>
            </a:r>
            <a:endParaRPr sz="2200"/>
          </a:p>
        </p:txBody>
      </p:sp>
      <p:sp>
        <p:nvSpPr>
          <p:cNvPr id="289" name="Google Shape;289;p50"/>
          <p:cNvSpPr txBox="1"/>
          <p:nvPr>
            <p:ph idx="1" type="body"/>
          </p:nvPr>
        </p:nvSpPr>
        <p:spPr>
          <a:xfrm>
            <a:off x="311700" y="1147300"/>
            <a:ext cx="8520600" cy="35535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a:solidFill>
                  <a:srgbClr val="000000"/>
                </a:solidFill>
                <a:latin typeface="Times New Roman"/>
                <a:ea typeface="Times New Roman"/>
                <a:cs typeface="Times New Roman"/>
                <a:sym typeface="Times New Roman"/>
              </a:rPr>
              <a:t>Case 1</a:t>
            </a:r>
            <a:r>
              <a:rPr lang="en">
                <a:solidFill>
                  <a:srgbClr val="000000"/>
                </a:solidFill>
                <a:latin typeface="Times New Roman"/>
                <a:ea typeface="Times New Roman"/>
                <a:cs typeface="Times New Roman"/>
                <a:sym typeface="Times New Roman"/>
              </a:rPr>
              <a:t>: Originally the segment sentences are connected through a single connective:</a:t>
            </a:r>
            <a:endParaRPr>
              <a:solidFill>
                <a:srgbClr val="000000"/>
              </a:solidFill>
              <a:latin typeface="Times New Roman"/>
              <a:ea typeface="Times New Roman"/>
              <a:cs typeface="Times New Roman"/>
              <a:sym typeface="Times New Roman"/>
            </a:endParaRPr>
          </a:p>
          <a:p>
            <a:pPr indent="-342900" lvl="0" marL="457200" rtl="0" algn="just">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Complex sentences are split into two simple segments with one of them containing the connective in the sentence level</a:t>
            </a:r>
            <a:endParaRPr>
              <a:solidFill>
                <a:srgbClr val="000000"/>
              </a:solidFill>
              <a:latin typeface="Times New Roman"/>
              <a:ea typeface="Times New Roman"/>
              <a:cs typeface="Times New Roman"/>
              <a:sym typeface="Times New Roman"/>
            </a:endParaRPr>
          </a:p>
          <a:p>
            <a:pPr indent="0" lvl="0" marL="457200" rtl="0" algn="just">
              <a:spcBef>
                <a:spcPts val="0"/>
              </a:spcBef>
              <a:spcAft>
                <a:spcPts val="0"/>
              </a:spcAft>
              <a:buNone/>
            </a:pPr>
            <a:r>
              <a:rPr lang="en">
                <a:solidFill>
                  <a:srgbClr val="000000"/>
                </a:solidFill>
                <a:latin typeface="Times New Roman"/>
                <a:ea typeface="Times New Roman"/>
                <a:cs typeface="Times New Roman"/>
                <a:sym typeface="Times New Roman"/>
              </a:rPr>
              <a:t>Sent_1</a:t>
            </a:r>
            <a:endParaRPr>
              <a:solidFill>
                <a:srgbClr val="000000"/>
              </a:solidFill>
              <a:latin typeface="Times New Roman"/>
              <a:ea typeface="Times New Roman"/>
              <a:cs typeface="Times New Roman"/>
              <a:sym typeface="Times New Roman"/>
            </a:endParaRPr>
          </a:p>
          <a:p>
            <a:pPr indent="-342900" lvl="2" marL="1371600" rtl="0" algn="just">
              <a:spcBef>
                <a:spcPts val="0"/>
              </a:spcBef>
              <a:spcAft>
                <a:spcPts val="0"/>
              </a:spcAft>
              <a:buClr>
                <a:srgbClr val="000000"/>
              </a:buClr>
              <a:buSzPts val="1800"/>
              <a:buFont typeface="Times New Roman"/>
              <a:buChar char="■"/>
            </a:pPr>
            <a:r>
              <a:rPr lang="en" sz="1800">
                <a:solidFill>
                  <a:srgbClr val="000000"/>
                </a:solidFill>
                <a:highlight>
                  <a:srgbClr val="FFFFFF"/>
                </a:highlight>
                <a:latin typeface="Times New Roman"/>
                <a:ea typeface="Times New Roman"/>
                <a:cs typeface="Times New Roman"/>
                <a:sym typeface="Times New Roman"/>
              </a:rPr>
              <a:t>rāma skūla nahīṃ gayā kyoṃki vaha bīmāra hai.</a:t>
            </a:r>
            <a:endParaRPr sz="1800">
              <a:solidFill>
                <a:srgbClr val="000000"/>
              </a:solidFill>
              <a:highlight>
                <a:srgbClr val="FFFFFF"/>
              </a:highlight>
              <a:latin typeface="Times New Roman"/>
              <a:ea typeface="Times New Roman"/>
              <a:cs typeface="Times New Roman"/>
              <a:sym typeface="Times New Roman"/>
            </a:endParaRPr>
          </a:p>
          <a:p>
            <a:pPr indent="0" lvl="0" marL="1371600" rtl="0" algn="just">
              <a:spcBef>
                <a:spcPts val="0"/>
              </a:spcBef>
              <a:spcAft>
                <a:spcPts val="0"/>
              </a:spcAft>
              <a:buNone/>
            </a:pPr>
            <a:r>
              <a:rPr lang="en">
                <a:solidFill>
                  <a:srgbClr val="000000"/>
                </a:solidFill>
                <a:highlight>
                  <a:srgbClr val="FFFFFF"/>
                </a:highlight>
                <a:latin typeface="Times New Roman"/>
                <a:ea typeface="Times New Roman"/>
                <a:cs typeface="Times New Roman"/>
                <a:sym typeface="Times New Roman"/>
              </a:rPr>
              <a:t>‘Ram did not go to the school because he is sick.</a:t>
            </a:r>
            <a:endParaRPr>
              <a:solidFill>
                <a:srgbClr val="000000"/>
              </a:solidFill>
              <a:highlight>
                <a:srgbClr val="FFFFFF"/>
              </a:highlight>
              <a:latin typeface="Times New Roman"/>
              <a:ea typeface="Times New Roman"/>
              <a:cs typeface="Times New Roman"/>
              <a:sym typeface="Times New Roman"/>
            </a:endParaRPr>
          </a:p>
          <a:p>
            <a:pPr indent="-342900" lvl="3" marL="1828800" rtl="0" algn="just">
              <a:spcBef>
                <a:spcPts val="0"/>
              </a:spcBef>
              <a:spcAft>
                <a:spcPts val="0"/>
              </a:spcAft>
              <a:buClr>
                <a:srgbClr val="000000"/>
              </a:buClr>
              <a:buSzPts val="1800"/>
              <a:buFont typeface="Times New Roman"/>
              <a:buChar char="●"/>
            </a:pPr>
            <a:r>
              <a:rPr lang="en" sz="1800">
                <a:solidFill>
                  <a:srgbClr val="000000"/>
                </a:solidFill>
                <a:latin typeface="Times New Roman"/>
                <a:ea typeface="Times New Roman"/>
                <a:cs typeface="Times New Roman"/>
                <a:sym typeface="Times New Roman"/>
              </a:rPr>
              <a:t>Sent_1</a:t>
            </a:r>
            <a:r>
              <a:rPr lang="en" sz="1800">
                <a:solidFill>
                  <a:srgbClr val="000000"/>
                </a:solidFill>
                <a:highlight>
                  <a:srgbClr val="FFFFFF"/>
                </a:highlight>
                <a:latin typeface="Times New Roman"/>
                <a:ea typeface="Times New Roman"/>
                <a:cs typeface="Times New Roman"/>
                <a:sym typeface="Times New Roman"/>
              </a:rPr>
              <a:t>a   rāma skūla nahīṃ gayā.  ‘Ram did not go to the school.’	</a:t>
            </a:r>
            <a:endParaRPr sz="1800">
              <a:solidFill>
                <a:srgbClr val="000000"/>
              </a:solidFill>
              <a:highlight>
                <a:srgbClr val="FFFFFF"/>
              </a:highlight>
              <a:latin typeface="Times New Roman"/>
              <a:ea typeface="Times New Roman"/>
              <a:cs typeface="Times New Roman"/>
              <a:sym typeface="Times New Roman"/>
            </a:endParaRPr>
          </a:p>
          <a:p>
            <a:pPr indent="-342900" lvl="3" marL="1828800" rtl="0" algn="just">
              <a:spcBef>
                <a:spcPts val="0"/>
              </a:spcBef>
              <a:spcAft>
                <a:spcPts val="0"/>
              </a:spcAft>
              <a:buClr>
                <a:srgbClr val="000000"/>
              </a:buClr>
              <a:buSzPts val="1800"/>
              <a:buFont typeface="Times New Roman"/>
              <a:buChar char="●"/>
            </a:pPr>
            <a:r>
              <a:rPr lang="en" sz="1800">
                <a:solidFill>
                  <a:srgbClr val="000000"/>
                </a:solidFill>
                <a:latin typeface="Times New Roman"/>
                <a:ea typeface="Times New Roman"/>
                <a:cs typeface="Times New Roman"/>
                <a:sym typeface="Times New Roman"/>
              </a:rPr>
              <a:t>Sent_1</a:t>
            </a:r>
            <a:r>
              <a:rPr lang="en" sz="1800">
                <a:solidFill>
                  <a:srgbClr val="000000"/>
                </a:solidFill>
                <a:highlight>
                  <a:srgbClr val="FFFFFF"/>
                </a:highlight>
                <a:latin typeface="Times New Roman"/>
                <a:ea typeface="Times New Roman"/>
                <a:cs typeface="Times New Roman"/>
                <a:sym typeface="Times New Roman"/>
              </a:rPr>
              <a:t>b   </a:t>
            </a:r>
            <a:r>
              <a:rPr lang="en" sz="1800" u="sng">
                <a:solidFill>
                  <a:srgbClr val="000000"/>
                </a:solidFill>
                <a:highlight>
                  <a:srgbClr val="FFFFFF"/>
                </a:highlight>
                <a:latin typeface="Times New Roman"/>
                <a:ea typeface="Times New Roman"/>
                <a:cs typeface="Times New Roman"/>
                <a:sym typeface="Times New Roman"/>
              </a:rPr>
              <a:t>kyoṃki</a:t>
            </a:r>
            <a:r>
              <a:rPr lang="en" sz="1800">
                <a:solidFill>
                  <a:srgbClr val="000000"/>
                </a:solidFill>
                <a:highlight>
                  <a:srgbClr val="FFFFFF"/>
                </a:highlight>
                <a:latin typeface="Times New Roman"/>
                <a:ea typeface="Times New Roman"/>
                <a:cs typeface="Times New Roman"/>
                <a:sym typeface="Times New Roman"/>
              </a:rPr>
              <a:t> vaha bīmāra hai.  </a:t>
            </a:r>
            <a:r>
              <a:rPr b="1" lang="en" sz="1800">
                <a:solidFill>
                  <a:srgbClr val="000000"/>
                </a:solidFill>
                <a:highlight>
                  <a:srgbClr val="FFFFFF"/>
                </a:highlight>
                <a:latin typeface="Times New Roman"/>
                <a:ea typeface="Times New Roman"/>
                <a:cs typeface="Times New Roman"/>
                <a:sym typeface="Times New Roman"/>
              </a:rPr>
              <a:t>‘because</a:t>
            </a:r>
            <a:r>
              <a:rPr lang="en" sz="1800">
                <a:solidFill>
                  <a:srgbClr val="000000"/>
                </a:solidFill>
                <a:highlight>
                  <a:srgbClr val="FFFFFF"/>
                </a:highlight>
                <a:latin typeface="Times New Roman"/>
                <a:ea typeface="Times New Roman"/>
                <a:cs typeface="Times New Roman"/>
                <a:sym typeface="Times New Roman"/>
              </a:rPr>
              <a:t> he is sick.’</a:t>
            </a:r>
            <a:endParaRPr sz="1800">
              <a:solidFill>
                <a:srgbClr val="000000"/>
              </a:solidFill>
              <a:highlight>
                <a:srgbClr val="FFFFFF"/>
              </a:highlight>
              <a:latin typeface="Times New Roman"/>
              <a:ea typeface="Times New Roman"/>
              <a:cs typeface="Times New Roman"/>
              <a:sym typeface="Times New Roman"/>
            </a:endParaRPr>
          </a:p>
          <a:p>
            <a:pPr indent="0" lvl="0" marL="0" rtl="0" algn="just">
              <a:spcBef>
                <a:spcPts val="0"/>
              </a:spcBef>
              <a:spcAft>
                <a:spcPts val="0"/>
              </a:spcAft>
              <a:buNone/>
            </a:pPr>
            <a:r>
              <a:rPr lang="en">
                <a:solidFill>
                  <a:srgbClr val="000000"/>
                </a:solidFill>
                <a:highlight>
                  <a:srgbClr val="FFFFFF"/>
                </a:highlight>
                <a:latin typeface="Times New Roman"/>
                <a:ea typeface="Times New Roman"/>
                <a:cs typeface="Times New Roman"/>
                <a:sym typeface="Times New Roman"/>
              </a:rPr>
              <a:t>The two segments are connected through </a:t>
            </a:r>
            <a:r>
              <a:rPr b="1" lang="en">
                <a:solidFill>
                  <a:srgbClr val="000000"/>
                </a:solidFill>
                <a:latin typeface="Times New Roman"/>
                <a:ea typeface="Times New Roman"/>
                <a:cs typeface="Times New Roman"/>
                <a:sym typeface="Times New Roman"/>
              </a:rPr>
              <a:t>k</a:t>
            </a:r>
            <a:r>
              <a:rPr b="1" lang="en">
                <a:solidFill>
                  <a:srgbClr val="000000"/>
                </a:solidFill>
                <a:highlight>
                  <a:srgbClr val="FFFFFF"/>
                </a:highlight>
                <a:latin typeface="Times New Roman"/>
                <a:ea typeface="Times New Roman"/>
                <a:cs typeface="Times New Roman"/>
                <a:sym typeface="Times New Roman"/>
              </a:rPr>
              <a:t>ā</a:t>
            </a:r>
            <a:r>
              <a:rPr b="1" lang="en">
                <a:solidFill>
                  <a:srgbClr val="000000"/>
                </a:solidFill>
                <a:latin typeface="Times New Roman"/>
                <a:ea typeface="Times New Roman"/>
                <a:cs typeface="Times New Roman"/>
                <a:sym typeface="Times New Roman"/>
              </a:rPr>
              <a:t>rya-k</a:t>
            </a:r>
            <a:r>
              <a:rPr b="1" lang="en">
                <a:solidFill>
                  <a:srgbClr val="000000"/>
                </a:solidFill>
                <a:highlight>
                  <a:srgbClr val="FFFFFF"/>
                </a:highlight>
                <a:latin typeface="Times New Roman"/>
                <a:ea typeface="Times New Roman"/>
                <a:cs typeface="Times New Roman"/>
                <a:sym typeface="Times New Roman"/>
              </a:rPr>
              <a:t>ā</a:t>
            </a:r>
            <a:r>
              <a:rPr b="1" lang="en">
                <a:solidFill>
                  <a:srgbClr val="000000"/>
                </a:solidFill>
                <a:latin typeface="Times New Roman"/>
                <a:ea typeface="Times New Roman"/>
                <a:cs typeface="Times New Roman"/>
                <a:sym typeface="Times New Roman"/>
              </a:rPr>
              <a:t>raṇa </a:t>
            </a:r>
            <a:r>
              <a:rPr lang="en">
                <a:solidFill>
                  <a:srgbClr val="000000"/>
                </a:solidFill>
                <a:latin typeface="Times New Roman"/>
                <a:ea typeface="Times New Roman"/>
                <a:cs typeface="Times New Roman"/>
                <a:sym typeface="Times New Roman"/>
              </a:rPr>
              <a:t>relation.</a:t>
            </a:r>
            <a:endParaRPr>
              <a:solidFill>
                <a:srgbClr val="000000"/>
              </a:solidFill>
              <a:latin typeface="Times New Roman"/>
              <a:ea typeface="Times New Roman"/>
              <a:cs typeface="Times New Roman"/>
              <a:sym typeface="Times New Roman"/>
            </a:endParaRPr>
          </a:p>
          <a:p>
            <a:pPr indent="0" lvl="0" marL="0" rtl="0" algn="l">
              <a:spcBef>
                <a:spcPts val="0"/>
              </a:spcBef>
              <a:spcAft>
                <a:spcPts val="120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51"/>
          <p:cNvSpPr txBox="1"/>
          <p:nvPr>
            <p:ph type="title"/>
          </p:nvPr>
        </p:nvSpPr>
        <p:spPr>
          <a:xfrm>
            <a:off x="311700" y="296439"/>
            <a:ext cx="8520600" cy="707400"/>
          </a:xfrm>
          <a:prstGeom prst="rect">
            <a:avLst/>
          </a:prstGeom>
        </p:spPr>
        <p:txBody>
          <a:bodyPr anchorCtr="0" anchor="t" bIns="91425" lIns="91425" spcFirstLastPara="1" rIns="91425" wrap="square" tIns="91425">
            <a:normAutofit/>
          </a:bodyPr>
          <a:lstStyle/>
          <a:p>
            <a:pPr indent="0" lvl="0" marL="0" rtl="0" algn="just">
              <a:lnSpc>
                <a:spcPct val="115000"/>
              </a:lnSpc>
              <a:spcBef>
                <a:spcPts val="1800"/>
              </a:spcBef>
              <a:spcAft>
                <a:spcPts val="600"/>
              </a:spcAft>
              <a:buNone/>
            </a:pPr>
            <a:r>
              <a:rPr lang="en" sz="2000">
                <a:latin typeface="Arial"/>
                <a:ea typeface="Arial"/>
                <a:cs typeface="Arial"/>
                <a:sym typeface="Arial"/>
              </a:rPr>
              <a:t>Discourse Connective Relation: Case 1</a:t>
            </a:r>
            <a:endParaRPr sz="2000"/>
          </a:p>
        </p:txBody>
      </p:sp>
      <p:sp>
        <p:nvSpPr>
          <p:cNvPr id="295" name="Google Shape;295;p51"/>
          <p:cNvSpPr txBox="1"/>
          <p:nvPr/>
        </p:nvSpPr>
        <p:spPr>
          <a:xfrm>
            <a:off x="2175500" y="4483781"/>
            <a:ext cx="5017200" cy="461700"/>
          </a:xfrm>
          <a:prstGeom prst="rect">
            <a:avLst/>
          </a:prstGeom>
          <a:noFill/>
          <a:ln>
            <a:noFill/>
          </a:ln>
        </p:spPr>
        <p:txBody>
          <a:bodyPr anchorCtr="0" anchor="t" bIns="91425" lIns="91425" spcFirstLastPara="1" rIns="91425" wrap="square" tIns="91425">
            <a:spAutoFit/>
          </a:bodyPr>
          <a:lstStyle/>
          <a:p>
            <a:pPr indent="0" lvl="0" marL="457200" rtl="0" algn="just">
              <a:lnSpc>
                <a:spcPct val="115000"/>
              </a:lnSpc>
              <a:spcBef>
                <a:spcPts val="0"/>
              </a:spcBef>
              <a:spcAft>
                <a:spcPts val="0"/>
              </a:spcAft>
              <a:buNone/>
            </a:pPr>
            <a:r>
              <a:rPr lang="en" sz="1200">
                <a:highlight>
                  <a:srgbClr val="FFFFFF"/>
                </a:highlight>
                <a:latin typeface="Times New Roman"/>
                <a:ea typeface="Times New Roman"/>
                <a:cs typeface="Times New Roman"/>
                <a:sym typeface="Times New Roman"/>
              </a:rPr>
              <a:t> </a:t>
            </a:r>
            <a:r>
              <a:rPr lang="en" sz="1800">
                <a:highlight>
                  <a:srgbClr val="FFFFFF"/>
                </a:highlight>
                <a:latin typeface="Times New Roman"/>
                <a:ea typeface="Times New Roman"/>
                <a:cs typeface="Times New Roman"/>
                <a:sym typeface="Times New Roman"/>
              </a:rPr>
              <a:t>Single Connective in complex sentence</a:t>
            </a:r>
            <a:endParaRPr sz="1800">
              <a:latin typeface="Open Sans"/>
              <a:ea typeface="Open Sans"/>
              <a:cs typeface="Open Sans"/>
              <a:sym typeface="Open Sans"/>
            </a:endParaRPr>
          </a:p>
        </p:txBody>
      </p:sp>
      <p:pic>
        <p:nvPicPr>
          <p:cNvPr id="296" name="Google Shape;296;p51"/>
          <p:cNvPicPr preferRelativeResize="0"/>
          <p:nvPr/>
        </p:nvPicPr>
        <p:blipFill>
          <a:blip r:embed="rId3">
            <a:alphaModFix/>
          </a:blip>
          <a:stretch>
            <a:fillRect/>
          </a:stretch>
        </p:blipFill>
        <p:spPr>
          <a:xfrm>
            <a:off x="805800" y="787650"/>
            <a:ext cx="7645100" cy="38127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52"/>
          <p:cNvSpPr txBox="1"/>
          <p:nvPr>
            <p:ph idx="1" type="body"/>
          </p:nvPr>
        </p:nvSpPr>
        <p:spPr>
          <a:xfrm>
            <a:off x="311700" y="789675"/>
            <a:ext cx="8742300" cy="39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262626"/>
                </a:solidFill>
                <a:latin typeface="Times New Roman"/>
                <a:ea typeface="Times New Roman"/>
                <a:cs typeface="Times New Roman"/>
                <a:sym typeface="Times New Roman"/>
              </a:rPr>
              <a:t>Case 2:</a:t>
            </a:r>
            <a:r>
              <a:rPr lang="en">
                <a:solidFill>
                  <a:srgbClr val="262626"/>
                </a:solidFill>
                <a:latin typeface="Times New Roman"/>
                <a:ea typeface="Times New Roman"/>
                <a:cs typeface="Times New Roman"/>
                <a:sym typeface="Times New Roman"/>
              </a:rPr>
              <a:t> Originally the complex sentence is formed with a paired connective and one of the</a:t>
            </a:r>
            <a:endParaRPr>
              <a:solidFill>
                <a:srgbClr val="262626"/>
              </a:solidFill>
              <a:latin typeface="Times New Roman"/>
              <a:ea typeface="Times New Roman"/>
              <a:cs typeface="Times New Roman"/>
              <a:sym typeface="Times New Roman"/>
            </a:endParaRPr>
          </a:p>
          <a:p>
            <a:pPr indent="0" lvl="0" marL="0" rtl="0" algn="l">
              <a:spcBef>
                <a:spcPts val="1200"/>
              </a:spcBef>
              <a:spcAft>
                <a:spcPts val="0"/>
              </a:spcAft>
              <a:buNone/>
            </a:pPr>
            <a:r>
              <a:rPr lang="en">
                <a:solidFill>
                  <a:srgbClr val="262626"/>
                </a:solidFill>
                <a:latin typeface="Times New Roman"/>
                <a:ea typeface="Times New Roman"/>
                <a:cs typeface="Times New Roman"/>
                <a:sym typeface="Times New Roman"/>
              </a:rPr>
              <a:t>clauses is sub-ordinate to the other called </a:t>
            </a:r>
            <a:r>
              <a:rPr b="1" lang="en">
                <a:solidFill>
                  <a:srgbClr val="262626"/>
                </a:solidFill>
                <a:latin typeface="Times New Roman"/>
                <a:ea typeface="Times New Roman"/>
                <a:cs typeface="Times New Roman"/>
                <a:sym typeface="Times New Roman"/>
              </a:rPr>
              <a:t>main clause segmented sentences</a:t>
            </a:r>
            <a:r>
              <a:rPr lang="en">
                <a:solidFill>
                  <a:srgbClr val="262626"/>
                </a:solidFill>
                <a:latin typeface="Times New Roman"/>
                <a:ea typeface="Times New Roman"/>
                <a:cs typeface="Times New Roman"/>
                <a:sym typeface="Times New Roman"/>
              </a:rPr>
              <a:t> are connected through a paired connective</a:t>
            </a:r>
            <a:endParaRPr>
              <a:solidFill>
                <a:srgbClr val="262626"/>
              </a:solidFill>
              <a:latin typeface="Times New Roman"/>
              <a:ea typeface="Times New Roman"/>
              <a:cs typeface="Times New Roman"/>
              <a:sym typeface="Times New Roman"/>
            </a:endParaRPr>
          </a:p>
          <a:p>
            <a:pPr indent="0" lvl="0" marL="0" rtl="0" algn="l">
              <a:spcBef>
                <a:spcPts val="1200"/>
              </a:spcBef>
              <a:spcAft>
                <a:spcPts val="0"/>
              </a:spcAft>
              <a:buNone/>
            </a:pPr>
            <a:r>
              <a:rPr lang="en">
                <a:solidFill>
                  <a:srgbClr val="262626"/>
                </a:solidFill>
                <a:latin typeface="Times New Roman"/>
                <a:ea typeface="Times New Roman"/>
                <a:cs typeface="Times New Roman"/>
                <a:sym typeface="Times New Roman"/>
              </a:rPr>
              <a:t>● The sentence is split into two.</a:t>
            </a:r>
            <a:endParaRPr>
              <a:solidFill>
                <a:srgbClr val="262626"/>
              </a:solidFill>
              <a:latin typeface="Times New Roman"/>
              <a:ea typeface="Times New Roman"/>
              <a:cs typeface="Times New Roman"/>
              <a:sym typeface="Times New Roman"/>
            </a:endParaRPr>
          </a:p>
          <a:p>
            <a:pPr indent="0" lvl="0" marL="0" rtl="0" algn="l">
              <a:spcBef>
                <a:spcPts val="1200"/>
              </a:spcBef>
              <a:spcAft>
                <a:spcPts val="0"/>
              </a:spcAft>
              <a:buNone/>
            </a:pPr>
            <a:r>
              <a:rPr lang="en">
                <a:solidFill>
                  <a:srgbClr val="262626"/>
                </a:solidFill>
                <a:latin typeface="Times New Roman"/>
                <a:ea typeface="Times New Roman"/>
                <a:cs typeface="Times New Roman"/>
                <a:sym typeface="Times New Roman"/>
              </a:rPr>
              <a:t>● The main finite verb of the subordinate clause is chosen for discourse relation annotation</a:t>
            </a:r>
            <a:endParaRPr>
              <a:solidFill>
                <a:srgbClr val="262626"/>
              </a:solidFill>
              <a:latin typeface="Times New Roman"/>
              <a:ea typeface="Times New Roman"/>
              <a:cs typeface="Times New Roman"/>
              <a:sym typeface="Times New Roman"/>
            </a:endParaRPr>
          </a:p>
          <a:p>
            <a:pPr indent="0" lvl="0" marL="0" rtl="0" algn="l">
              <a:spcBef>
                <a:spcPts val="1200"/>
              </a:spcBef>
              <a:spcAft>
                <a:spcPts val="0"/>
              </a:spcAft>
              <a:buNone/>
            </a:pPr>
            <a:r>
              <a:rPr lang="en">
                <a:solidFill>
                  <a:srgbClr val="262626"/>
                </a:solidFill>
                <a:latin typeface="Times New Roman"/>
                <a:ea typeface="Times New Roman"/>
                <a:cs typeface="Times New Roman"/>
                <a:sym typeface="Times New Roman"/>
              </a:rPr>
              <a:t>● The </a:t>
            </a:r>
            <a:r>
              <a:rPr b="1" lang="en">
                <a:solidFill>
                  <a:srgbClr val="262626"/>
                </a:solidFill>
                <a:latin typeface="Times New Roman"/>
                <a:ea typeface="Times New Roman"/>
                <a:cs typeface="Times New Roman"/>
                <a:sym typeface="Times New Roman"/>
              </a:rPr>
              <a:t>connective </a:t>
            </a:r>
            <a:r>
              <a:rPr lang="en">
                <a:solidFill>
                  <a:srgbClr val="262626"/>
                </a:solidFill>
                <a:latin typeface="Times New Roman"/>
                <a:ea typeface="Times New Roman"/>
                <a:cs typeface="Times New Roman"/>
                <a:sym typeface="Times New Roman"/>
              </a:rPr>
              <a:t>does not appear in the USR</a:t>
            </a:r>
            <a:endParaRPr>
              <a:solidFill>
                <a:srgbClr val="262626"/>
              </a:solidFill>
              <a:latin typeface="Times New Roman"/>
              <a:ea typeface="Times New Roman"/>
              <a:cs typeface="Times New Roman"/>
              <a:sym typeface="Times New Roman"/>
            </a:endParaRPr>
          </a:p>
          <a:p>
            <a:pPr indent="0" lvl="0" marL="0" rtl="0" algn="l">
              <a:spcBef>
                <a:spcPts val="1200"/>
              </a:spcBef>
              <a:spcAft>
                <a:spcPts val="0"/>
              </a:spcAft>
              <a:buNone/>
            </a:pPr>
            <a:r>
              <a:rPr lang="en">
                <a:solidFill>
                  <a:srgbClr val="262626"/>
                </a:solidFill>
                <a:latin typeface="Times New Roman"/>
                <a:ea typeface="Times New Roman"/>
                <a:cs typeface="Times New Roman"/>
                <a:sym typeface="Times New Roman"/>
              </a:rPr>
              <a:t>● The discourse relation tag conveys the relation between the two segmented sentences.</a:t>
            </a:r>
            <a:endParaRPr>
              <a:solidFill>
                <a:srgbClr val="262626"/>
              </a:solidFill>
              <a:latin typeface="Times New Roman"/>
              <a:ea typeface="Times New Roman"/>
              <a:cs typeface="Times New Roman"/>
              <a:sym typeface="Times New Roman"/>
            </a:endParaRPr>
          </a:p>
          <a:p>
            <a:pPr indent="0" lvl="0" marL="0" rtl="0" algn="l">
              <a:spcBef>
                <a:spcPts val="1200"/>
              </a:spcBef>
              <a:spcAft>
                <a:spcPts val="0"/>
              </a:spcAft>
              <a:buNone/>
            </a:pPr>
            <a:r>
              <a:rPr lang="en">
                <a:solidFill>
                  <a:srgbClr val="262626"/>
                </a:solidFill>
                <a:latin typeface="Times New Roman"/>
                <a:ea typeface="Times New Roman"/>
                <a:cs typeface="Times New Roman"/>
                <a:sym typeface="Times New Roman"/>
              </a:rPr>
              <a:t>● The format is: &lt;</a:t>
            </a:r>
            <a:r>
              <a:rPr b="1" lang="en">
                <a:solidFill>
                  <a:srgbClr val="262626"/>
                </a:solidFill>
                <a:latin typeface="Times New Roman"/>
                <a:ea typeface="Times New Roman"/>
                <a:cs typeface="Times New Roman"/>
                <a:sym typeface="Times New Roman"/>
              </a:rPr>
              <a:t>Sent_ID.Verb_Index:Relation_Name&gt;</a:t>
            </a:r>
            <a:endParaRPr b="1">
              <a:solidFill>
                <a:srgbClr val="262626"/>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
        <p:nvSpPr>
          <p:cNvPr id="302" name="Google Shape;302;p52"/>
          <p:cNvSpPr txBox="1"/>
          <p:nvPr>
            <p:ph type="title"/>
          </p:nvPr>
        </p:nvSpPr>
        <p:spPr>
          <a:xfrm>
            <a:off x="214850" y="212352"/>
            <a:ext cx="8520600" cy="707400"/>
          </a:xfrm>
          <a:prstGeom prst="rect">
            <a:avLst/>
          </a:prstGeom>
        </p:spPr>
        <p:txBody>
          <a:bodyPr anchorCtr="0" anchor="t" bIns="91425" lIns="91425" spcFirstLastPara="1" rIns="91425" wrap="square" tIns="91425">
            <a:normAutofit/>
          </a:bodyPr>
          <a:lstStyle/>
          <a:p>
            <a:pPr indent="0" lvl="0" marL="0" rtl="0" algn="just">
              <a:lnSpc>
                <a:spcPct val="115000"/>
              </a:lnSpc>
              <a:spcBef>
                <a:spcPts val="1800"/>
              </a:spcBef>
              <a:spcAft>
                <a:spcPts val="600"/>
              </a:spcAft>
              <a:buNone/>
            </a:pPr>
            <a:r>
              <a:rPr lang="en" sz="2000">
                <a:latin typeface="Arial"/>
                <a:ea typeface="Arial"/>
                <a:cs typeface="Arial"/>
                <a:sym typeface="Arial"/>
              </a:rPr>
              <a:t>Discourse Connective Relation: Case 2: Paired Connective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3"/>
          <p:cNvSpPr txBox="1"/>
          <p:nvPr>
            <p:ph type="title"/>
          </p:nvPr>
        </p:nvSpPr>
        <p:spPr>
          <a:xfrm>
            <a:off x="214850" y="564188"/>
            <a:ext cx="8520600" cy="707400"/>
          </a:xfrm>
          <a:prstGeom prst="rect">
            <a:avLst/>
          </a:prstGeom>
        </p:spPr>
        <p:txBody>
          <a:bodyPr anchorCtr="0" anchor="t" bIns="91425" lIns="91425" spcFirstLastPara="1" rIns="91425" wrap="square" tIns="91425">
            <a:normAutofit/>
          </a:bodyPr>
          <a:lstStyle/>
          <a:p>
            <a:pPr indent="0" lvl="0" marL="0" rtl="0" algn="just">
              <a:lnSpc>
                <a:spcPct val="115000"/>
              </a:lnSpc>
              <a:spcBef>
                <a:spcPts val="1800"/>
              </a:spcBef>
              <a:spcAft>
                <a:spcPts val="600"/>
              </a:spcAft>
              <a:buNone/>
            </a:pPr>
            <a:r>
              <a:rPr lang="en" sz="2000">
                <a:latin typeface="Arial"/>
                <a:ea typeface="Arial"/>
                <a:cs typeface="Arial"/>
                <a:sym typeface="Arial"/>
              </a:rPr>
              <a:t>Discourse Connective Relation: Case 2: Paired Connective</a:t>
            </a:r>
            <a:endParaRPr/>
          </a:p>
        </p:txBody>
      </p:sp>
      <p:pic>
        <p:nvPicPr>
          <p:cNvPr id="308" name="Google Shape;308;p53"/>
          <p:cNvPicPr preferRelativeResize="0"/>
          <p:nvPr/>
        </p:nvPicPr>
        <p:blipFill>
          <a:blip r:embed="rId3">
            <a:alphaModFix/>
          </a:blip>
          <a:stretch>
            <a:fillRect/>
          </a:stretch>
        </p:blipFill>
        <p:spPr>
          <a:xfrm>
            <a:off x="152400" y="1423988"/>
            <a:ext cx="8839199" cy="3163133"/>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4"/>
          <p:cNvSpPr txBox="1"/>
          <p:nvPr>
            <p:ph type="title"/>
          </p:nvPr>
        </p:nvSpPr>
        <p:spPr>
          <a:xfrm>
            <a:off x="214850" y="183188"/>
            <a:ext cx="8520600" cy="707400"/>
          </a:xfrm>
          <a:prstGeom prst="rect">
            <a:avLst/>
          </a:prstGeom>
        </p:spPr>
        <p:txBody>
          <a:bodyPr anchorCtr="0" anchor="t" bIns="91425" lIns="91425" spcFirstLastPara="1" rIns="91425" wrap="square" tIns="91425">
            <a:normAutofit/>
          </a:bodyPr>
          <a:lstStyle/>
          <a:p>
            <a:pPr indent="0" lvl="0" marL="0" rtl="0" algn="just">
              <a:lnSpc>
                <a:spcPct val="115000"/>
              </a:lnSpc>
              <a:spcBef>
                <a:spcPts val="1800"/>
              </a:spcBef>
              <a:spcAft>
                <a:spcPts val="600"/>
              </a:spcAft>
              <a:buNone/>
            </a:pPr>
            <a:r>
              <a:rPr lang="en" sz="2000">
                <a:latin typeface="Arial"/>
                <a:ea typeface="Arial"/>
                <a:cs typeface="Arial"/>
                <a:sym typeface="Arial"/>
              </a:rPr>
              <a:t>Discourse Connective Relation: Case 2</a:t>
            </a:r>
            <a:endParaRPr/>
          </a:p>
        </p:txBody>
      </p:sp>
      <p:pic>
        <p:nvPicPr>
          <p:cNvPr id="314" name="Google Shape;314;p54"/>
          <p:cNvPicPr preferRelativeResize="0"/>
          <p:nvPr/>
        </p:nvPicPr>
        <p:blipFill rotWithShape="1">
          <a:blip r:embed="rId3">
            <a:alphaModFix/>
          </a:blip>
          <a:srcRect b="43700" l="1150" r="1316" t="0"/>
          <a:stretch/>
        </p:blipFill>
        <p:spPr>
          <a:xfrm>
            <a:off x="559750" y="1085775"/>
            <a:ext cx="7924674" cy="34935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pic>
        <p:nvPicPr>
          <p:cNvPr id="319" name="Google Shape;319;p55"/>
          <p:cNvPicPr preferRelativeResize="0"/>
          <p:nvPr/>
        </p:nvPicPr>
        <p:blipFill rotWithShape="1">
          <a:blip r:embed="rId3">
            <a:alphaModFix/>
          </a:blip>
          <a:srcRect b="4698" l="0" r="0" t="55714"/>
          <a:stretch/>
        </p:blipFill>
        <p:spPr>
          <a:xfrm>
            <a:off x="623838" y="1352738"/>
            <a:ext cx="8064426" cy="2438025"/>
          </a:xfrm>
          <a:prstGeom prst="rect">
            <a:avLst/>
          </a:prstGeom>
          <a:noFill/>
          <a:ln>
            <a:noFill/>
          </a:ln>
        </p:spPr>
      </p:pic>
      <p:pic>
        <p:nvPicPr>
          <p:cNvPr id="320" name="Google Shape;320;p55"/>
          <p:cNvPicPr preferRelativeResize="0"/>
          <p:nvPr/>
        </p:nvPicPr>
        <p:blipFill rotWithShape="1">
          <a:blip r:embed="rId3">
            <a:alphaModFix/>
          </a:blip>
          <a:srcRect b="0" l="29219" r="1523" t="94894"/>
          <a:stretch/>
        </p:blipFill>
        <p:spPr>
          <a:xfrm>
            <a:off x="2575787" y="3838025"/>
            <a:ext cx="4664850" cy="262600"/>
          </a:xfrm>
          <a:prstGeom prst="rect">
            <a:avLst/>
          </a:prstGeom>
          <a:noFill/>
          <a:ln>
            <a:noFill/>
          </a:ln>
        </p:spPr>
      </p:pic>
      <p:sp>
        <p:nvSpPr>
          <p:cNvPr id="321" name="Google Shape;321;p55"/>
          <p:cNvSpPr txBox="1"/>
          <p:nvPr>
            <p:ph type="title"/>
          </p:nvPr>
        </p:nvSpPr>
        <p:spPr>
          <a:xfrm>
            <a:off x="214850" y="564188"/>
            <a:ext cx="8520600" cy="707400"/>
          </a:xfrm>
          <a:prstGeom prst="rect">
            <a:avLst/>
          </a:prstGeom>
        </p:spPr>
        <p:txBody>
          <a:bodyPr anchorCtr="0" anchor="t" bIns="91425" lIns="91425" spcFirstLastPara="1" rIns="91425" wrap="square" tIns="91425">
            <a:normAutofit/>
          </a:bodyPr>
          <a:lstStyle/>
          <a:p>
            <a:pPr indent="0" lvl="0" marL="0" rtl="0" algn="just">
              <a:lnSpc>
                <a:spcPct val="115000"/>
              </a:lnSpc>
              <a:spcBef>
                <a:spcPts val="1800"/>
              </a:spcBef>
              <a:spcAft>
                <a:spcPts val="600"/>
              </a:spcAft>
              <a:buNone/>
            </a:pPr>
            <a:r>
              <a:rPr lang="en" sz="2000">
                <a:latin typeface="Arial"/>
                <a:ea typeface="Arial"/>
                <a:cs typeface="Arial"/>
                <a:sym typeface="Arial"/>
              </a:rPr>
              <a:t>Discourse Connective Relation: Case 2</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6"/>
          <p:cNvSpPr txBox="1"/>
          <p:nvPr>
            <p:ph type="title"/>
          </p:nvPr>
        </p:nvSpPr>
        <p:spPr>
          <a:xfrm>
            <a:off x="311700" y="316175"/>
            <a:ext cx="8520600" cy="49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latin typeface="Arial"/>
                <a:ea typeface="Arial"/>
                <a:cs typeface="Arial"/>
                <a:sym typeface="Arial"/>
              </a:rPr>
              <a:t>Pronominal Co</a:t>
            </a:r>
            <a:r>
              <a:rPr lang="en" sz="2000">
                <a:latin typeface="Arial"/>
                <a:ea typeface="Arial"/>
                <a:cs typeface="Arial"/>
                <a:sym typeface="Arial"/>
              </a:rPr>
              <a:t>reference</a:t>
            </a:r>
            <a:endParaRPr sz="2000">
              <a:latin typeface="Arial"/>
              <a:ea typeface="Arial"/>
              <a:cs typeface="Arial"/>
              <a:sym typeface="Arial"/>
            </a:endParaRPr>
          </a:p>
        </p:txBody>
      </p:sp>
      <p:sp>
        <p:nvSpPr>
          <p:cNvPr id="327" name="Google Shape;327;p56"/>
          <p:cNvSpPr txBox="1"/>
          <p:nvPr>
            <p:ph idx="1" type="body"/>
          </p:nvPr>
        </p:nvSpPr>
        <p:spPr>
          <a:xfrm>
            <a:off x="311700" y="814175"/>
            <a:ext cx="8520600" cy="1050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a:solidFill>
                  <a:srgbClr val="000000"/>
                </a:solidFill>
                <a:latin typeface="Times New Roman"/>
                <a:ea typeface="Times New Roman"/>
                <a:cs typeface="Times New Roman"/>
                <a:sym typeface="Times New Roman"/>
              </a:rPr>
              <a:t>For anaphoric expression, the discourse element uses co-ref tag and also specify the index ID of the noun it corefers. The index ID of the antecedent is written as </a:t>
            </a:r>
            <a:r>
              <a:rPr b="1" lang="en">
                <a:solidFill>
                  <a:srgbClr val="000000"/>
                </a:solidFill>
                <a:latin typeface="Times New Roman"/>
                <a:ea typeface="Times New Roman"/>
                <a:cs typeface="Times New Roman"/>
                <a:sym typeface="Times New Roman"/>
              </a:rPr>
              <a:t>Sent_ID.Concept_Index </a:t>
            </a:r>
            <a:r>
              <a:rPr lang="en">
                <a:solidFill>
                  <a:srgbClr val="000000"/>
                </a:solidFill>
                <a:latin typeface="Times New Roman"/>
                <a:ea typeface="Times New Roman"/>
                <a:cs typeface="Times New Roman"/>
                <a:sym typeface="Times New Roman"/>
              </a:rPr>
              <a:t>which is shown in the </a:t>
            </a:r>
            <a:r>
              <a:rPr lang="en">
                <a:solidFill>
                  <a:srgbClr val="000000"/>
                </a:solidFill>
                <a:latin typeface="Times New Roman"/>
                <a:ea typeface="Times New Roman"/>
                <a:cs typeface="Times New Roman"/>
                <a:sym typeface="Times New Roman"/>
              </a:rPr>
              <a:t>following</a:t>
            </a:r>
            <a:r>
              <a:rPr lang="en">
                <a:solidFill>
                  <a:srgbClr val="000000"/>
                </a:solidFill>
                <a:latin typeface="Times New Roman"/>
                <a:ea typeface="Times New Roman"/>
                <a:cs typeface="Times New Roman"/>
                <a:sym typeface="Times New Roman"/>
              </a:rPr>
              <a:t> table.</a:t>
            </a:r>
            <a:endParaRPr>
              <a:solidFill>
                <a:srgbClr val="000000"/>
              </a:solidFill>
              <a:latin typeface="Times New Roman"/>
              <a:ea typeface="Times New Roman"/>
              <a:cs typeface="Times New Roman"/>
              <a:sym typeface="Times New Roman"/>
            </a:endParaRPr>
          </a:p>
          <a:p>
            <a:pPr indent="0" lvl="0" marL="0" rtl="0" algn="l">
              <a:spcBef>
                <a:spcPts val="0"/>
              </a:spcBef>
              <a:spcAft>
                <a:spcPts val="1200"/>
              </a:spcAft>
              <a:buNone/>
            </a:pPr>
            <a:r>
              <a:t/>
            </a:r>
            <a:endParaRPr/>
          </a:p>
        </p:txBody>
      </p:sp>
      <p:sp>
        <p:nvSpPr>
          <p:cNvPr id="328" name="Google Shape;328;p56"/>
          <p:cNvSpPr txBox="1"/>
          <p:nvPr/>
        </p:nvSpPr>
        <p:spPr>
          <a:xfrm>
            <a:off x="1734725" y="4465625"/>
            <a:ext cx="5487300" cy="7188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0"/>
              </a:spcAft>
              <a:buNone/>
            </a:pPr>
            <a:r>
              <a:rPr lang="en" sz="1800">
                <a:latin typeface="Times New Roman"/>
                <a:ea typeface="Times New Roman"/>
                <a:cs typeface="Times New Roman"/>
                <a:sym typeface="Times New Roman"/>
              </a:rPr>
              <a:t>Representation of Coreference in USR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a:latin typeface="Open Sans"/>
              <a:ea typeface="Open Sans"/>
              <a:cs typeface="Open Sans"/>
              <a:sym typeface="Open Sans"/>
            </a:endParaRPr>
          </a:p>
        </p:txBody>
      </p:sp>
      <p:pic>
        <p:nvPicPr>
          <p:cNvPr id="329" name="Google Shape;329;p56"/>
          <p:cNvPicPr preferRelativeResize="0"/>
          <p:nvPr/>
        </p:nvPicPr>
        <p:blipFill>
          <a:blip r:embed="rId3">
            <a:alphaModFix/>
          </a:blip>
          <a:stretch>
            <a:fillRect/>
          </a:stretch>
        </p:blipFill>
        <p:spPr>
          <a:xfrm>
            <a:off x="1229501" y="1940375"/>
            <a:ext cx="6690125" cy="26341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7"/>
          <p:cNvSpPr txBox="1"/>
          <p:nvPr>
            <p:ph type="title"/>
          </p:nvPr>
        </p:nvSpPr>
        <p:spPr>
          <a:xfrm>
            <a:off x="236975" y="1629750"/>
            <a:ext cx="85713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layer</a:t>
            </a:r>
            <a:r>
              <a:rPr lang="en"/>
              <a:t>-8</a:t>
            </a:r>
            <a:endParaRPr/>
          </a:p>
        </p:txBody>
      </p:sp>
      <p:sp>
        <p:nvSpPr>
          <p:cNvPr id="335" name="Google Shape;335;p57"/>
          <p:cNvSpPr txBox="1"/>
          <p:nvPr/>
        </p:nvSpPr>
        <p:spPr>
          <a:xfrm>
            <a:off x="3534150" y="1534350"/>
            <a:ext cx="658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8"/>
          <p:cNvSpPr txBox="1"/>
          <p:nvPr>
            <p:ph type="title"/>
          </p:nvPr>
        </p:nvSpPr>
        <p:spPr>
          <a:xfrm>
            <a:off x="163100" y="44900"/>
            <a:ext cx="8520600" cy="707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en" sz="2000">
                <a:solidFill>
                  <a:srgbClr val="A23C33"/>
                </a:solidFill>
                <a:latin typeface="Arial"/>
                <a:ea typeface="Arial"/>
                <a:cs typeface="Arial"/>
                <a:sym typeface="Arial"/>
              </a:rPr>
              <a:t>Introduction</a:t>
            </a:r>
            <a:endParaRPr sz="2000">
              <a:solidFill>
                <a:srgbClr val="A23C33"/>
              </a:solidFill>
              <a:latin typeface="Arial"/>
              <a:ea typeface="Arial"/>
              <a:cs typeface="Arial"/>
              <a:sym typeface="Arial"/>
            </a:endParaRPr>
          </a:p>
          <a:p>
            <a:pPr indent="0" lvl="0" marL="0" rtl="0" algn="l">
              <a:spcBef>
                <a:spcPts val="0"/>
              </a:spcBef>
              <a:spcAft>
                <a:spcPts val="0"/>
              </a:spcAft>
              <a:buSzPts val="990"/>
              <a:buNone/>
            </a:pPr>
            <a:r>
              <a:t/>
            </a:r>
            <a:endParaRPr sz="3240"/>
          </a:p>
        </p:txBody>
      </p:sp>
      <p:sp>
        <p:nvSpPr>
          <p:cNvPr id="341" name="Google Shape;341;p58"/>
          <p:cNvSpPr txBox="1"/>
          <p:nvPr>
            <p:ph idx="1" type="body"/>
          </p:nvPr>
        </p:nvSpPr>
        <p:spPr>
          <a:xfrm>
            <a:off x="112525" y="476950"/>
            <a:ext cx="5051400" cy="3707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layer 8, also known as the "Speaker's View" layer, is a part of the Universal Semantic Representation (USR) framework used to capture and represent the perspective of the speaker in a discourse.</a:t>
            </a:r>
            <a:endParaRPr>
              <a:solidFill>
                <a:srgbClr val="000000"/>
              </a:solidFill>
              <a:latin typeface="Arial"/>
              <a:ea typeface="Arial"/>
              <a:cs typeface="Arial"/>
              <a:sym typeface="Arial"/>
            </a:endParaRPr>
          </a:p>
          <a:p>
            <a:pPr indent="0" lvl="0" marL="457200" rtl="0" algn="l">
              <a:spcBef>
                <a:spcPts val="0"/>
              </a:spcBef>
              <a:spcAft>
                <a:spcPts val="0"/>
              </a:spcAft>
              <a:buNone/>
            </a:pPr>
            <a:r>
              <a:t/>
            </a:r>
            <a:endParaRPr>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The USR framework aims to create a language-independent and abstract representation of meaning that can be applied across different languages.</a:t>
            </a:r>
            <a:endParaRPr>
              <a:solidFill>
                <a:srgbClr val="000000"/>
              </a:solidFill>
              <a:latin typeface="Arial"/>
              <a:ea typeface="Arial"/>
              <a:cs typeface="Arial"/>
              <a:sym typeface="Arial"/>
            </a:endParaRPr>
          </a:p>
          <a:p>
            <a:pPr indent="0" lvl="0" marL="0" rtl="0" algn="l">
              <a:spcBef>
                <a:spcPts val="0"/>
              </a:spcBef>
              <a:spcAft>
                <a:spcPts val="0"/>
              </a:spcAft>
              <a:buNone/>
            </a:pPr>
            <a:r>
              <a:t/>
            </a:r>
            <a:endParaRPr>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It include elements such as discourse particles, honorifics, light verbs, proximal and distal deixis, and salutation markers.</a:t>
            </a:r>
            <a:endParaRPr>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sp>
        <p:nvSpPr>
          <p:cNvPr id="342" name="Google Shape;342;p58"/>
          <p:cNvSpPr txBox="1"/>
          <p:nvPr/>
        </p:nvSpPr>
        <p:spPr>
          <a:xfrm>
            <a:off x="7534650" y="2130550"/>
            <a:ext cx="1632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Open Sans"/>
              <a:ea typeface="Open Sans"/>
              <a:cs typeface="Open Sans"/>
              <a:sym typeface="Open Sans"/>
            </a:endParaRPr>
          </a:p>
        </p:txBody>
      </p:sp>
      <p:pic>
        <p:nvPicPr>
          <p:cNvPr id="343" name="Google Shape;343;p58"/>
          <p:cNvPicPr preferRelativeResize="0"/>
          <p:nvPr/>
        </p:nvPicPr>
        <p:blipFill>
          <a:blip r:embed="rId3">
            <a:alphaModFix/>
          </a:blip>
          <a:stretch>
            <a:fillRect/>
          </a:stretch>
        </p:blipFill>
        <p:spPr>
          <a:xfrm>
            <a:off x="5282950" y="428223"/>
            <a:ext cx="3691874" cy="4159778"/>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9"/>
          <p:cNvSpPr txBox="1"/>
          <p:nvPr>
            <p:ph idx="1" type="body"/>
          </p:nvPr>
        </p:nvSpPr>
        <p:spPr>
          <a:xfrm>
            <a:off x="311700" y="130300"/>
            <a:ext cx="8520600" cy="443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A23C33"/>
                </a:solidFill>
                <a:latin typeface="Arial"/>
                <a:ea typeface="Arial"/>
                <a:cs typeface="Arial"/>
                <a:sym typeface="Arial"/>
              </a:rPr>
              <a:t>Discourse Particles:</a:t>
            </a:r>
            <a:endParaRPr b="1">
              <a:solidFill>
                <a:srgbClr val="A23C33"/>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Discourse particles are linguistic elements used in a sentence to convey specific emotions, evaluations.</a:t>
            </a:r>
            <a:endParaRPr>
              <a:solidFill>
                <a:srgbClr val="000000"/>
              </a:solidFill>
              <a:latin typeface="Arial"/>
              <a:ea typeface="Arial"/>
              <a:cs typeface="Arial"/>
              <a:sym typeface="Arial"/>
            </a:endParaRPr>
          </a:p>
          <a:p>
            <a:pPr indent="0" lvl="0" marL="0" rtl="0" algn="l">
              <a:spcBef>
                <a:spcPts val="0"/>
              </a:spcBef>
              <a:spcAft>
                <a:spcPts val="0"/>
              </a:spcAft>
              <a:buNone/>
            </a:pPr>
            <a:r>
              <a:rPr lang="en">
                <a:solidFill>
                  <a:srgbClr val="000000"/>
                </a:solidFill>
                <a:latin typeface="Arial"/>
                <a:ea typeface="Arial"/>
                <a:cs typeface="Arial"/>
                <a:sym typeface="Arial"/>
              </a:rPr>
              <a:t> 	Example:</a:t>
            </a:r>
            <a:endParaRPr>
              <a:solidFill>
                <a:srgbClr val="000000"/>
              </a:solidFill>
              <a:latin typeface="Arial"/>
              <a:ea typeface="Arial"/>
              <a:cs typeface="Arial"/>
              <a:sym typeface="Arial"/>
            </a:endParaRPr>
          </a:p>
          <a:p>
            <a:pPr indent="-342900" lvl="0" marL="457200" rtl="0" algn="just">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English: ‘The Sun shines too.’</a:t>
            </a:r>
            <a:endParaRPr>
              <a:solidFill>
                <a:srgbClr val="000000"/>
              </a:solidFill>
              <a:latin typeface="Arial"/>
              <a:ea typeface="Arial"/>
              <a:cs typeface="Arial"/>
              <a:sym typeface="Arial"/>
            </a:endParaRPr>
          </a:p>
          <a:p>
            <a:pPr indent="-342900" lvl="0" marL="457200" rtl="0" algn="just">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Hindi: 'सूरज भी चमकता है।’ (sūrya camakatā bhī hai.)</a:t>
            </a:r>
            <a:endParaRPr>
              <a:solidFill>
                <a:srgbClr val="000000"/>
              </a:solidFill>
              <a:latin typeface="Arial"/>
              <a:ea typeface="Arial"/>
              <a:cs typeface="Arial"/>
              <a:sym typeface="Arial"/>
            </a:endParaRPr>
          </a:p>
          <a:p>
            <a:pPr indent="0" lvl="0" marL="0" rtl="0" algn="l">
              <a:spcBef>
                <a:spcPts val="0"/>
              </a:spcBef>
              <a:spcAft>
                <a:spcPts val="0"/>
              </a:spcAft>
              <a:buNone/>
            </a:pPr>
            <a:br>
              <a:rPr lang="en">
                <a:solidFill>
                  <a:srgbClr val="000000"/>
                </a:solidFill>
                <a:latin typeface="Arial"/>
                <a:ea typeface="Arial"/>
                <a:cs typeface="Arial"/>
                <a:sym typeface="Arial"/>
              </a:rPr>
            </a:br>
            <a:endParaRPr>
              <a:solidFill>
                <a:srgbClr val="000000"/>
              </a:solidFill>
              <a:latin typeface="Arial"/>
              <a:ea typeface="Arial"/>
              <a:cs typeface="Arial"/>
              <a:sym typeface="Arial"/>
            </a:endParaRPr>
          </a:p>
          <a:p>
            <a:pPr indent="0" lvl="0" marL="0" rtl="0" algn="l">
              <a:spcBef>
                <a:spcPts val="0"/>
              </a:spcBef>
              <a:spcAft>
                <a:spcPts val="0"/>
              </a:spcAft>
              <a:buNone/>
            </a:pPr>
            <a:r>
              <a:rPr b="1" lang="en">
                <a:solidFill>
                  <a:srgbClr val="A23C33"/>
                </a:solidFill>
                <a:latin typeface="Arial"/>
                <a:ea typeface="Arial"/>
                <a:cs typeface="Arial"/>
                <a:sym typeface="Arial"/>
              </a:rPr>
              <a:t>Determiners:</a:t>
            </a:r>
            <a:endParaRPr b="1">
              <a:solidFill>
                <a:srgbClr val="A23C33"/>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Determiners are words that introduce nouns and help specify their reference. In </a:t>
            </a:r>
            <a:r>
              <a:rPr lang="en">
                <a:solidFill>
                  <a:srgbClr val="000000"/>
                </a:solidFill>
                <a:latin typeface="Arial"/>
                <a:ea typeface="Arial"/>
                <a:cs typeface="Arial"/>
                <a:sym typeface="Arial"/>
              </a:rPr>
              <a:t>layer</a:t>
            </a:r>
            <a:r>
              <a:rPr lang="en">
                <a:solidFill>
                  <a:srgbClr val="000000"/>
                </a:solidFill>
                <a:latin typeface="Arial"/>
                <a:ea typeface="Arial"/>
                <a:cs typeface="Arial"/>
                <a:sym typeface="Arial"/>
              </a:rPr>
              <a:t> 8, determiners are used to capture information related to definiteness or specificity, which can be influenced by the speaker's perspective.</a:t>
            </a:r>
            <a:endParaRPr>
              <a:solidFill>
                <a:srgbClr val="000000"/>
              </a:solidFill>
              <a:latin typeface="Arial"/>
              <a:ea typeface="Arial"/>
              <a:cs typeface="Arial"/>
              <a:sym typeface="Arial"/>
            </a:endParaRPr>
          </a:p>
          <a:p>
            <a:pPr indent="0" lvl="0" marL="0" rtl="0" algn="l">
              <a:spcBef>
                <a:spcPts val="0"/>
              </a:spcBef>
              <a:spcAft>
                <a:spcPts val="0"/>
              </a:spcAft>
              <a:buNone/>
            </a:pPr>
            <a:r>
              <a:rPr lang="en">
                <a:solidFill>
                  <a:srgbClr val="000000"/>
                </a:solidFill>
                <a:latin typeface="Arial"/>
                <a:ea typeface="Arial"/>
                <a:cs typeface="Arial"/>
                <a:sym typeface="Arial"/>
              </a:rPr>
              <a:t> 	Example:</a:t>
            </a:r>
            <a:endParaRPr>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English: "Give me the book."</a:t>
            </a:r>
            <a:endParaRPr>
              <a:solidFill>
                <a:srgbClr val="000000"/>
              </a:solidFill>
              <a:latin typeface="Arial"/>
              <a:ea typeface="Arial"/>
              <a:cs typeface="Arial"/>
              <a:sym typeface="Arial"/>
            </a:endParaRPr>
          </a:p>
          <a:p>
            <a:pPr indent="-342900" lvl="0" marL="457200" rtl="0" algn="l">
              <a:spcBef>
                <a:spcPts val="0"/>
              </a:spcBef>
              <a:spcAft>
                <a:spcPts val="0"/>
              </a:spcAft>
              <a:buSzPts val="1800"/>
              <a:buChar char="●"/>
            </a:pPr>
            <a:r>
              <a:rPr lang="en">
                <a:solidFill>
                  <a:srgbClr val="000000"/>
                </a:solidFill>
                <a:latin typeface="Arial"/>
                <a:ea typeface="Arial"/>
                <a:cs typeface="Arial"/>
                <a:sym typeface="Arial"/>
              </a:rPr>
              <a:t>Hindi: "मुझे किताब दो।"</a:t>
            </a:r>
            <a:r>
              <a:rPr lang="en">
                <a:solidFill>
                  <a:srgbClr val="5F6368"/>
                </a:solidFill>
                <a:latin typeface="Arial"/>
                <a:ea typeface="Arial"/>
                <a:cs typeface="Arial"/>
                <a:sym typeface="Arial"/>
              </a:rPr>
              <a:t> </a:t>
            </a:r>
            <a:r>
              <a:rPr lang="en">
                <a:solidFill>
                  <a:srgbClr val="000000"/>
                </a:solidFill>
                <a:latin typeface="Arial"/>
                <a:ea typeface="Arial"/>
                <a:cs typeface="Arial"/>
                <a:sym typeface="Arial"/>
              </a:rPr>
              <a:t>(mujhe kitaab do.)</a:t>
            </a:r>
            <a:endParaRPr>
              <a:solidFill>
                <a:srgbClr val="000000"/>
              </a:solidFill>
              <a:latin typeface="Arial"/>
              <a:ea typeface="Arial"/>
              <a:cs typeface="Arial"/>
              <a:sym typeface="Arial"/>
            </a:endParaRPr>
          </a:p>
          <a:p>
            <a:pPr indent="0" lvl="0" marL="0" rtl="0" algn="l">
              <a:spcBef>
                <a:spcPts val="0"/>
              </a:spcBef>
              <a:spcAft>
                <a:spcPts val="1200"/>
              </a:spcAft>
              <a:buNone/>
            </a:pPr>
            <a:r>
              <a:t/>
            </a:r>
            <a:endParaRPr>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60"/>
          <p:cNvSpPr txBox="1"/>
          <p:nvPr>
            <p:ph idx="1" type="body"/>
          </p:nvPr>
        </p:nvSpPr>
        <p:spPr>
          <a:xfrm>
            <a:off x="185975" y="107450"/>
            <a:ext cx="8520600" cy="475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A23C33"/>
                </a:solidFill>
                <a:latin typeface="Arial"/>
                <a:ea typeface="Arial"/>
                <a:cs typeface="Arial"/>
                <a:sym typeface="Arial"/>
              </a:rPr>
              <a:t>Light Verbs:</a:t>
            </a:r>
            <a:endParaRPr>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In the context of </a:t>
            </a:r>
            <a:r>
              <a:rPr lang="en">
                <a:solidFill>
                  <a:srgbClr val="000000"/>
                </a:solidFill>
                <a:latin typeface="Arial"/>
                <a:ea typeface="Arial"/>
                <a:cs typeface="Arial"/>
                <a:sym typeface="Arial"/>
              </a:rPr>
              <a:t>layer</a:t>
            </a:r>
            <a:r>
              <a:rPr lang="en">
                <a:solidFill>
                  <a:srgbClr val="000000"/>
                </a:solidFill>
                <a:latin typeface="Arial"/>
                <a:ea typeface="Arial"/>
                <a:cs typeface="Arial"/>
                <a:sym typeface="Arial"/>
              </a:rPr>
              <a:t> 8, light verbs capture shades of meaning, such as volitionality, intentionality, etc., which contribute to the speaker's perspective on an action or event.</a:t>
            </a:r>
            <a:endParaRPr>
              <a:solidFill>
                <a:srgbClr val="000000"/>
              </a:solidFill>
              <a:latin typeface="Arial"/>
              <a:ea typeface="Arial"/>
              <a:cs typeface="Arial"/>
              <a:sym typeface="Arial"/>
            </a:endParaRPr>
          </a:p>
          <a:p>
            <a:pPr indent="0" lvl="0" marL="0" rtl="0" algn="l">
              <a:spcBef>
                <a:spcPts val="0"/>
              </a:spcBef>
              <a:spcAft>
                <a:spcPts val="0"/>
              </a:spcAft>
              <a:buNone/>
            </a:pPr>
            <a:r>
              <a:rPr lang="en">
                <a:solidFill>
                  <a:srgbClr val="000000"/>
                </a:solidFill>
                <a:latin typeface="Arial"/>
                <a:ea typeface="Arial"/>
                <a:cs typeface="Arial"/>
                <a:sym typeface="Arial"/>
              </a:rPr>
              <a:t>  	Example:</a:t>
            </a:r>
            <a:endParaRPr>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English: I accidentally dropped his laptop.</a:t>
            </a:r>
            <a:endParaRPr>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Char char="●"/>
            </a:pPr>
            <a:r>
              <a:rPr lang="en">
                <a:solidFill>
                  <a:srgbClr val="000000"/>
                </a:solidFill>
                <a:latin typeface="Arial"/>
                <a:ea typeface="Arial"/>
                <a:cs typeface="Arial"/>
                <a:sym typeface="Arial"/>
              </a:rPr>
              <a:t>Hindi :</a:t>
            </a:r>
            <a:r>
              <a:rPr lang="en">
                <a:solidFill>
                  <a:srgbClr val="000000"/>
                </a:solidFill>
                <a:latin typeface="Mangal"/>
                <a:ea typeface="Mangal"/>
                <a:cs typeface="Mangal"/>
                <a:sym typeface="Mangal"/>
              </a:rPr>
              <a:t>मैंने गलती से उसका लैपटॉप गिरा दिया।</a:t>
            </a:r>
            <a:endParaRPr>
              <a:solidFill>
                <a:srgbClr val="000000"/>
              </a:solidFill>
              <a:latin typeface="Mangal"/>
              <a:ea typeface="Mangal"/>
              <a:cs typeface="Mangal"/>
              <a:sym typeface="Mangal"/>
            </a:endParaRPr>
          </a:p>
          <a:p>
            <a:pPr indent="0" lvl="0" marL="0" rtl="0" algn="l">
              <a:spcBef>
                <a:spcPts val="0"/>
              </a:spcBef>
              <a:spcAft>
                <a:spcPts val="0"/>
              </a:spcAft>
              <a:buNone/>
            </a:pPr>
            <a:r>
              <a:t/>
            </a:r>
            <a:endParaRPr>
              <a:solidFill>
                <a:srgbClr val="000000"/>
              </a:solidFill>
              <a:latin typeface="Arial"/>
              <a:ea typeface="Arial"/>
              <a:cs typeface="Arial"/>
              <a:sym typeface="Arial"/>
            </a:endParaRPr>
          </a:p>
          <a:p>
            <a:pPr indent="0" lvl="0" marL="0" rtl="0" algn="l">
              <a:spcBef>
                <a:spcPts val="0"/>
              </a:spcBef>
              <a:spcAft>
                <a:spcPts val="0"/>
              </a:spcAft>
              <a:buNone/>
            </a:pPr>
            <a:r>
              <a:rPr b="1" lang="en">
                <a:solidFill>
                  <a:srgbClr val="A23C33"/>
                </a:solidFill>
                <a:latin typeface="Arial"/>
                <a:ea typeface="Arial"/>
                <a:cs typeface="Arial"/>
                <a:sym typeface="Arial"/>
              </a:rPr>
              <a:t>Honorific, Non-Honorific Pronominal Forms:</a:t>
            </a:r>
            <a:endParaRPr b="1">
              <a:solidFill>
                <a:srgbClr val="A23C33"/>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When the USR has the salutation or honorific markers with the nouns and pronouns we use respect information in the 8</a:t>
            </a:r>
            <a:r>
              <a:rPr baseline="30000" lang="en">
                <a:solidFill>
                  <a:srgbClr val="000000"/>
                </a:solidFill>
                <a:latin typeface="Arial"/>
                <a:ea typeface="Arial"/>
                <a:cs typeface="Arial"/>
                <a:sym typeface="Arial"/>
              </a:rPr>
              <a:t>th</a:t>
            </a:r>
            <a:r>
              <a:rPr lang="en">
                <a:solidFill>
                  <a:srgbClr val="000000"/>
                </a:solidFill>
                <a:latin typeface="Arial"/>
                <a:ea typeface="Arial"/>
                <a:cs typeface="Arial"/>
                <a:sym typeface="Arial"/>
              </a:rPr>
              <a:t> </a:t>
            </a:r>
            <a:r>
              <a:rPr lang="en">
                <a:solidFill>
                  <a:srgbClr val="000000"/>
                </a:solidFill>
                <a:latin typeface="Arial"/>
                <a:ea typeface="Arial"/>
                <a:cs typeface="Arial"/>
                <a:sym typeface="Arial"/>
              </a:rPr>
              <a:t>layer</a:t>
            </a:r>
            <a:r>
              <a:rPr lang="en">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0" lvl="0" marL="0" rtl="0" algn="l">
              <a:spcBef>
                <a:spcPts val="0"/>
              </a:spcBef>
              <a:spcAft>
                <a:spcPts val="0"/>
              </a:spcAft>
              <a:buNone/>
            </a:pPr>
            <a:r>
              <a:rPr lang="en">
                <a:solidFill>
                  <a:srgbClr val="000000"/>
                </a:solidFill>
                <a:latin typeface="Arial"/>
                <a:ea typeface="Arial"/>
                <a:cs typeface="Arial"/>
                <a:sym typeface="Arial"/>
              </a:rPr>
              <a:t> 	Example:</a:t>
            </a:r>
            <a:endParaRPr>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English: "Could you please help me?"</a:t>
            </a:r>
            <a:endParaRPr>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Hindi: "क्या आप मेरी मदद कर सकते हैं?" (Kyā āp merī madad kar sakte hain?)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61"/>
          <p:cNvSpPr txBox="1"/>
          <p:nvPr>
            <p:ph idx="1" type="body"/>
          </p:nvPr>
        </p:nvSpPr>
        <p:spPr>
          <a:xfrm>
            <a:off x="197400" y="363350"/>
            <a:ext cx="8520600" cy="4281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A23C33"/>
                </a:solidFill>
                <a:latin typeface="Arial"/>
                <a:ea typeface="Arial"/>
                <a:cs typeface="Arial"/>
                <a:sym typeface="Arial"/>
              </a:rPr>
              <a:t>Proximal and Distal:</a:t>
            </a:r>
            <a:endParaRPr b="1">
              <a:solidFill>
                <a:srgbClr val="A23C33"/>
              </a:solidFill>
              <a:latin typeface="Arial"/>
              <a:ea typeface="Arial"/>
              <a:cs typeface="Arial"/>
              <a:sym typeface="Arial"/>
            </a:endParaRPr>
          </a:p>
          <a:p>
            <a:pPr indent="0" lvl="0" marL="0" rtl="0" algn="l">
              <a:spcBef>
                <a:spcPts val="0"/>
              </a:spcBef>
              <a:spcAft>
                <a:spcPts val="0"/>
              </a:spcAft>
              <a:buNone/>
            </a:pPr>
            <a:r>
              <a:t/>
            </a:r>
            <a:endParaRPr b="1">
              <a:solidFill>
                <a:srgbClr val="A23C33"/>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Proximal and distal expressions refer to the physical or metaphorical distance between the speaker or addressee and the object or entity being referred to. These expressions are used to indicate whether something is close to the speaker or addressee (proximal) or distant from them (distal). And will write “wyax” in the concept </a:t>
            </a:r>
            <a:r>
              <a:rPr lang="en">
                <a:solidFill>
                  <a:srgbClr val="000000"/>
                </a:solidFill>
                <a:latin typeface="Arial"/>
                <a:ea typeface="Arial"/>
                <a:cs typeface="Arial"/>
                <a:sym typeface="Arial"/>
              </a:rPr>
              <a:t>layer</a:t>
            </a:r>
            <a:r>
              <a:rPr lang="en">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0" lvl="0" marL="0" rtl="0" algn="l">
              <a:spcBef>
                <a:spcPts val="0"/>
              </a:spcBef>
              <a:spcAft>
                <a:spcPts val="0"/>
              </a:spcAft>
              <a:buNone/>
            </a:pPr>
            <a:r>
              <a:rPr lang="en">
                <a:solidFill>
                  <a:srgbClr val="000000"/>
                </a:solidFill>
                <a:latin typeface="Arial"/>
                <a:ea typeface="Arial"/>
                <a:cs typeface="Arial"/>
                <a:sym typeface="Arial"/>
              </a:rPr>
              <a:t> 	 Example:</a:t>
            </a:r>
            <a:endParaRPr>
              <a:solidFill>
                <a:srgbClr val="000000"/>
              </a:solidFill>
              <a:latin typeface="Arial"/>
              <a:ea typeface="Arial"/>
              <a:cs typeface="Arial"/>
              <a:sym typeface="Arial"/>
            </a:endParaRPr>
          </a:p>
          <a:p>
            <a:pPr indent="0" lvl="0" marL="0" rtl="0" algn="l">
              <a:spcBef>
                <a:spcPts val="0"/>
              </a:spcBef>
              <a:spcAft>
                <a:spcPts val="0"/>
              </a:spcAft>
              <a:buNone/>
            </a:pPr>
            <a:r>
              <a:rPr lang="en">
                <a:solidFill>
                  <a:srgbClr val="000000"/>
                </a:solidFill>
                <a:latin typeface="Arial"/>
                <a:ea typeface="Arial"/>
                <a:cs typeface="Arial"/>
                <a:sym typeface="Arial"/>
              </a:rPr>
              <a:t>        English: "Please pass me that book." (Distal)</a:t>
            </a:r>
            <a:endParaRPr>
              <a:solidFill>
                <a:srgbClr val="000000"/>
              </a:solidFill>
              <a:latin typeface="Arial"/>
              <a:ea typeface="Arial"/>
              <a:cs typeface="Arial"/>
              <a:sym typeface="Arial"/>
            </a:endParaRPr>
          </a:p>
          <a:p>
            <a:pPr indent="0" lvl="0" marL="0" rtl="0" algn="l">
              <a:spcBef>
                <a:spcPts val="0"/>
              </a:spcBef>
              <a:spcAft>
                <a:spcPts val="0"/>
              </a:spcAft>
              <a:buNone/>
            </a:pPr>
            <a:r>
              <a:rPr lang="en">
                <a:solidFill>
                  <a:srgbClr val="000000"/>
                </a:solidFill>
                <a:latin typeface="Arial"/>
                <a:ea typeface="Arial"/>
                <a:cs typeface="Arial"/>
                <a:sym typeface="Arial"/>
              </a:rPr>
              <a:t>        Hindi: "वह किताब मुझे पास करें।" (Vah kitāb mujhe pās karen.) (Distal)</a:t>
            </a:r>
            <a:endParaRPr>
              <a:solidFill>
                <a:srgbClr val="000000"/>
              </a:solidFill>
              <a:latin typeface="Arial"/>
              <a:ea typeface="Arial"/>
              <a:cs typeface="Arial"/>
              <a:sym typeface="Arial"/>
            </a:endParaRPr>
          </a:p>
          <a:p>
            <a:pPr indent="0" lvl="0" marL="0" rtl="0" algn="l">
              <a:spcBef>
                <a:spcPts val="0"/>
              </a:spcBef>
              <a:spcAft>
                <a:spcPts val="0"/>
              </a:spcAft>
              <a:buNone/>
            </a:pPr>
            <a:r>
              <a:rPr lang="en">
                <a:solidFill>
                  <a:srgbClr val="000000"/>
                </a:solidFill>
                <a:latin typeface="Arial"/>
                <a:ea typeface="Arial"/>
                <a:cs typeface="Arial"/>
                <a:sym typeface="Arial"/>
              </a:rPr>
              <a:t>	English: This is a book. (Proximal)</a:t>
            </a:r>
            <a:endParaRPr>
              <a:solidFill>
                <a:srgbClr val="000000"/>
              </a:solidFill>
              <a:latin typeface="Arial"/>
              <a:ea typeface="Arial"/>
              <a:cs typeface="Arial"/>
              <a:sym typeface="Arial"/>
            </a:endParaRPr>
          </a:p>
          <a:p>
            <a:pPr indent="0" lvl="0" marL="0" rtl="0" algn="l">
              <a:spcBef>
                <a:spcPts val="0"/>
              </a:spcBef>
              <a:spcAft>
                <a:spcPts val="1200"/>
              </a:spcAft>
              <a:buNone/>
            </a:pPr>
            <a:r>
              <a:rPr lang="en">
                <a:solidFill>
                  <a:srgbClr val="000000"/>
                </a:solidFill>
                <a:latin typeface="Arial"/>
                <a:ea typeface="Arial"/>
                <a:cs typeface="Arial"/>
                <a:sym typeface="Arial"/>
              </a:rPr>
              <a:t>        Hindi: यह एक पुस्तक है।(yah ek pustak hai.) (proximal)</a:t>
            </a:r>
            <a:endParaRPr>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62"/>
          <p:cNvSpPr txBox="1"/>
          <p:nvPr>
            <p:ph idx="1" type="body"/>
          </p:nvPr>
        </p:nvSpPr>
        <p:spPr>
          <a:xfrm>
            <a:off x="0" y="0"/>
            <a:ext cx="8520600" cy="4434900"/>
          </a:xfrm>
          <a:prstGeom prst="rect">
            <a:avLst/>
          </a:prstGeom>
        </p:spPr>
        <p:txBody>
          <a:bodyPr anchorCtr="0" anchor="t" bIns="91425" lIns="91425" spcFirstLastPara="1" rIns="91425" wrap="square" tIns="91425">
            <a:noAutofit/>
          </a:bodyPr>
          <a:lstStyle/>
          <a:p>
            <a:pPr indent="0" lvl="0" marL="457200" rtl="0" algn="just">
              <a:spcBef>
                <a:spcPts val="1400"/>
              </a:spcBef>
              <a:spcAft>
                <a:spcPts val="0"/>
              </a:spcAft>
              <a:buNone/>
            </a:pPr>
            <a:r>
              <a:rPr b="1" lang="en" sz="1600">
                <a:solidFill>
                  <a:srgbClr val="A23C33"/>
                </a:solidFill>
                <a:latin typeface="Arial"/>
                <a:ea typeface="Arial"/>
                <a:cs typeface="Arial"/>
                <a:sym typeface="Arial"/>
              </a:rPr>
              <a:t>Respect and Informal Information for 2nd person pronoun</a:t>
            </a:r>
            <a:endParaRPr b="1" sz="1600">
              <a:solidFill>
                <a:srgbClr val="A23C33"/>
              </a:solidFill>
              <a:latin typeface="Arial"/>
              <a:ea typeface="Arial"/>
              <a:cs typeface="Arial"/>
              <a:sym typeface="Arial"/>
            </a:endParaRPr>
          </a:p>
          <a:p>
            <a:pPr indent="-330200" lvl="0" marL="457200" rtl="0" algn="just">
              <a:spcBef>
                <a:spcPts val="1400"/>
              </a:spcBef>
              <a:spcAft>
                <a:spcPts val="0"/>
              </a:spcAft>
              <a:buClr>
                <a:srgbClr val="000000"/>
              </a:buClr>
              <a:buSzPts val="1600"/>
              <a:buFont typeface="Arial"/>
              <a:buChar char="●"/>
            </a:pPr>
            <a:r>
              <a:rPr lang="en" sz="1600">
                <a:solidFill>
                  <a:srgbClr val="000000"/>
                </a:solidFill>
                <a:latin typeface="Arial"/>
                <a:ea typeface="Arial"/>
                <a:cs typeface="Arial"/>
                <a:sym typeface="Arial"/>
              </a:rPr>
              <a:t>In the</a:t>
            </a:r>
            <a:r>
              <a:rPr lang="en" sz="1600">
                <a:solidFill>
                  <a:srgbClr val="000000"/>
                </a:solidFill>
                <a:latin typeface="Arial"/>
                <a:ea typeface="Arial"/>
                <a:cs typeface="Arial"/>
                <a:sym typeface="Arial"/>
              </a:rPr>
              <a:t> </a:t>
            </a:r>
            <a:r>
              <a:rPr lang="en" sz="1600">
                <a:solidFill>
                  <a:srgbClr val="000000"/>
                </a:solidFill>
                <a:latin typeface="Arial"/>
                <a:ea typeface="Arial"/>
                <a:cs typeface="Arial"/>
                <a:sym typeface="Arial"/>
              </a:rPr>
              <a:t>Universal Semantic Representation (USR) framework, the "Respect and Informal Information for 2nd Person Pronoun" category deals with the representation of different forms of the 2nd person pronouns based on their level of respect or formality. The concept </a:t>
            </a:r>
            <a:r>
              <a:rPr lang="en" sz="1600">
                <a:solidFill>
                  <a:srgbClr val="000000"/>
                </a:solidFill>
                <a:latin typeface="Arial"/>
                <a:ea typeface="Arial"/>
                <a:cs typeface="Arial"/>
                <a:sym typeface="Arial"/>
              </a:rPr>
              <a:t>layer</a:t>
            </a:r>
            <a:r>
              <a:rPr lang="en" sz="1600">
                <a:solidFill>
                  <a:srgbClr val="000000"/>
                </a:solidFill>
                <a:latin typeface="Arial"/>
                <a:ea typeface="Arial"/>
                <a:cs typeface="Arial"/>
                <a:sym typeface="Arial"/>
              </a:rPr>
              <a:t> represents the core propositional content, including the 2nd person pronouns "tū" (informal), "āpa" (respect), and "tuma" (default).</a:t>
            </a:r>
            <a:endParaRPr sz="1600">
              <a:solidFill>
                <a:srgbClr val="000000"/>
              </a:solidFill>
              <a:latin typeface="Arial"/>
              <a:ea typeface="Arial"/>
              <a:cs typeface="Arial"/>
              <a:sym typeface="Arial"/>
            </a:endParaRPr>
          </a:p>
          <a:p>
            <a:pPr indent="0" lvl="0" marL="0" rtl="0" algn="l">
              <a:spcBef>
                <a:spcPts val="400"/>
              </a:spcBef>
              <a:spcAft>
                <a:spcPts val="0"/>
              </a:spcAft>
              <a:buNone/>
            </a:pPr>
            <a:r>
              <a:rPr b="1" lang="en" sz="1600">
                <a:solidFill>
                  <a:srgbClr val="000000"/>
                </a:solidFill>
                <a:latin typeface="Arial"/>
                <a:ea typeface="Arial"/>
                <a:cs typeface="Arial"/>
                <a:sym typeface="Arial"/>
              </a:rPr>
              <a:t>          	Informal Address (tū):</a:t>
            </a:r>
            <a:endParaRPr b="1" sz="1600">
              <a:solidFill>
                <a:srgbClr val="000000"/>
              </a:solidFill>
              <a:latin typeface="Arial"/>
              <a:ea typeface="Arial"/>
              <a:cs typeface="Arial"/>
              <a:sym typeface="Arial"/>
            </a:endParaRPr>
          </a:p>
          <a:p>
            <a:pPr indent="0" lvl="0" marL="0" rtl="0" algn="l">
              <a:spcBef>
                <a:spcPts val="0"/>
              </a:spcBef>
              <a:spcAft>
                <a:spcPts val="0"/>
              </a:spcAft>
              <a:buNone/>
            </a:pPr>
            <a:r>
              <a:rPr lang="en" sz="1600">
                <a:solidFill>
                  <a:srgbClr val="000000"/>
                </a:solidFill>
                <a:latin typeface="Arial"/>
                <a:ea typeface="Arial"/>
                <a:cs typeface="Arial"/>
                <a:sym typeface="Arial"/>
              </a:rPr>
              <a:t>          	Hindi: "तू कहाँ रहता है?" (Tū kahā rahatā hai?)</a:t>
            </a:r>
            <a:endParaRPr sz="1600">
              <a:solidFill>
                <a:srgbClr val="000000"/>
              </a:solidFill>
              <a:latin typeface="Arial"/>
              <a:ea typeface="Arial"/>
              <a:cs typeface="Arial"/>
              <a:sym typeface="Arial"/>
            </a:endParaRPr>
          </a:p>
          <a:p>
            <a:pPr indent="0" lvl="0" marL="0" rtl="0" algn="l">
              <a:spcBef>
                <a:spcPts val="0"/>
              </a:spcBef>
              <a:spcAft>
                <a:spcPts val="0"/>
              </a:spcAft>
              <a:buNone/>
            </a:pPr>
            <a:r>
              <a:rPr lang="en" sz="1600">
                <a:solidFill>
                  <a:srgbClr val="000000"/>
                </a:solidFill>
                <a:latin typeface="Arial"/>
                <a:ea typeface="Arial"/>
                <a:cs typeface="Arial"/>
                <a:sym typeface="Arial"/>
              </a:rPr>
              <a:t>          	English Translation: "Where do you live?"</a:t>
            </a:r>
            <a:endParaRPr sz="1600">
              <a:solidFill>
                <a:srgbClr val="000000"/>
              </a:solidFill>
              <a:latin typeface="Arial"/>
              <a:ea typeface="Arial"/>
              <a:cs typeface="Arial"/>
              <a:sym typeface="Arial"/>
            </a:endParaRPr>
          </a:p>
          <a:p>
            <a:pPr indent="0" lvl="0" marL="0" rtl="0" algn="l">
              <a:spcBef>
                <a:spcPts val="0"/>
              </a:spcBef>
              <a:spcAft>
                <a:spcPts val="0"/>
              </a:spcAft>
              <a:buNone/>
            </a:pPr>
            <a:r>
              <a:rPr b="1" lang="en" sz="1600">
                <a:solidFill>
                  <a:srgbClr val="000000"/>
                </a:solidFill>
                <a:latin typeface="Arial"/>
                <a:ea typeface="Arial"/>
                <a:cs typeface="Arial"/>
                <a:sym typeface="Arial"/>
              </a:rPr>
              <a:t>          	Respectful Address (āpa):</a:t>
            </a:r>
            <a:endParaRPr b="1" sz="1600">
              <a:solidFill>
                <a:srgbClr val="000000"/>
              </a:solidFill>
              <a:latin typeface="Arial"/>
              <a:ea typeface="Arial"/>
              <a:cs typeface="Arial"/>
              <a:sym typeface="Arial"/>
            </a:endParaRPr>
          </a:p>
          <a:p>
            <a:pPr indent="0" lvl="0" marL="0" rtl="0" algn="l">
              <a:spcBef>
                <a:spcPts val="0"/>
              </a:spcBef>
              <a:spcAft>
                <a:spcPts val="0"/>
              </a:spcAft>
              <a:buNone/>
            </a:pPr>
            <a:r>
              <a:rPr lang="en" sz="1600">
                <a:solidFill>
                  <a:srgbClr val="000000"/>
                </a:solidFill>
                <a:latin typeface="Arial"/>
                <a:ea typeface="Arial"/>
                <a:cs typeface="Arial"/>
                <a:sym typeface="Arial"/>
              </a:rPr>
              <a:t>          	Hindi: "आप कहाँ रहते हैं?" (Āpa kahā rahate haiṃ?)</a:t>
            </a:r>
            <a:endParaRPr sz="1600">
              <a:solidFill>
                <a:srgbClr val="000000"/>
              </a:solidFill>
              <a:latin typeface="Arial"/>
              <a:ea typeface="Arial"/>
              <a:cs typeface="Arial"/>
              <a:sym typeface="Arial"/>
            </a:endParaRPr>
          </a:p>
          <a:p>
            <a:pPr indent="0" lvl="0" marL="0" rtl="0" algn="l">
              <a:spcBef>
                <a:spcPts val="0"/>
              </a:spcBef>
              <a:spcAft>
                <a:spcPts val="0"/>
              </a:spcAft>
              <a:buNone/>
            </a:pPr>
            <a:r>
              <a:rPr lang="en" sz="1600">
                <a:solidFill>
                  <a:srgbClr val="000000"/>
                </a:solidFill>
                <a:latin typeface="Arial"/>
                <a:ea typeface="Arial"/>
                <a:cs typeface="Arial"/>
                <a:sym typeface="Arial"/>
              </a:rPr>
              <a:t>          	English Translation: "Where do you live?“</a:t>
            </a:r>
            <a:endParaRPr sz="1600">
              <a:solidFill>
                <a:srgbClr val="000000"/>
              </a:solidFill>
              <a:latin typeface="Arial"/>
              <a:ea typeface="Arial"/>
              <a:cs typeface="Arial"/>
              <a:sym typeface="Arial"/>
            </a:endParaRPr>
          </a:p>
          <a:p>
            <a:pPr indent="0" lvl="0" marL="0" rtl="0" algn="l">
              <a:spcBef>
                <a:spcPts val="0"/>
              </a:spcBef>
              <a:spcAft>
                <a:spcPts val="0"/>
              </a:spcAft>
              <a:buNone/>
            </a:pPr>
            <a:r>
              <a:rPr b="1" lang="en" sz="1600">
                <a:solidFill>
                  <a:srgbClr val="000000"/>
                </a:solidFill>
                <a:latin typeface="Arial"/>
                <a:ea typeface="Arial"/>
                <a:cs typeface="Arial"/>
                <a:sym typeface="Arial"/>
              </a:rPr>
              <a:t>          	Default Address (tuma):</a:t>
            </a:r>
            <a:endParaRPr b="1" sz="1600">
              <a:solidFill>
                <a:srgbClr val="000000"/>
              </a:solidFill>
              <a:latin typeface="Arial"/>
              <a:ea typeface="Arial"/>
              <a:cs typeface="Arial"/>
              <a:sym typeface="Arial"/>
            </a:endParaRPr>
          </a:p>
          <a:p>
            <a:pPr indent="0" lvl="0" marL="0" rtl="0" algn="l">
              <a:spcBef>
                <a:spcPts val="0"/>
              </a:spcBef>
              <a:spcAft>
                <a:spcPts val="0"/>
              </a:spcAft>
              <a:buNone/>
            </a:pPr>
            <a:r>
              <a:rPr lang="en" sz="1600">
                <a:solidFill>
                  <a:srgbClr val="000000"/>
                </a:solidFill>
                <a:latin typeface="Arial"/>
                <a:ea typeface="Arial"/>
                <a:cs typeface="Arial"/>
                <a:sym typeface="Arial"/>
              </a:rPr>
              <a:t>          	Hindi: "तुम कहाँ रहते हो?" (Tuma kahā rahate ho?)</a:t>
            </a:r>
            <a:endParaRPr sz="1600">
              <a:solidFill>
                <a:srgbClr val="000000"/>
              </a:solidFill>
              <a:latin typeface="Arial"/>
              <a:ea typeface="Arial"/>
              <a:cs typeface="Arial"/>
              <a:sym typeface="Arial"/>
            </a:endParaRPr>
          </a:p>
          <a:p>
            <a:pPr indent="0" lvl="0" marL="0" rtl="0" algn="l">
              <a:spcBef>
                <a:spcPts val="0"/>
              </a:spcBef>
              <a:spcAft>
                <a:spcPts val="0"/>
              </a:spcAft>
              <a:buNone/>
            </a:pPr>
            <a:r>
              <a:rPr lang="en" sz="1600">
                <a:solidFill>
                  <a:srgbClr val="000000"/>
                </a:solidFill>
                <a:latin typeface="Arial"/>
                <a:ea typeface="Arial"/>
                <a:cs typeface="Arial"/>
                <a:sym typeface="Arial"/>
              </a:rPr>
              <a:t>          	English Translation: "Where do you live?"</a:t>
            </a:r>
            <a:endParaRPr sz="1600">
              <a:solidFill>
                <a:srgbClr val="000000"/>
              </a:solidFill>
              <a:latin typeface="Arial"/>
              <a:ea typeface="Arial"/>
              <a:cs typeface="Arial"/>
              <a:sym typeface="Arial"/>
            </a:endParaRPr>
          </a:p>
          <a:p>
            <a:pPr indent="0" lvl="0" marL="0" rtl="0" algn="l">
              <a:spcBef>
                <a:spcPts val="0"/>
              </a:spcBef>
              <a:spcAft>
                <a:spcPts val="1200"/>
              </a:spcAft>
              <a:buNone/>
            </a:pPr>
            <a:r>
              <a:t/>
            </a:r>
            <a:endParaRPr sz="1600">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graphicFrame>
        <p:nvGraphicFramePr>
          <p:cNvPr id="368" name="Google Shape;368;p63"/>
          <p:cNvGraphicFramePr/>
          <p:nvPr/>
        </p:nvGraphicFramePr>
        <p:xfrm>
          <a:off x="751325" y="1174025"/>
          <a:ext cx="3000000" cy="3000000"/>
        </p:xfrm>
        <a:graphic>
          <a:graphicData uri="http://schemas.openxmlformats.org/drawingml/2006/table">
            <a:tbl>
              <a:tblPr>
                <a:noFill/>
                <a:tableStyleId>{D7B16A15-CEB2-4D38-87CE-0F15F70C6202}</a:tableStyleId>
              </a:tblPr>
              <a:tblGrid>
                <a:gridCol w="1471650"/>
                <a:gridCol w="1887250"/>
                <a:gridCol w="1485225"/>
                <a:gridCol w="1072050"/>
                <a:gridCol w="1585725"/>
              </a:tblGrid>
              <a:tr h="485800">
                <a:tc rowSpan="6">
                  <a:txBody>
                    <a:bodyPr/>
                    <a:lstStyle/>
                    <a:p>
                      <a:pPr indent="0" lvl="0" marL="0" rtl="0" algn="just">
                        <a:lnSpc>
                          <a:spcPct val="115000"/>
                        </a:lnSpc>
                        <a:spcBef>
                          <a:spcPts val="0"/>
                        </a:spcBef>
                        <a:spcAft>
                          <a:spcPts val="0"/>
                        </a:spcAft>
                        <a:buNone/>
                      </a:pPr>
                      <a:r>
                        <a:rPr lang="en" sz="1800">
                          <a:latin typeface="Times New Roman"/>
                          <a:ea typeface="Times New Roman"/>
                          <a:cs typeface="Times New Roman"/>
                          <a:sym typeface="Times New Roman"/>
                        </a:rPr>
                        <a:t>Addressee</a:t>
                      </a:r>
                      <a:endParaRPr sz="1800">
                        <a:latin typeface="Times New Roman"/>
                        <a:ea typeface="Times New Roman"/>
                        <a:cs typeface="Times New Roman"/>
                        <a:sym typeface="Times New Roman"/>
                      </a:endParaRPr>
                    </a:p>
                  </a:txBody>
                  <a:tcPr marT="13725" marB="13725" marR="13725" marL="13725"/>
                </a:tc>
                <a:tc>
                  <a:txBody>
                    <a:bodyPr/>
                    <a:lstStyle/>
                    <a:p>
                      <a:pPr indent="0" lvl="0" marL="0" rtl="0" algn="just">
                        <a:lnSpc>
                          <a:spcPct val="115000"/>
                        </a:lnSpc>
                        <a:spcBef>
                          <a:spcPts val="0"/>
                        </a:spcBef>
                        <a:spcAft>
                          <a:spcPts val="0"/>
                        </a:spcAft>
                        <a:buNone/>
                      </a:pPr>
                      <a:r>
                        <a:rPr lang="en" sz="1800">
                          <a:latin typeface="Times New Roman"/>
                          <a:ea typeface="Times New Roman"/>
                          <a:cs typeface="Times New Roman"/>
                          <a:sym typeface="Times New Roman"/>
                        </a:rPr>
                        <a:t>Informal</a:t>
                      </a:r>
                      <a:endParaRPr sz="1800">
                        <a:latin typeface="Times New Roman"/>
                        <a:ea typeface="Times New Roman"/>
                        <a:cs typeface="Times New Roman"/>
                        <a:sym typeface="Times New Roman"/>
                      </a:endParaRPr>
                    </a:p>
                  </a:txBody>
                  <a:tcPr marT="13725" marB="13725" marR="13725" marL="13725"/>
                </a:tc>
                <a:tc gridSpan="3">
                  <a:txBody>
                    <a:bodyPr/>
                    <a:lstStyle/>
                    <a:p>
                      <a:pPr indent="0" lvl="0" marL="0" rtl="0" algn="just">
                        <a:lnSpc>
                          <a:spcPct val="115000"/>
                        </a:lnSpc>
                        <a:spcBef>
                          <a:spcPts val="0"/>
                        </a:spcBef>
                        <a:spcAft>
                          <a:spcPts val="0"/>
                        </a:spcAft>
                        <a:buNone/>
                      </a:pPr>
                      <a:r>
                        <a:rPr lang="en" sz="1800">
                          <a:latin typeface="Times New Roman"/>
                          <a:ea typeface="Times New Roman"/>
                          <a:cs typeface="Times New Roman"/>
                          <a:sym typeface="Times New Roman"/>
                        </a:rPr>
                        <a:t>#तू कहाँ रहता है? #tū kahā rahatā hai?</a:t>
                      </a:r>
                      <a:endParaRPr sz="1800">
                        <a:latin typeface="Times New Roman"/>
                        <a:ea typeface="Times New Roman"/>
                        <a:cs typeface="Times New Roman"/>
                        <a:sym typeface="Times New Roman"/>
                      </a:endParaRPr>
                    </a:p>
                  </a:txBody>
                  <a:tcPr marT="13725" marB="13725" marR="13725" marL="13725"/>
                </a:tc>
                <a:tc hMerge="1"/>
                <a:tc hMerge="1"/>
              </a:tr>
              <a:tr h="485800">
                <a:tc vMerge="1"/>
                <a:tc>
                  <a:txBody>
                    <a:bodyPr/>
                    <a:lstStyle/>
                    <a:p>
                      <a:pPr indent="0" lvl="0" marL="0" rtl="0" algn="just">
                        <a:lnSpc>
                          <a:spcPct val="115000"/>
                        </a:lnSpc>
                        <a:spcBef>
                          <a:spcPts val="0"/>
                        </a:spcBef>
                        <a:spcAft>
                          <a:spcPts val="0"/>
                        </a:spcAft>
                        <a:buNone/>
                      </a:pPr>
                      <a:r>
                        <a:rPr lang="en" sz="1800">
                          <a:latin typeface="Times New Roman"/>
                          <a:ea typeface="Times New Roman"/>
                          <a:cs typeface="Times New Roman"/>
                          <a:sym typeface="Times New Roman"/>
                        </a:rPr>
                        <a:t>Concept</a:t>
                      </a:r>
                      <a:endParaRPr sz="1800">
                        <a:latin typeface="Times New Roman"/>
                        <a:ea typeface="Times New Roman"/>
                        <a:cs typeface="Times New Roman"/>
                        <a:sym typeface="Times New Roman"/>
                      </a:endParaRPr>
                    </a:p>
                  </a:txBody>
                  <a:tcPr marT="13725" marB="13725" marR="13725" marL="13725"/>
                </a:tc>
                <a:tc>
                  <a:txBody>
                    <a:bodyPr/>
                    <a:lstStyle/>
                    <a:p>
                      <a:pPr indent="0" lvl="0" marL="0" rtl="0" algn="just">
                        <a:lnSpc>
                          <a:spcPct val="115000"/>
                        </a:lnSpc>
                        <a:spcBef>
                          <a:spcPts val="0"/>
                        </a:spcBef>
                        <a:spcAft>
                          <a:spcPts val="0"/>
                        </a:spcAft>
                        <a:buNone/>
                      </a:pPr>
                      <a:r>
                        <a:rPr lang="en" sz="1800">
                          <a:latin typeface="Times New Roman"/>
                          <a:ea typeface="Times New Roman"/>
                          <a:cs typeface="Times New Roman"/>
                          <a:sym typeface="Times New Roman"/>
                        </a:rPr>
                        <a:t>addressee</a:t>
                      </a:r>
                      <a:endParaRPr sz="1800">
                        <a:latin typeface="Times New Roman"/>
                        <a:ea typeface="Times New Roman"/>
                        <a:cs typeface="Times New Roman"/>
                        <a:sym typeface="Times New Roman"/>
                      </a:endParaRPr>
                    </a:p>
                  </a:txBody>
                  <a:tcPr marT="13725" marB="13725" marR="13725" marL="13725"/>
                </a:tc>
                <a:tc>
                  <a:txBody>
                    <a:bodyPr/>
                    <a:lstStyle/>
                    <a:p>
                      <a:pPr indent="0" lvl="0" marL="0" rtl="0" algn="just">
                        <a:lnSpc>
                          <a:spcPct val="115000"/>
                        </a:lnSpc>
                        <a:spcBef>
                          <a:spcPts val="0"/>
                        </a:spcBef>
                        <a:spcAft>
                          <a:spcPts val="0"/>
                        </a:spcAft>
                        <a:buNone/>
                      </a:pPr>
                      <a:r>
                        <a:rPr lang="en" sz="1800">
                          <a:latin typeface="Times New Roman"/>
                          <a:ea typeface="Times New Roman"/>
                          <a:cs typeface="Times New Roman"/>
                          <a:sym typeface="Times New Roman"/>
                        </a:rPr>
                        <a:t>kim</a:t>
                      </a:r>
                      <a:endParaRPr sz="1800">
                        <a:latin typeface="Times New Roman"/>
                        <a:ea typeface="Times New Roman"/>
                        <a:cs typeface="Times New Roman"/>
                        <a:sym typeface="Times New Roman"/>
                      </a:endParaRPr>
                    </a:p>
                  </a:txBody>
                  <a:tcPr marT="13725" marB="13725" marR="13725" marL="13725"/>
                </a:tc>
                <a:tc>
                  <a:txBody>
                    <a:bodyPr/>
                    <a:lstStyle/>
                    <a:p>
                      <a:pPr indent="0" lvl="0" marL="0" rtl="0" algn="just">
                        <a:lnSpc>
                          <a:spcPct val="115000"/>
                        </a:lnSpc>
                        <a:spcBef>
                          <a:spcPts val="0"/>
                        </a:spcBef>
                        <a:spcAft>
                          <a:spcPts val="0"/>
                        </a:spcAft>
                        <a:buNone/>
                      </a:pPr>
                      <a:r>
                        <a:rPr lang="en" sz="1800">
                          <a:latin typeface="Times New Roman"/>
                          <a:ea typeface="Times New Roman"/>
                          <a:cs typeface="Times New Roman"/>
                          <a:sym typeface="Times New Roman"/>
                        </a:rPr>
                        <a:t>raha_1-tā_hai_1</a:t>
                      </a:r>
                      <a:endParaRPr sz="1800">
                        <a:latin typeface="Times New Roman"/>
                        <a:ea typeface="Times New Roman"/>
                        <a:cs typeface="Times New Roman"/>
                        <a:sym typeface="Times New Roman"/>
                      </a:endParaRPr>
                    </a:p>
                  </a:txBody>
                  <a:tcPr marT="13725" marB="13725" marR="13725" marL="13725"/>
                </a:tc>
              </a:tr>
              <a:tr h="497950">
                <a:tc vMerge="1"/>
                <a:tc>
                  <a:txBody>
                    <a:bodyPr/>
                    <a:lstStyle/>
                    <a:p>
                      <a:pPr indent="0" lvl="0" marL="0" rtl="0" algn="just">
                        <a:lnSpc>
                          <a:spcPct val="115000"/>
                        </a:lnSpc>
                        <a:spcBef>
                          <a:spcPts val="0"/>
                        </a:spcBef>
                        <a:spcAft>
                          <a:spcPts val="0"/>
                        </a:spcAft>
                        <a:buNone/>
                      </a:pPr>
                      <a:r>
                        <a:rPr lang="en" sz="1800">
                          <a:latin typeface="Times New Roman"/>
                          <a:ea typeface="Times New Roman"/>
                          <a:cs typeface="Times New Roman"/>
                          <a:sym typeface="Times New Roman"/>
                        </a:rPr>
                        <a:t>Speaker’s view row</a:t>
                      </a:r>
                      <a:endParaRPr sz="1800">
                        <a:latin typeface="Times New Roman"/>
                        <a:ea typeface="Times New Roman"/>
                        <a:cs typeface="Times New Roman"/>
                        <a:sym typeface="Times New Roman"/>
                      </a:endParaRPr>
                    </a:p>
                  </a:txBody>
                  <a:tcPr marT="13725" marB="13725" marR="13725" marL="13725"/>
                </a:tc>
                <a:tc>
                  <a:txBody>
                    <a:bodyPr/>
                    <a:lstStyle/>
                    <a:p>
                      <a:pPr indent="0" lvl="0" marL="0" rtl="0" algn="just">
                        <a:lnSpc>
                          <a:spcPct val="115000"/>
                        </a:lnSpc>
                        <a:spcBef>
                          <a:spcPts val="0"/>
                        </a:spcBef>
                        <a:spcAft>
                          <a:spcPts val="0"/>
                        </a:spcAft>
                        <a:buNone/>
                      </a:pPr>
                      <a:r>
                        <a:rPr b="1" lang="en" sz="1800">
                          <a:latin typeface="Times New Roman"/>
                          <a:ea typeface="Times New Roman"/>
                          <a:cs typeface="Times New Roman"/>
                          <a:sym typeface="Times New Roman"/>
                        </a:rPr>
                        <a:t>informal</a:t>
                      </a:r>
                      <a:endParaRPr b="1" sz="1800">
                        <a:latin typeface="Times New Roman"/>
                        <a:ea typeface="Times New Roman"/>
                        <a:cs typeface="Times New Roman"/>
                        <a:sym typeface="Times New Roman"/>
                      </a:endParaRPr>
                    </a:p>
                  </a:txBody>
                  <a:tcPr marT="13725" marB="13725" marR="13725" marL="13725"/>
                </a:tc>
                <a:tc>
                  <a:txBody>
                    <a:bodyPr/>
                    <a:lstStyle/>
                    <a:p>
                      <a:pPr indent="0" lvl="0" marL="0" rtl="0" algn="just">
                        <a:lnSpc>
                          <a:spcPct val="115000"/>
                        </a:lnSpc>
                        <a:spcBef>
                          <a:spcPts val="0"/>
                        </a:spcBef>
                        <a:spcAft>
                          <a:spcPts val="0"/>
                        </a:spcAft>
                        <a:buNone/>
                      </a:pPr>
                      <a:r>
                        <a:t/>
                      </a:r>
                      <a:endParaRPr sz="1800">
                        <a:latin typeface="Times New Roman"/>
                        <a:ea typeface="Times New Roman"/>
                        <a:cs typeface="Times New Roman"/>
                        <a:sym typeface="Times New Roman"/>
                      </a:endParaRPr>
                    </a:p>
                  </a:txBody>
                  <a:tcPr marT="13725" marB="13725" marR="13725" marL="13725"/>
                </a:tc>
                <a:tc>
                  <a:txBody>
                    <a:bodyPr/>
                    <a:lstStyle/>
                    <a:p>
                      <a:pPr indent="0" lvl="0" marL="0" rtl="0" algn="just">
                        <a:lnSpc>
                          <a:spcPct val="115000"/>
                        </a:lnSpc>
                        <a:spcBef>
                          <a:spcPts val="0"/>
                        </a:spcBef>
                        <a:spcAft>
                          <a:spcPts val="0"/>
                        </a:spcAft>
                        <a:buNone/>
                      </a:pPr>
                      <a:r>
                        <a:t/>
                      </a:r>
                      <a:endParaRPr sz="1800">
                        <a:latin typeface="Times New Roman"/>
                        <a:ea typeface="Times New Roman"/>
                        <a:cs typeface="Times New Roman"/>
                        <a:sym typeface="Times New Roman"/>
                      </a:endParaRPr>
                    </a:p>
                  </a:txBody>
                  <a:tcPr marT="13725" marB="13725" marR="13725" marL="13725"/>
                </a:tc>
              </a:tr>
              <a:tr h="520600">
                <a:tc vMerge="1"/>
                <a:tc>
                  <a:txBody>
                    <a:bodyPr/>
                    <a:lstStyle/>
                    <a:p>
                      <a:pPr indent="0" lvl="0" marL="0" rtl="0" algn="just">
                        <a:lnSpc>
                          <a:spcPct val="115000"/>
                        </a:lnSpc>
                        <a:spcBef>
                          <a:spcPts val="0"/>
                        </a:spcBef>
                        <a:spcAft>
                          <a:spcPts val="0"/>
                        </a:spcAft>
                        <a:buNone/>
                      </a:pPr>
                      <a:r>
                        <a:rPr lang="en" sz="1800">
                          <a:latin typeface="Times New Roman"/>
                          <a:ea typeface="Times New Roman"/>
                          <a:cs typeface="Times New Roman"/>
                          <a:sym typeface="Times New Roman"/>
                        </a:rPr>
                        <a:t>Respect</a:t>
                      </a:r>
                      <a:endParaRPr sz="1800">
                        <a:latin typeface="Times New Roman"/>
                        <a:ea typeface="Times New Roman"/>
                        <a:cs typeface="Times New Roman"/>
                        <a:sym typeface="Times New Roman"/>
                      </a:endParaRPr>
                    </a:p>
                  </a:txBody>
                  <a:tcPr marT="13725" marB="13725" marR="13725" marL="13725"/>
                </a:tc>
                <a:tc gridSpan="3">
                  <a:txBody>
                    <a:bodyPr/>
                    <a:lstStyle/>
                    <a:p>
                      <a:pPr indent="0" lvl="0" marL="0" rtl="0" algn="just">
                        <a:lnSpc>
                          <a:spcPct val="115000"/>
                        </a:lnSpc>
                        <a:spcBef>
                          <a:spcPts val="0"/>
                        </a:spcBef>
                        <a:spcAft>
                          <a:spcPts val="0"/>
                        </a:spcAft>
                        <a:buNone/>
                      </a:pPr>
                      <a:r>
                        <a:rPr lang="en" sz="1800">
                          <a:latin typeface="Times New Roman"/>
                          <a:ea typeface="Times New Roman"/>
                          <a:cs typeface="Times New Roman"/>
                          <a:sym typeface="Times New Roman"/>
                        </a:rPr>
                        <a:t> # आप कहाँ रहते हैं? # āpa kahā rahate haiṃ?</a:t>
                      </a:r>
                      <a:endParaRPr sz="1800">
                        <a:latin typeface="Times New Roman"/>
                        <a:ea typeface="Times New Roman"/>
                        <a:cs typeface="Times New Roman"/>
                        <a:sym typeface="Times New Roman"/>
                      </a:endParaRPr>
                    </a:p>
                  </a:txBody>
                  <a:tcPr marT="13725" marB="13725" marR="13725" marL="13725"/>
                </a:tc>
                <a:tc hMerge="1"/>
                <a:tc hMerge="1"/>
              </a:tr>
              <a:tr h="565850">
                <a:tc vMerge="1"/>
                <a:tc>
                  <a:txBody>
                    <a:bodyPr/>
                    <a:lstStyle/>
                    <a:p>
                      <a:pPr indent="0" lvl="0" marL="0" rtl="0" algn="just">
                        <a:lnSpc>
                          <a:spcPct val="115000"/>
                        </a:lnSpc>
                        <a:spcBef>
                          <a:spcPts val="0"/>
                        </a:spcBef>
                        <a:spcAft>
                          <a:spcPts val="0"/>
                        </a:spcAft>
                        <a:buNone/>
                      </a:pPr>
                      <a:r>
                        <a:rPr lang="en" sz="1800">
                          <a:latin typeface="Times New Roman"/>
                          <a:ea typeface="Times New Roman"/>
                          <a:cs typeface="Times New Roman"/>
                          <a:sym typeface="Times New Roman"/>
                        </a:rPr>
                        <a:t>Concept</a:t>
                      </a:r>
                      <a:endParaRPr sz="1800">
                        <a:latin typeface="Times New Roman"/>
                        <a:ea typeface="Times New Roman"/>
                        <a:cs typeface="Times New Roman"/>
                        <a:sym typeface="Times New Roman"/>
                      </a:endParaRPr>
                    </a:p>
                  </a:txBody>
                  <a:tcPr marT="13725" marB="13725" marR="13725" marL="13725"/>
                </a:tc>
                <a:tc>
                  <a:txBody>
                    <a:bodyPr/>
                    <a:lstStyle/>
                    <a:p>
                      <a:pPr indent="0" lvl="0" marL="0" rtl="0" algn="just">
                        <a:lnSpc>
                          <a:spcPct val="115000"/>
                        </a:lnSpc>
                        <a:spcBef>
                          <a:spcPts val="0"/>
                        </a:spcBef>
                        <a:spcAft>
                          <a:spcPts val="0"/>
                        </a:spcAft>
                        <a:buNone/>
                      </a:pPr>
                      <a:r>
                        <a:rPr lang="en" sz="1800">
                          <a:latin typeface="Times New Roman"/>
                          <a:ea typeface="Times New Roman"/>
                          <a:cs typeface="Times New Roman"/>
                          <a:sym typeface="Times New Roman"/>
                        </a:rPr>
                        <a:t>addressee</a:t>
                      </a:r>
                      <a:endParaRPr sz="1800">
                        <a:latin typeface="Times New Roman"/>
                        <a:ea typeface="Times New Roman"/>
                        <a:cs typeface="Times New Roman"/>
                        <a:sym typeface="Times New Roman"/>
                      </a:endParaRPr>
                    </a:p>
                  </a:txBody>
                  <a:tcPr marT="13725" marB="13725" marR="13725" marL="13725"/>
                </a:tc>
                <a:tc>
                  <a:txBody>
                    <a:bodyPr/>
                    <a:lstStyle/>
                    <a:p>
                      <a:pPr indent="0" lvl="0" marL="0" rtl="0" algn="just">
                        <a:lnSpc>
                          <a:spcPct val="115000"/>
                        </a:lnSpc>
                        <a:spcBef>
                          <a:spcPts val="0"/>
                        </a:spcBef>
                        <a:spcAft>
                          <a:spcPts val="0"/>
                        </a:spcAft>
                        <a:buNone/>
                      </a:pPr>
                      <a:r>
                        <a:rPr lang="en" sz="1800">
                          <a:latin typeface="Times New Roman"/>
                          <a:ea typeface="Times New Roman"/>
                          <a:cs typeface="Times New Roman"/>
                          <a:sym typeface="Times New Roman"/>
                        </a:rPr>
                        <a:t>kim</a:t>
                      </a:r>
                      <a:endParaRPr sz="1800">
                        <a:latin typeface="Times New Roman"/>
                        <a:ea typeface="Times New Roman"/>
                        <a:cs typeface="Times New Roman"/>
                        <a:sym typeface="Times New Roman"/>
                      </a:endParaRPr>
                    </a:p>
                  </a:txBody>
                  <a:tcPr marT="13725" marB="13725" marR="13725" marL="13725"/>
                </a:tc>
                <a:tc>
                  <a:txBody>
                    <a:bodyPr/>
                    <a:lstStyle/>
                    <a:p>
                      <a:pPr indent="0" lvl="0" marL="0" rtl="0" algn="just">
                        <a:lnSpc>
                          <a:spcPct val="115000"/>
                        </a:lnSpc>
                        <a:spcBef>
                          <a:spcPts val="0"/>
                        </a:spcBef>
                        <a:spcAft>
                          <a:spcPts val="0"/>
                        </a:spcAft>
                        <a:buNone/>
                      </a:pPr>
                      <a:r>
                        <a:rPr lang="en" sz="1800">
                          <a:latin typeface="Times New Roman"/>
                          <a:ea typeface="Times New Roman"/>
                          <a:cs typeface="Times New Roman"/>
                          <a:sym typeface="Times New Roman"/>
                        </a:rPr>
                        <a:t>raha_1-tā_hai_1</a:t>
                      </a:r>
                      <a:endParaRPr sz="1800">
                        <a:latin typeface="Times New Roman"/>
                        <a:ea typeface="Times New Roman"/>
                        <a:cs typeface="Times New Roman"/>
                        <a:sym typeface="Times New Roman"/>
                      </a:endParaRPr>
                    </a:p>
                  </a:txBody>
                  <a:tcPr marT="13725" marB="13725" marR="13725" marL="13725"/>
                </a:tc>
              </a:tr>
              <a:tr h="565850">
                <a:tc vMerge="1"/>
                <a:tc>
                  <a:txBody>
                    <a:bodyPr/>
                    <a:lstStyle/>
                    <a:p>
                      <a:pPr indent="0" lvl="0" marL="0" rtl="0" algn="just">
                        <a:lnSpc>
                          <a:spcPct val="115000"/>
                        </a:lnSpc>
                        <a:spcBef>
                          <a:spcPts val="0"/>
                        </a:spcBef>
                        <a:spcAft>
                          <a:spcPts val="0"/>
                        </a:spcAft>
                        <a:buNone/>
                      </a:pPr>
                      <a:r>
                        <a:rPr lang="en" sz="1800">
                          <a:latin typeface="Times New Roman"/>
                          <a:ea typeface="Times New Roman"/>
                          <a:cs typeface="Times New Roman"/>
                          <a:sym typeface="Times New Roman"/>
                        </a:rPr>
                        <a:t>Speaker’s view row</a:t>
                      </a:r>
                      <a:endParaRPr sz="1800">
                        <a:latin typeface="Times New Roman"/>
                        <a:ea typeface="Times New Roman"/>
                        <a:cs typeface="Times New Roman"/>
                        <a:sym typeface="Times New Roman"/>
                      </a:endParaRPr>
                    </a:p>
                  </a:txBody>
                  <a:tcPr marT="13725" marB="13725" marR="13725" marL="13725"/>
                </a:tc>
                <a:tc>
                  <a:txBody>
                    <a:bodyPr/>
                    <a:lstStyle/>
                    <a:p>
                      <a:pPr indent="0" lvl="0" marL="0" rtl="0" algn="just">
                        <a:lnSpc>
                          <a:spcPct val="115000"/>
                        </a:lnSpc>
                        <a:spcBef>
                          <a:spcPts val="0"/>
                        </a:spcBef>
                        <a:spcAft>
                          <a:spcPts val="0"/>
                        </a:spcAft>
                        <a:buNone/>
                      </a:pPr>
                      <a:r>
                        <a:rPr b="1" lang="en" sz="1800">
                          <a:latin typeface="Times New Roman"/>
                          <a:ea typeface="Times New Roman"/>
                          <a:cs typeface="Times New Roman"/>
                          <a:sym typeface="Times New Roman"/>
                        </a:rPr>
                        <a:t>respect</a:t>
                      </a:r>
                      <a:endParaRPr b="1" sz="1800">
                        <a:latin typeface="Times New Roman"/>
                        <a:ea typeface="Times New Roman"/>
                        <a:cs typeface="Times New Roman"/>
                        <a:sym typeface="Times New Roman"/>
                      </a:endParaRPr>
                    </a:p>
                  </a:txBody>
                  <a:tcPr marT="13725" marB="13725" marR="13725" marL="13725"/>
                </a:tc>
                <a:tc>
                  <a:txBody>
                    <a:bodyPr/>
                    <a:lstStyle/>
                    <a:p>
                      <a:pPr indent="0" lvl="0" marL="0" rtl="0" algn="just">
                        <a:lnSpc>
                          <a:spcPct val="115000"/>
                        </a:lnSpc>
                        <a:spcBef>
                          <a:spcPts val="0"/>
                        </a:spcBef>
                        <a:spcAft>
                          <a:spcPts val="0"/>
                        </a:spcAft>
                        <a:buNone/>
                      </a:pPr>
                      <a:r>
                        <a:t/>
                      </a:r>
                      <a:endParaRPr sz="1800">
                        <a:latin typeface="Times New Roman"/>
                        <a:ea typeface="Times New Roman"/>
                        <a:cs typeface="Times New Roman"/>
                        <a:sym typeface="Times New Roman"/>
                      </a:endParaRPr>
                    </a:p>
                  </a:txBody>
                  <a:tcPr marT="13725" marB="13725" marR="13725" marL="13725"/>
                </a:tc>
                <a:tc>
                  <a:txBody>
                    <a:bodyPr/>
                    <a:lstStyle/>
                    <a:p>
                      <a:pPr indent="0" lvl="0" marL="0" rtl="0" algn="just">
                        <a:lnSpc>
                          <a:spcPct val="115000"/>
                        </a:lnSpc>
                        <a:spcBef>
                          <a:spcPts val="0"/>
                        </a:spcBef>
                        <a:spcAft>
                          <a:spcPts val="0"/>
                        </a:spcAft>
                        <a:buNone/>
                      </a:pPr>
                      <a:r>
                        <a:t/>
                      </a:r>
                      <a:endParaRPr sz="1800">
                        <a:latin typeface="Times New Roman"/>
                        <a:ea typeface="Times New Roman"/>
                        <a:cs typeface="Times New Roman"/>
                        <a:sym typeface="Times New Roman"/>
                      </a:endParaRPr>
                    </a:p>
                  </a:txBody>
                  <a:tcPr marT="13725" marB="13725" marR="13725" marL="13725"/>
                </a:tc>
              </a:tr>
            </a:tbl>
          </a:graphicData>
        </a:graphic>
      </p:graphicFrame>
      <p:sp>
        <p:nvSpPr>
          <p:cNvPr id="369" name="Google Shape;369;p63"/>
          <p:cNvSpPr txBox="1"/>
          <p:nvPr/>
        </p:nvSpPr>
        <p:spPr>
          <a:xfrm>
            <a:off x="316550" y="310025"/>
            <a:ext cx="7870800" cy="4227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1200"/>
              </a:spcBef>
              <a:spcAft>
                <a:spcPts val="400"/>
              </a:spcAft>
              <a:buNone/>
            </a:pPr>
            <a:r>
              <a:rPr b="1" lang="en" sz="2000">
                <a:solidFill>
                  <a:schemeClr val="accent1"/>
                </a:solidFill>
              </a:rPr>
              <a:t>Second person pronominal with speaker’s view information</a:t>
            </a:r>
            <a:endParaRPr b="1" sz="2000">
              <a:solidFill>
                <a:schemeClr val="accent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graphicFrame>
        <p:nvGraphicFramePr>
          <p:cNvPr id="374" name="Google Shape;374;p64"/>
          <p:cNvGraphicFramePr/>
          <p:nvPr/>
        </p:nvGraphicFramePr>
        <p:xfrm>
          <a:off x="33325" y="199350"/>
          <a:ext cx="3000000" cy="3000000"/>
        </p:xfrm>
        <a:graphic>
          <a:graphicData uri="http://schemas.openxmlformats.org/drawingml/2006/table">
            <a:tbl>
              <a:tblPr>
                <a:noFill/>
                <a:tableStyleId>{DF9678A1-FBC9-4738-A53A-9731423E04E4}</a:tableStyleId>
              </a:tblPr>
              <a:tblGrid>
                <a:gridCol w="1533525"/>
                <a:gridCol w="2743200"/>
                <a:gridCol w="4800600"/>
              </a:tblGrid>
              <a:tr h="190500">
                <a:tc>
                  <a:txBody>
                    <a:bodyPr/>
                    <a:lstStyle/>
                    <a:p>
                      <a:pPr indent="0" lvl="0" marL="0" rtl="0" algn="ctr">
                        <a:lnSpc>
                          <a:spcPct val="115000"/>
                        </a:lnSpc>
                        <a:spcBef>
                          <a:spcPts val="0"/>
                        </a:spcBef>
                        <a:spcAft>
                          <a:spcPts val="0"/>
                        </a:spcAft>
                        <a:buNone/>
                      </a:pPr>
                      <a:r>
                        <a:rPr b="1" lang="en" sz="1500">
                          <a:latin typeface="Times New Roman"/>
                          <a:ea typeface="Times New Roman"/>
                          <a:cs typeface="Times New Roman"/>
                          <a:sym typeface="Times New Roman"/>
                        </a:rPr>
                        <a:t>Category</a:t>
                      </a:r>
                      <a:endParaRPr b="1" sz="15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Times New Roman"/>
                          <a:ea typeface="Times New Roman"/>
                          <a:cs typeface="Times New Roman"/>
                          <a:sym typeface="Times New Roman"/>
                        </a:rPr>
                        <a:t>Annotation Tag</a:t>
                      </a:r>
                      <a:endParaRPr b="1" sz="15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Times New Roman"/>
                          <a:ea typeface="Times New Roman"/>
                          <a:cs typeface="Times New Roman"/>
                          <a:sym typeface="Times New Roman"/>
                        </a:rPr>
                        <a:t>Example</a:t>
                      </a:r>
                      <a:endParaRPr b="1" sz="15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1475">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Discourse Particle</a:t>
                      </a:r>
                      <a:endParaRPr sz="15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hI_1, hI_2, BI_1 etc.</a:t>
                      </a:r>
                      <a:endParaRPr sz="15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500">
                          <a:latin typeface="Times New Roman"/>
                          <a:ea typeface="Times New Roman"/>
                          <a:cs typeface="Times New Roman"/>
                          <a:sym typeface="Times New Roman"/>
                        </a:rPr>
                        <a:t>sūrya camakatā bhī hai.</a:t>
                      </a:r>
                      <a:r>
                        <a:rPr lang="en" sz="1500">
                          <a:latin typeface="Times New Roman"/>
                          <a:ea typeface="Times New Roman"/>
                          <a:cs typeface="Times New Roman"/>
                          <a:sym typeface="Times New Roman"/>
                        </a:rPr>
                        <a:t>‘The Sun shines too.’</a:t>
                      </a:r>
                      <a:endParaRPr sz="15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1475">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Definiteness</a:t>
                      </a:r>
                      <a:endParaRPr sz="15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def</a:t>
                      </a:r>
                      <a:endParaRPr sz="15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#beṭoṃ ko kheta meṃ bīja bonā cāhie.‘The boys should sow the seed in the field.’</a:t>
                      </a:r>
                      <a:endParaRPr sz="15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1475">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Light Verb or raMjaka kriyā</a:t>
                      </a:r>
                      <a:endParaRPr sz="15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Shade followed by string of the verb-root and concept ID</a:t>
                      </a:r>
                      <a:endParaRPr sz="15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500">
                          <a:latin typeface="Times New Roman"/>
                          <a:ea typeface="Times New Roman"/>
                          <a:cs typeface="Times New Roman"/>
                          <a:sym typeface="Times New Roman"/>
                        </a:rPr>
                        <a:t>ramaṇa sārā miṭhāī khā liyā.</a:t>
                      </a:r>
                      <a:r>
                        <a:rPr lang="en" sz="1500">
                          <a:latin typeface="Times New Roman"/>
                          <a:ea typeface="Times New Roman"/>
                          <a:cs typeface="Times New Roman"/>
                          <a:sym typeface="Times New Roman"/>
                        </a:rPr>
                        <a:t>‘Raman has eaten all sweets completely.’</a:t>
                      </a:r>
                      <a:endParaRPr sz="15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1475">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2nd person pronominal forms</a:t>
                      </a:r>
                      <a:endParaRPr sz="15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Respect- āpa, informal- tū</a:t>
                      </a:r>
                      <a:endParaRPr sz="15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500">
                          <a:latin typeface="Times New Roman"/>
                          <a:ea typeface="Times New Roman"/>
                          <a:cs typeface="Times New Roman"/>
                          <a:sym typeface="Times New Roman"/>
                        </a:rPr>
                        <a:t>tū kahāṃ rahatā hai?</a:t>
                      </a:r>
                      <a:r>
                        <a:rPr lang="en" sz="1500">
                          <a:latin typeface="Times New Roman"/>
                          <a:ea typeface="Times New Roman"/>
                          <a:cs typeface="Times New Roman"/>
                          <a:sym typeface="Times New Roman"/>
                        </a:rPr>
                        <a:t>‘Where do you stay?’</a:t>
                      </a:r>
                      <a:r>
                        <a:rPr b="1" lang="en" sz="1500">
                          <a:latin typeface="Times New Roman"/>
                          <a:ea typeface="Times New Roman"/>
                          <a:cs typeface="Times New Roman"/>
                          <a:sym typeface="Times New Roman"/>
                        </a:rPr>
                        <a:t>āpa kahāṃ rahate haiṃ?</a:t>
                      </a:r>
                      <a:r>
                        <a:rPr lang="en" sz="1500">
                          <a:latin typeface="Times New Roman"/>
                          <a:ea typeface="Times New Roman"/>
                          <a:cs typeface="Times New Roman"/>
                          <a:sym typeface="Times New Roman"/>
                        </a:rPr>
                        <a:t>‘Where do you stay?’</a:t>
                      </a:r>
                      <a:endParaRPr sz="15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1475">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Salutation marker</a:t>
                      </a:r>
                      <a:endParaRPr sz="15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respect</a:t>
                      </a:r>
                      <a:endParaRPr sz="15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500">
                          <a:latin typeface="Times New Roman"/>
                          <a:ea typeface="Times New Roman"/>
                          <a:cs typeface="Times New Roman"/>
                          <a:sym typeface="Times New Roman"/>
                        </a:rPr>
                        <a:t>pradhānamaṃtrī jī abhī āe haiṃ.</a:t>
                      </a:r>
                      <a:r>
                        <a:rPr lang="en" sz="1500">
                          <a:latin typeface="Times New Roman"/>
                          <a:ea typeface="Times New Roman"/>
                          <a:cs typeface="Times New Roman"/>
                          <a:sym typeface="Times New Roman"/>
                        </a:rPr>
                        <a:t>‘The honorable prime minister has just arrived.’</a:t>
                      </a:r>
                      <a:endParaRPr sz="15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1475">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Deixis</a:t>
                      </a:r>
                      <a:endParaRPr sz="15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proximal and distal</a:t>
                      </a:r>
                      <a:endParaRPr sz="15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500">
                          <a:latin typeface="Times New Roman"/>
                          <a:ea typeface="Times New Roman"/>
                          <a:cs typeface="Times New Roman"/>
                          <a:sym typeface="Times New Roman"/>
                        </a:rPr>
                        <a:t>yaha kursī hai.</a:t>
                      </a:r>
                      <a:r>
                        <a:rPr lang="en" sz="1500">
                          <a:latin typeface="Times New Roman"/>
                          <a:ea typeface="Times New Roman"/>
                          <a:cs typeface="Times New Roman"/>
                          <a:sym typeface="Times New Roman"/>
                        </a:rPr>
                        <a:t>‘This is a chair</a:t>
                      </a:r>
                      <a:endParaRPr sz="1500">
                        <a:latin typeface="Times New Roman"/>
                        <a:ea typeface="Times New Roman"/>
                        <a:cs typeface="Times New Roman"/>
                        <a:sym typeface="Times New Roman"/>
                      </a:endParaRPr>
                    </a:p>
                    <a:p>
                      <a:pPr indent="0" lvl="0" marL="0" rtl="0" algn="l">
                        <a:spcBef>
                          <a:spcPts val="0"/>
                        </a:spcBef>
                        <a:spcAft>
                          <a:spcPts val="0"/>
                        </a:spcAft>
                        <a:buNone/>
                      </a:pPr>
                      <a:r>
                        <a:rPr lang="en" sz="1500">
                          <a:latin typeface="Times New Roman"/>
                          <a:ea typeface="Times New Roman"/>
                          <a:cs typeface="Times New Roman"/>
                          <a:sym typeface="Times New Roman"/>
                        </a:rPr>
                        <a:t>’</a:t>
                      </a:r>
                      <a:r>
                        <a:rPr b="1" lang="en" sz="1500">
                          <a:latin typeface="Times New Roman"/>
                          <a:ea typeface="Times New Roman"/>
                          <a:cs typeface="Times New Roman"/>
                          <a:sym typeface="Times New Roman"/>
                        </a:rPr>
                        <a:t>vahāṁ kala bārish hui.</a:t>
                      </a:r>
                      <a:r>
                        <a:rPr lang="en" sz="1500">
                          <a:latin typeface="Times New Roman"/>
                          <a:ea typeface="Times New Roman"/>
                          <a:cs typeface="Times New Roman"/>
                          <a:sym typeface="Times New Roman"/>
                        </a:rPr>
                        <a:t>‘It rained there yesterday.’</a:t>
                      </a:r>
                      <a:endParaRPr sz="1500">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65"/>
          <p:cNvSpPr txBox="1"/>
          <p:nvPr>
            <p:ph idx="1" type="body"/>
          </p:nvPr>
        </p:nvSpPr>
        <p:spPr>
          <a:xfrm>
            <a:off x="391725" y="637700"/>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200">
                <a:solidFill>
                  <a:srgbClr val="A23C33"/>
                </a:solidFill>
                <a:latin typeface="Arial"/>
                <a:ea typeface="Arial"/>
                <a:cs typeface="Arial"/>
                <a:sym typeface="Arial"/>
              </a:rPr>
              <a:t>    </a:t>
            </a:r>
            <a:r>
              <a:rPr b="1" lang="en" sz="2000">
                <a:solidFill>
                  <a:srgbClr val="A23C33"/>
                </a:solidFill>
                <a:latin typeface="Arial"/>
                <a:ea typeface="Arial"/>
                <a:cs typeface="Arial"/>
                <a:sym typeface="Arial"/>
              </a:rPr>
              <a:t>Summary</a:t>
            </a:r>
            <a:endParaRPr b="1" sz="2000">
              <a:solidFill>
                <a:srgbClr val="A23C33"/>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layer</a:t>
            </a:r>
            <a:r>
              <a:rPr lang="en">
                <a:solidFill>
                  <a:srgbClr val="000000"/>
                </a:solidFill>
                <a:latin typeface="Arial"/>
                <a:ea typeface="Arial"/>
                <a:cs typeface="Arial"/>
                <a:sym typeface="Arial"/>
              </a:rPr>
              <a:t> 8 enriches the Universal Semantic Representation by providing a comprehensive view of the speaker's intentions and the linguistic elements used to convey their perspective in different languages and contexts.</a:t>
            </a:r>
            <a:endParaRPr>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It plays a vital role in capturing the subjectivity of the speaker and the emotions conveyed in the discourse.</a:t>
            </a:r>
            <a:endParaRPr>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66"/>
          <p:cNvSpPr txBox="1"/>
          <p:nvPr>
            <p:ph type="title"/>
          </p:nvPr>
        </p:nvSpPr>
        <p:spPr>
          <a:xfrm>
            <a:off x="3387975" y="913875"/>
            <a:ext cx="1864800" cy="9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layer</a:t>
            </a:r>
            <a:r>
              <a:rPr lang="en"/>
              <a:t>-10</a:t>
            </a:r>
            <a:endParaRPr/>
          </a:p>
        </p:txBody>
      </p:sp>
      <p:sp>
        <p:nvSpPr>
          <p:cNvPr id="385" name="Google Shape;385;p66"/>
          <p:cNvSpPr txBox="1"/>
          <p:nvPr/>
        </p:nvSpPr>
        <p:spPr>
          <a:xfrm>
            <a:off x="3072675" y="1587375"/>
            <a:ext cx="2864400" cy="720600"/>
          </a:xfrm>
          <a:prstGeom prst="rect">
            <a:avLst/>
          </a:prstGeom>
          <a:noFill/>
          <a:ln>
            <a:noFill/>
          </a:ln>
        </p:spPr>
        <p:txBody>
          <a:bodyPr anchorCtr="0" anchor="t" bIns="91425" lIns="91425" spcFirstLastPara="1" rIns="91425" wrap="square" tIns="91425">
            <a:noAutofit/>
          </a:bodyPr>
          <a:lstStyle/>
          <a:p>
            <a:pPr indent="0" lvl="0" marL="0" rtl="0" algn="l">
              <a:lnSpc>
                <a:spcPct val="934090"/>
              </a:lnSpc>
              <a:spcBef>
                <a:spcPts val="1200"/>
              </a:spcBef>
              <a:spcAft>
                <a:spcPts val="0"/>
              </a:spcAft>
              <a:buNone/>
            </a:pPr>
            <a:r>
              <a:rPr lang="en" sz="2000">
                <a:solidFill>
                  <a:srgbClr val="262626"/>
                </a:solidFill>
              </a:rPr>
              <a:t>SENTENCE TYPES</a:t>
            </a:r>
            <a:endParaRPr sz="2000">
              <a:solidFill>
                <a:srgbClr val="262626"/>
              </a:solidFill>
            </a:endParaRPr>
          </a:p>
          <a:p>
            <a:pPr indent="0" lvl="0" marL="0" rtl="0" algn="l">
              <a:spcBef>
                <a:spcPts val="1200"/>
              </a:spcBef>
              <a:spcAft>
                <a:spcPts val="0"/>
              </a:spcAft>
              <a:buNone/>
            </a:pPr>
            <a:r>
              <a:t/>
            </a:r>
            <a:endParaRPr sz="2000">
              <a:solidFill>
                <a:srgbClr val="262626"/>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67"/>
          <p:cNvSpPr txBox="1"/>
          <p:nvPr>
            <p:ph type="title"/>
          </p:nvPr>
        </p:nvSpPr>
        <p:spPr>
          <a:xfrm>
            <a:off x="0" y="335975"/>
            <a:ext cx="6301200" cy="1035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2000">
                <a:latin typeface="Arial"/>
                <a:ea typeface="Arial"/>
                <a:cs typeface="Arial"/>
                <a:sym typeface="Arial"/>
              </a:rPr>
              <a:t>INTRODUCTION</a:t>
            </a:r>
            <a:endParaRPr sz="2000">
              <a:latin typeface="Arial"/>
              <a:ea typeface="Arial"/>
              <a:cs typeface="Arial"/>
              <a:sym typeface="Arial"/>
            </a:endParaRPr>
          </a:p>
        </p:txBody>
      </p:sp>
      <p:sp>
        <p:nvSpPr>
          <p:cNvPr id="391" name="Google Shape;391;p67"/>
          <p:cNvSpPr txBox="1"/>
          <p:nvPr>
            <p:ph idx="1" type="body"/>
          </p:nvPr>
        </p:nvSpPr>
        <p:spPr>
          <a:xfrm>
            <a:off x="0" y="1257125"/>
            <a:ext cx="8630100" cy="2933700"/>
          </a:xfrm>
          <a:prstGeom prst="rect">
            <a:avLst/>
          </a:prstGeom>
        </p:spPr>
        <p:txBody>
          <a:bodyPr anchorCtr="0" anchor="t" bIns="91425" lIns="91425" spcFirstLastPara="1" rIns="91425" wrap="square" tIns="91425">
            <a:noAutofit/>
          </a:bodyPr>
          <a:lstStyle/>
          <a:p>
            <a:pPr indent="-342900" lvl="0" marL="457200" rtl="0" algn="l">
              <a:lnSpc>
                <a:spcPct val="95000"/>
              </a:lnSpc>
              <a:spcBef>
                <a:spcPts val="0"/>
              </a:spcBef>
              <a:spcAft>
                <a:spcPts val="0"/>
              </a:spcAft>
              <a:buClr>
                <a:srgbClr val="262626"/>
              </a:buClr>
              <a:buSzPts val="1800"/>
              <a:buFont typeface="Arial"/>
              <a:buChar char="●"/>
            </a:pPr>
            <a:r>
              <a:rPr lang="en">
                <a:solidFill>
                  <a:srgbClr val="262626"/>
                </a:solidFill>
                <a:latin typeface="Arial"/>
                <a:ea typeface="Arial"/>
                <a:cs typeface="Arial"/>
                <a:sym typeface="Arial"/>
              </a:rPr>
              <a:t>In USRs, maintaining the target sentence type aids ease of generation.</a:t>
            </a:r>
            <a:endParaRPr>
              <a:solidFill>
                <a:srgbClr val="262626"/>
              </a:solidFill>
              <a:latin typeface="Arial"/>
              <a:ea typeface="Arial"/>
              <a:cs typeface="Arial"/>
              <a:sym typeface="Arial"/>
            </a:endParaRPr>
          </a:p>
          <a:p>
            <a:pPr indent="0" lvl="0" marL="457200" rtl="0" algn="l">
              <a:lnSpc>
                <a:spcPct val="95000"/>
              </a:lnSpc>
              <a:spcBef>
                <a:spcPts val="1200"/>
              </a:spcBef>
              <a:spcAft>
                <a:spcPts val="0"/>
              </a:spcAft>
              <a:buNone/>
            </a:pPr>
            <a:r>
              <a:t/>
            </a:r>
            <a:endParaRPr>
              <a:solidFill>
                <a:srgbClr val="262626"/>
              </a:solidFill>
              <a:latin typeface="Arial"/>
              <a:ea typeface="Arial"/>
              <a:cs typeface="Arial"/>
              <a:sym typeface="Arial"/>
            </a:endParaRPr>
          </a:p>
          <a:p>
            <a:pPr indent="-342900" lvl="0" marL="457200" rtl="0" algn="l">
              <a:lnSpc>
                <a:spcPct val="95000"/>
              </a:lnSpc>
              <a:spcBef>
                <a:spcPts val="1200"/>
              </a:spcBef>
              <a:spcAft>
                <a:spcPts val="0"/>
              </a:spcAft>
              <a:buClr>
                <a:srgbClr val="262626"/>
              </a:buClr>
              <a:buSzPts val="1800"/>
              <a:buFont typeface="Arial"/>
              <a:buChar char="●"/>
            </a:pPr>
            <a:r>
              <a:rPr lang="en">
                <a:solidFill>
                  <a:srgbClr val="262626"/>
                </a:solidFill>
                <a:latin typeface="Arial"/>
                <a:ea typeface="Arial"/>
                <a:cs typeface="Arial"/>
                <a:sym typeface="Arial"/>
              </a:rPr>
              <a:t>Sentence type information is specified in the 10th </a:t>
            </a:r>
            <a:r>
              <a:rPr lang="en">
                <a:solidFill>
                  <a:srgbClr val="262626"/>
                </a:solidFill>
                <a:latin typeface="Arial"/>
                <a:ea typeface="Arial"/>
                <a:cs typeface="Arial"/>
                <a:sym typeface="Arial"/>
              </a:rPr>
              <a:t>layer</a:t>
            </a:r>
            <a:r>
              <a:rPr lang="en">
                <a:solidFill>
                  <a:srgbClr val="262626"/>
                </a:solidFill>
                <a:latin typeface="Arial"/>
                <a:ea typeface="Arial"/>
                <a:cs typeface="Arial"/>
                <a:sym typeface="Arial"/>
              </a:rPr>
              <a:t>.</a:t>
            </a:r>
            <a:endParaRPr>
              <a:solidFill>
                <a:srgbClr val="262626"/>
              </a:solidFill>
              <a:latin typeface="Arial"/>
              <a:ea typeface="Arial"/>
              <a:cs typeface="Arial"/>
              <a:sym typeface="Arial"/>
            </a:endParaRPr>
          </a:p>
          <a:p>
            <a:pPr indent="0" lvl="0" marL="457200" rtl="0" algn="l">
              <a:lnSpc>
                <a:spcPct val="95000"/>
              </a:lnSpc>
              <a:spcBef>
                <a:spcPts val="1200"/>
              </a:spcBef>
              <a:spcAft>
                <a:spcPts val="0"/>
              </a:spcAft>
              <a:buNone/>
            </a:pPr>
            <a:r>
              <a:t/>
            </a:r>
            <a:endParaRPr>
              <a:solidFill>
                <a:srgbClr val="262626"/>
              </a:solidFill>
              <a:latin typeface="Arial"/>
              <a:ea typeface="Arial"/>
              <a:cs typeface="Arial"/>
              <a:sym typeface="Arial"/>
            </a:endParaRPr>
          </a:p>
          <a:p>
            <a:pPr indent="-342900" lvl="0" marL="457200" rtl="0" algn="l">
              <a:lnSpc>
                <a:spcPct val="95000"/>
              </a:lnSpc>
              <a:spcBef>
                <a:spcPts val="1200"/>
              </a:spcBef>
              <a:spcAft>
                <a:spcPts val="0"/>
              </a:spcAft>
              <a:buClr>
                <a:srgbClr val="262626"/>
              </a:buClr>
              <a:buSzPts val="1800"/>
              <a:buFont typeface="Arial"/>
              <a:buChar char="●"/>
            </a:pPr>
            <a:r>
              <a:rPr lang="en">
                <a:solidFill>
                  <a:srgbClr val="262626"/>
                </a:solidFill>
                <a:latin typeface="Arial"/>
                <a:ea typeface="Arial"/>
                <a:cs typeface="Arial"/>
                <a:sym typeface="Arial"/>
              </a:rPr>
              <a:t>This slide discusses various sentence types with examples.</a:t>
            </a:r>
            <a:endParaRPr>
              <a:solidFill>
                <a:srgbClr val="262626"/>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68"/>
          <p:cNvSpPr txBox="1"/>
          <p:nvPr>
            <p:ph type="title"/>
          </p:nvPr>
        </p:nvSpPr>
        <p:spPr>
          <a:xfrm>
            <a:off x="311700" y="345925"/>
            <a:ext cx="3999900" cy="707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0" lang="en" sz="2000">
                <a:solidFill>
                  <a:srgbClr val="040506"/>
                </a:solidFill>
                <a:latin typeface="Arial"/>
                <a:ea typeface="Arial"/>
                <a:cs typeface="Arial"/>
                <a:sym typeface="Arial"/>
              </a:rPr>
              <a:t>        </a:t>
            </a:r>
            <a:r>
              <a:rPr b="0" lang="en" sz="2000">
                <a:solidFill>
                  <a:srgbClr val="040506"/>
                </a:solidFill>
                <a:latin typeface="Arial"/>
                <a:ea typeface="Arial"/>
                <a:cs typeface="Arial"/>
                <a:sym typeface="Arial"/>
              </a:rPr>
              <a:t>Affirmative Sentences</a:t>
            </a:r>
            <a:endParaRPr b="0" sz="2000">
              <a:solidFill>
                <a:schemeClr val="dk2"/>
              </a:solidFill>
              <a:latin typeface="Open Sans"/>
              <a:ea typeface="Open Sans"/>
              <a:cs typeface="Open Sans"/>
              <a:sym typeface="Open Sans"/>
            </a:endParaRPr>
          </a:p>
          <a:p>
            <a:pPr indent="0" lvl="0" marL="0" rtl="0" algn="l">
              <a:spcBef>
                <a:spcPts val="1200"/>
              </a:spcBef>
              <a:spcAft>
                <a:spcPts val="0"/>
              </a:spcAft>
              <a:buNone/>
            </a:pPr>
            <a:r>
              <a:t/>
            </a:r>
            <a:endParaRPr b="0" sz="2000">
              <a:solidFill>
                <a:srgbClr val="040506"/>
              </a:solidFill>
              <a:latin typeface="Arial"/>
              <a:ea typeface="Arial"/>
              <a:cs typeface="Arial"/>
              <a:sym typeface="Arial"/>
            </a:endParaRPr>
          </a:p>
        </p:txBody>
      </p:sp>
      <p:sp>
        <p:nvSpPr>
          <p:cNvPr id="397" name="Google Shape;397;p68"/>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solidFill>
                  <a:srgbClr val="397D5A"/>
                </a:solidFill>
                <a:latin typeface="Arial"/>
                <a:ea typeface="Arial"/>
                <a:cs typeface="Arial"/>
                <a:sym typeface="Arial"/>
              </a:rPr>
              <a:t>DEFINTITION</a:t>
            </a:r>
            <a:endParaRPr b="1" sz="1800">
              <a:solidFill>
                <a:srgbClr val="397D5A"/>
              </a:solidFill>
              <a:latin typeface="Arial"/>
              <a:ea typeface="Arial"/>
              <a:cs typeface="Arial"/>
              <a:sym typeface="Arial"/>
            </a:endParaRPr>
          </a:p>
          <a:p>
            <a:pPr indent="0" lvl="0" marL="0" rtl="0" algn="l">
              <a:spcBef>
                <a:spcPts val="1200"/>
              </a:spcBef>
              <a:spcAft>
                <a:spcPts val="0"/>
              </a:spcAft>
              <a:buNone/>
            </a:pPr>
            <a:r>
              <a:rPr lang="en" sz="1800">
                <a:solidFill>
                  <a:srgbClr val="231F20"/>
                </a:solidFill>
                <a:latin typeface="Arial"/>
                <a:ea typeface="Arial"/>
                <a:cs typeface="Arial"/>
                <a:sym typeface="Arial"/>
              </a:rPr>
              <a:t>Affirmative sentences make statements or declarations.</a:t>
            </a:r>
            <a:endParaRPr sz="1800">
              <a:solidFill>
                <a:srgbClr val="231F20"/>
              </a:solidFill>
              <a:latin typeface="Arial"/>
              <a:ea typeface="Arial"/>
              <a:cs typeface="Arial"/>
              <a:sym typeface="Arial"/>
            </a:endParaRPr>
          </a:p>
          <a:p>
            <a:pPr indent="0" lvl="0" marL="0" rtl="0" algn="l">
              <a:spcBef>
                <a:spcPts val="1200"/>
              </a:spcBef>
              <a:spcAft>
                <a:spcPts val="0"/>
              </a:spcAft>
              <a:buNone/>
            </a:pPr>
            <a:r>
              <a:rPr b="1" lang="en" sz="1800">
                <a:solidFill>
                  <a:srgbClr val="397D5A"/>
                </a:solidFill>
                <a:latin typeface="Arial"/>
                <a:ea typeface="Arial"/>
                <a:cs typeface="Arial"/>
                <a:sym typeface="Arial"/>
              </a:rPr>
              <a:t>EXAMPLE</a:t>
            </a:r>
            <a:endParaRPr b="1" sz="1800">
              <a:solidFill>
                <a:srgbClr val="397D5A"/>
              </a:solidFill>
              <a:latin typeface="Arial"/>
              <a:ea typeface="Arial"/>
              <a:cs typeface="Arial"/>
              <a:sym typeface="Arial"/>
            </a:endParaRPr>
          </a:p>
          <a:p>
            <a:pPr indent="-342900" lvl="0" marL="457200" rtl="0" algn="l">
              <a:spcBef>
                <a:spcPts val="1200"/>
              </a:spcBef>
              <a:spcAft>
                <a:spcPts val="0"/>
              </a:spcAft>
              <a:buClr>
                <a:srgbClr val="000000"/>
              </a:buClr>
              <a:buSzPts val="1800"/>
              <a:buFont typeface="Arial"/>
              <a:buChar char="●"/>
            </a:pPr>
            <a:r>
              <a:rPr lang="en" sz="1800">
                <a:solidFill>
                  <a:srgbClr val="231F20"/>
                </a:solidFill>
                <a:latin typeface="Arial"/>
                <a:ea typeface="Arial"/>
                <a:cs typeface="Arial"/>
                <a:sym typeface="Arial"/>
              </a:rPr>
              <a:t>Sentence Type: Affirmative</a:t>
            </a:r>
            <a:endParaRPr sz="1800">
              <a:solidFill>
                <a:srgbClr val="231F2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sz="1800">
                <a:solidFill>
                  <a:srgbClr val="231F20"/>
                </a:solidFill>
                <a:latin typeface="Arial"/>
                <a:ea typeface="Arial"/>
                <a:cs typeface="Arial"/>
                <a:sym typeface="Arial"/>
              </a:rPr>
              <a:t>Example: "ramā cāvala khātī hai"</a:t>
            </a:r>
            <a:endParaRPr sz="1800">
              <a:solidFill>
                <a:srgbClr val="231F2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sz="1800">
                <a:solidFill>
                  <a:srgbClr val="231F20"/>
                </a:solidFill>
                <a:latin typeface="Arial"/>
                <a:ea typeface="Arial"/>
                <a:cs typeface="Arial"/>
                <a:sym typeface="Arial"/>
              </a:rPr>
              <a:t>Translation: "Rama eats rice."</a:t>
            </a:r>
            <a:endParaRPr sz="1800">
              <a:solidFill>
                <a:srgbClr val="231F20"/>
              </a:solidFill>
              <a:latin typeface="Arial"/>
              <a:ea typeface="Arial"/>
              <a:cs typeface="Arial"/>
              <a:sym typeface="Arial"/>
            </a:endParaRPr>
          </a:p>
          <a:p>
            <a:pPr indent="0" lvl="0" marL="0" rtl="0" algn="l">
              <a:spcBef>
                <a:spcPts val="1200"/>
              </a:spcBef>
              <a:spcAft>
                <a:spcPts val="1200"/>
              </a:spcAft>
              <a:buNone/>
            </a:pPr>
            <a:r>
              <a:t/>
            </a:r>
            <a:endParaRPr b="1" sz="1800">
              <a:solidFill>
                <a:srgbClr val="397D5A"/>
              </a:solidFill>
              <a:latin typeface="Arial"/>
              <a:ea typeface="Arial"/>
              <a:cs typeface="Arial"/>
              <a:sym typeface="Arial"/>
            </a:endParaRPr>
          </a:p>
        </p:txBody>
      </p:sp>
      <p:sp>
        <p:nvSpPr>
          <p:cNvPr id="398" name="Google Shape;398;p68"/>
          <p:cNvSpPr txBox="1"/>
          <p:nvPr>
            <p:ph idx="2" type="body"/>
          </p:nvPr>
        </p:nvSpPr>
        <p:spPr>
          <a:xfrm>
            <a:off x="4832400" y="1266175"/>
            <a:ext cx="39999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397D5A"/>
                </a:solidFill>
                <a:latin typeface="Arial"/>
                <a:ea typeface="Arial"/>
                <a:cs typeface="Arial"/>
                <a:sym typeface="Arial"/>
              </a:rPr>
              <a:t>DEFINTITION</a:t>
            </a:r>
            <a:endParaRPr sz="1800">
              <a:solidFill>
                <a:srgbClr val="231F20"/>
              </a:solidFill>
              <a:latin typeface="Arial"/>
              <a:ea typeface="Arial"/>
              <a:cs typeface="Arial"/>
              <a:sym typeface="Arial"/>
            </a:endParaRPr>
          </a:p>
          <a:p>
            <a:pPr indent="0" lvl="0" marL="0" rtl="0" algn="l">
              <a:spcBef>
                <a:spcPts val="1200"/>
              </a:spcBef>
              <a:spcAft>
                <a:spcPts val="0"/>
              </a:spcAft>
              <a:buNone/>
            </a:pPr>
            <a:r>
              <a:rPr lang="en" sz="1800">
                <a:solidFill>
                  <a:srgbClr val="231F20"/>
                </a:solidFill>
                <a:latin typeface="Arial"/>
                <a:ea typeface="Arial"/>
                <a:cs typeface="Arial"/>
                <a:sym typeface="Arial"/>
              </a:rPr>
              <a:t>Affirmative sentences make statements or declarations.</a:t>
            </a:r>
            <a:endParaRPr sz="1800">
              <a:solidFill>
                <a:srgbClr val="231F20"/>
              </a:solidFill>
              <a:latin typeface="Arial"/>
              <a:ea typeface="Arial"/>
              <a:cs typeface="Arial"/>
              <a:sym typeface="Arial"/>
            </a:endParaRPr>
          </a:p>
          <a:p>
            <a:pPr indent="0" lvl="0" marL="0" rtl="0" algn="l">
              <a:spcBef>
                <a:spcPts val="1200"/>
              </a:spcBef>
              <a:spcAft>
                <a:spcPts val="0"/>
              </a:spcAft>
              <a:buNone/>
            </a:pPr>
            <a:r>
              <a:rPr b="1" lang="en" sz="1800">
                <a:solidFill>
                  <a:srgbClr val="397D5A"/>
                </a:solidFill>
                <a:latin typeface="Arial"/>
                <a:ea typeface="Arial"/>
                <a:cs typeface="Arial"/>
                <a:sym typeface="Arial"/>
              </a:rPr>
              <a:t>EXAMPLE</a:t>
            </a:r>
            <a:endParaRPr sz="1800">
              <a:solidFill>
                <a:srgbClr val="231F20"/>
              </a:solidFill>
              <a:latin typeface="Arial"/>
              <a:ea typeface="Arial"/>
              <a:cs typeface="Arial"/>
              <a:sym typeface="Arial"/>
            </a:endParaRPr>
          </a:p>
          <a:p>
            <a:pPr indent="-342900" lvl="0" marL="457200" rtl="0" algn="l">
              <a:spcBef>
                <a:spcPts val="1200"/>
              </a:spcBef>
              <a:spcAft>
                <a:spcPts val="0"/>
              </a:spcAft>
              <a:buClr>
                <a:srgbClr val="000000"/>
              </a:buClr>
              <a:buSzPts val="1800"/>
              <a:buFont typeface="Arial"/>
              <a:buChar char="●"/>
            </a:pPr>
            <a:r>
              <a:rPr lang="en" sz="1800">
                <a:solidFill>
                  <a:srgbClr val="231F20"/>
                </a:solidFill>
                <a:latin typeface="Arial"/>
                <a:ea typeface="Arial"/>
                <a:cs typeface="Arial"/>
                <a:sym typeface="Arial"/>
              </a:rPr>
              <a:t>Sentence Type: Negative</a:t>
            </a:r>
            <a:endParaRPr sz="1800">
              <a:solidFill>
                <a:srgbClr val="231F2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sz="1800">
                <a:solidFill>
                  <a:srgbClr val="231F20"/>
                </a:solidFill>
                <a:latin typeface="Arial"/>
                <a:ea typeface="Arial"/>
                <a:cs typeface="Arial"/>
                <a:sym typeface="Arial"/>
              </a:rPr>
              <a:t>Example: "rāma cāvala nahīṃ khātā hai"</a:t>
            </a:r>
            <a:endParaRPr sz="1800">
              <a:solidFill>
                <a:srgbClr val="231F2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sz="1800">
                <a:solidFill>
                  <a:srgbClr val="231F20"/>
                </a:solidFill>
                <a:latin typeface="Arial"/>
                <a:ea typeface="Arial"/>
                <a:cs typeface="Arial"/>
                <a:sym typeface="Arial"/>
              </a:rPr>
              <a:t>Translation: "Ram does not eat rice."</a:t>
            </a:r>
            <a:endParaRPr sz="1800">
              <a:solidFill>
                <a:srgbClr val="231F20"/>
              </a:solidFill>
              <a:latin typeface="Arial"/>
              <a:ea typeface="Arial"/>
              <a:cs typeface="Arial"/>
              <a:sym typeface="Arial"/>
            </a:endParaRPr>
          </a:p>
        </p:txBody>
      </p:sp>
      <p:sp>
        <p:nvSpPr>
          <p:cNvPr id="399" name="Google Shape;399;p68"/>
          <p:cNvSpPr txBox="1"/>
          <p:nvPr>
            <p:ph type="title"/>
          </p:nvPr>
        </p:nvSpPr>
        <p:spPr>
          <a:xfrm>
            <a:off x="4832400" y="345925"/>
            <a:ext cx="39999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000">
                <a:solidFill>
                  <a:srgbClr val="040506"/>
                </a:solidFill>
                <a:latin typeface="Arial"/>
                <a:ea typeface="Arial"/>
                <a:cs typeface="Arial"/>
                <a:sym typeface="Arial"/>
              </a:rPr>
              <a:t>             Negative Sentences</a:t>
            </a:r>
            <a:endParaRPr sz="2000"/>
          </a:p>
        </p:txBody>
      </p:sp>
      <p:cxnSp>
        <p:nvCxnSpPr>
          <p:cNvPr id="400" name="Google Shape;400;p68"/>
          <p:cNvCxnSpPr/>
          <p:nvPr/>
        </p:nvCxnSpPr>
        <p:spPr>
          <a:xfrm>
            <a:off x="4500775" y="659550"/>
            <a:ext cx="4200" cy="38244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9"/>
          <p:cNvSpPr txBox="1"/>
          <p:nvPr>
            <p:ph type="title"/>
          </p:nvPr>
        </p:nvSpPr>
        <p:spPr>
          <a:xfrm>
            <a:off x="311700" y="345925"/>
            <a:ext cx="39999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000">
                <a:solidFill>
                  <a:srgbClr val="040506"/>
                </a:solidFill>
                <a:latin typeface="Arial"/>
                <a:ea typeface="Arial"/>
                <a:cs typeface="Arial"/>
                <a:sym typeface="Arial"/>
              </a:rPr>
              <a:t>Yes-No Interrogative Sentences</a:t>
            </a:r>
            <a:endParaRPr b="0" sz="2000">
              <a:solidFill>
                <a:srgbClr val="040506"/>
              </a:solidFill>
              <a:latin typeface="Arial"/>
              <a:ea typeface="Arial"/>
              <a:cs typeface="Arial"/>
              <a:sym typeface="Arial"/>
            </a:endParaRPr>
          </a:p>
        </p:txBody>
      </p:sp>
      <p:sp>
        <p:nvSpPr>
          <p:cNvPr id="406" name="Google Shape;406;p69"/>
          <p:cNvSpPr txBox="1"/>
          <p:nvPr>
            <p:ph idx="1" type="body"/>
          </p:nvPr>
        </p:nvSpPr>
        <p:spPr>
          <a:xfrm>
            <a:off x="311700" y="1266175"/>
            <a:ext cx="39999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397D5A"/>
                </a:solidFill>
                <a:latin typeface="Arial"/>
                <a:ea typeface="Arial"/>
                <a:cs typeface="Arial"/>
                <a:sym typeface="Arial"/>
              </a:rPr>
              <a:t>DEFINTITION</a:t>
            </a:r>
            <a:endParaRPr b="1" sz="1800">
              <a:solidFill>
                <a:srgbClr val="397D5A"/>
              </a:solidFill>
              <a:latin typeface="Arial"/>
              <a:ea typeface="Arial"/>
              <a:cs typeface="Arial"/>
              <a:sym typeface="Arial"/>
            </a:endParaRPr>
          </a:p>
          <a:p>
            <a:pPr indent="0" lvl="0" marL="0" rtl="0" algn="l">
              <a:spcBef>
                <a:spcPts val="1200"/>
              </a:spcBef>
              <a:spcAft>
                <a:spcPts val="0"/>
              </a:spcAft>
              <a:buNone/>
            </a:pPr>
            <a:r>
              <a:rPr lang="en" sz="1800">
                <a:solidFill>
                  <a:srgbClr val="231F20"/>
                </a:solidFill>
                <a:latin typeface="Arial"/>
                <a:ea typeface="Arial"/>
                <a:cs typeface="Arial"/>
                <a:sym typeface="Arial"/>
              </a:rPr>
              <a:t>Yes-No interrogative sentences pose questions that can be answered with 'yes' or 'no'.</a:t>
            </a:r>
            <a:endParaRPr sz="1800">
              <a:solidFill>
                <a:srgbClr val="231F20"/>
              </a:solidFill>
              <a:latin typeface="Arial"/>
              <a:ea typeface="Arial"/>
              <a:cs typeface="Arial"/>
              <a:sym typeface="Arial"/>
            </a:endParaRPr>
          </a:p>
          <a:p>
            <a:pPr indent="0" lvl="0" marL="0" rtl="0" algn="l">
              <a:spcBef>
                <a:spcPts val="1200"/>
              </a:spcBef>
              <a:spcAft>
                <a:spcPts val="0"/>
              </a:spcAft>
              <a:buNone/>
            </a:pPr>
            <a:r>
              <a:rPr b="1" lang="en" sz="1800">
                <a:solidFill>
                  <a:srgbClr val="397D5A"/>
                </a:solidFill>
                <a:latin typeface="Arial"/>
                <a:ea typeface="Arial"/>
                <a:cs typeface="Arial"/>
                <a:sym typeface="Arial"/>
              </a:rPr>
              <a:t>EXAMPLE</a:t>
            </a:r>
            <a:endParaRPr b="1" sz="1800">
              <a:solidFill>
                <a:srgbClr val="397D5A"/>
              </a:solidFill>
              <a:latin typeface="Arial"/>
              <a:ea typeface="Arial"/>
              <a:cs typeface="Arial"/>
              <a:sym typeface="Arial"/>
            </a:endParaRPr>
          </a:p>
          <a:p>
            <a:pPr indent="-342900" lvl="0" marL="457200" rtl="0" algn="l">
              <a:spcBef>
                <a:spcPts val="1200"/>
              </a:spcBef>
              <a:spcAft>
                <a:spcPts val="0"/>
              </a:spcAft>
              <a:buClr>
                <a:srgbClr val="000000"/>
              </a:buClr>
              <a:buSzPts val="1800"/>
              <a:buFont typeface="Arial"/>
              <a:buChar char="●"/>
            </a:pPr>
            <a:r>
              <a:rPr lang="en" sz="1800">
                <a:solidFill>
                  <a:srgbClr val="231F20"/>
                </a:solidFill>
                <a:latin typeface="Arial"/>
                <a:ea typeface="Arial"/>
                <a:cs typeface="Arial"/>
                <a:sym typeface="Arial"/>
              </a:rPr>
              <a:t>Sentence Type: yn_interrogative</a:t>
            </a:r>
            <a:endParaRPr sz="1800">
              <a:solidFill>
                <a:srgbClr val="231F2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sz="1800">
                <a:solidFill>
                  <a:srgbClr val="231F20"/>
                </a:solidFill>
                <a:latin typeface="Arial"/>
                <a:ea typeface="Arial"/>
                <a:cs typeface="Arial"/>
                <a:sym typeface="Arial"/>
              </a:rPr>
              <a:t>Example: "kyā āpane cāvala khāyā?"</a:t>
            </a:r>
            <a:endParaRPr sz="1800">
              <a:solidFill>
                <a:srgbClr val="231F2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sz="1800">
                <a:solidFill>
                  <a:srgbClr val="231F20"/>
                </a:solidFill>
                <a:latin typeface="Arial"/>
                <a:ea typeface="Arial"/>
                <a:cs typeface="Arial"/>
                <a:sym typeface="Arial"/>
              </a:rPr>
              <a:t>Translation: "Did you eat rice?"</a:t>
            </a:r>
            <a:endParaRPr sz="1800">
              <a:solidFill>
                <a:srgbClr val="231F20"/>
              </a:solidFill>
              <a:latin typeface="Arial"/>
              <a:ea typeface="Arial"/>
              <a:cs typeface="Arial"/>
              <a:sym typeface="Arial"/>
            </a:endParaRPr>
          </a:p>
          <a:p>
            <a:pPr indent="0" lvl="0" marL="0" rtl="0" algn="l">
              <a:spcBef>
                <a:spcPts val="1200"/>
              </a:spcBef>
              <a:spcAft>
                <a:spcPts val="1200"/>
              </a:spcAft>
              <a:buNone/>
            </a:pPr>
            <a:r>
              <a:t/>
            </a:r>
            <a:endParaRPr b="1" sz="1800">
              <a:solidFill>
                <a:srgbClr val="397D5A"/>
              </a:solidFill>
              <a:latin typeface="Arial"/>
              <a:ea typeface="Arial"/>
              <a:cs typeface="Arial"/>
              <a:sym typeface="Arial"/>
            </a:endParaRPr>
          </a:p>
        </p:txBody>
      </p:sp>
      <p:sp>
        <p:nvSpPr>
          <p:cNvPr id="407" name="Google Shape;407;p69"/>
          <p:cNvSpPr txBox="1"/>
          <p:nvPr>
            <p:ph idx="2" type="body"/>
          </p:nvPr>
        </p:nvSpPr>
        <p:spPr>
          <a:xfrm>
            <a:off x="4832400" y="1266175"/>
            <a:ext cx="39999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397D5A"/>
                </a:solidFill>
                <a:latin typeface="Arial"/>
                <a:ea typeface="Arial"/>
                <a:cs typeface="Arial"/>
                <a:sym typeface="Arial"/>
              </a:rPr>
              <a:t>DEFINTITION</a:t>
            </a:r>
            <a:endParaRPr sz="1800">
              <a:solidFill>
                <a:srgbClr val="231F20"/>
              </a:solidFill>
              <a:latin typeface="Arial"/>
              <a:ea typeface="Arial"/>
              <a:cs typeface="Arial"/>
              <a:sym typeface="Arial"/>
            </a:endParaRPr>
          </a:p>
          <a:p>
            <a:pPr indent="0" lvl="0" marL="0" rtl="0" algn="l">
              <a:spcBef>
                <a:spcPts val="1200"/>
              </a:spcBef>
              <a:spcAft>
                <a:spcPts val="0"/>
              </a:spcAft>
              <a:buNone/>
            </a:pPr>
            <a:r>
              <a:rPr lang="en" sz="1800">
                <a:solidFill>
                  <a:srgbClr val="231F20"/>
                </a:solidFill>
                <a:latin typeface="Arial"/>
                <a:ea typeface="Arial"/>
                <a:cs typeface="Arial"/>
                <a:sym typeface="Arial"/>
              </a:rPr>
              <a:t>Wh-interrogative sentences ask questions that require more elaborate answers.</a:t>
            </a:r>
            <a:endParaRPr sz="1800">
              <a:solidFill>
                <a:srgbClr val="231F20"/>
              </a:solidFill>
              <a:latin typeface="Arial"/>
              <a:ea typeface="Arial"/>
              <a:cs typeface="Arial"/>
              <a:sym typeface="Arial"/>
            </a:endParaRPr>
          </a:p>
          <a:p>
            <a:pPr indent="0" lvl="0" marL="0" rtl="0" algn="l">
              <a:spcBef>
                <a:spcPts val="1200"/>
              </a:spcBef>
              <a:spcAft>
                <a:spcPts val="0"/>
              </a:spcAft>
              <a:buNone/>
            </a:pPr>
            <a:r>
              <a:rPr b="1" lang="en" sz="1800">
                <a:solidFill>
                  <a:srgbClr val="397D5A"/>
                </a:solidFill>
                <a:latin typeface="Arial"/>
                <a:ea typeface="Arial"/>
                <a:cs typeface="Arial"/>
                <a:sym typeface="Arial"/>
              </a:rPr>
              <a:t>EXAMPLE</a:t>
            </a:r>
            <a:endParaRPr sz="1800">
              <a:solidFill>
                <a:srgbClr val="231F20"/>
              </a:solidFill>
              <a:latin typeface="Arial"/>
              <a:ea typeface="Arial"/>
              <a:cs typeface="Arial"/>
              <a:sym typeface="Arial"/>
            </a:endParaRPr>
          </a:p>
          <a:p>
            <a:pPr indent="-342900" lvl="0" marL="457200" rtl="0" algn="l">
              <a:spcBef>
                <a:spcPts val="1200"/>
              </a:spcBef>
              <a:spcAft>
                <a:spcPts val="0"/>
              </a:spcAft>
              <a:buClr>
                <a:srgbClr val="000000"/>
              </a:buClr>
              <a:buSzPts val="1800"/>
              <a:buFont typeface="Arial"/>
              <a:buChar char="●"/>
            </a:pPr>
            <a:r>
              <a:rPr lang="en" sz="1800">
                <a:solidFill>
                  <a:srgbClr val="231F20"/>
                </a:solidFill>
                <a:latin typeface="Arial"/>
                <a:ea typeface="Arial"/>
                <a:cs typeface="Arial"/>
                <a:sym typeface="Arial"/>
              </a:rPr>
              <a:t>Sentence Type: interrogative</a:t>
            </a:r>
            <a:endParaRPr sz="1800">
              <a:solidFill>
                <a:srgbClr val="231F2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sz="1800">
                <a:solidFill>
                  <a:srgbClr val="231F20"/>
                </a:solidFill>
                <a:latin typeface="Arial"/>
                <a:ea typeface="Arial"/>
                <a:cs typeface="Arial"/>
                <a:sym typeface="Arial"/>
              </a:rPr>
              <a:t>Example: "tumane cāvala kyoṃ khāe?"</a:t>
            </a:r>
            <a:endParaRPr sz="1800">
              <a:solidFill>
                <a:srgbClr val="231F2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sz="1800">
                <a:solidFill>
                  <a:srgbClr val="231F20"/>
                </a:solidFill>
                <a:latin typeface="Arial"/>
                <a:ea typeface="Arial"/>
                <a:cs typeface="Arial"/>
                <a:sym typeface="Arial"/>
              </a:rPr>
              <a:t>Translation: "Why did you eat rice? </a:t>
            </a:r>
            <a:endParaRPr sz="1800">
              <a:solidFill>
                <a:srgbClr val="231F20"/>
              </a:solidFill>
              <a:latin typeface="Arial"/>
              <a:ea typeface="Arial"/>
              <a:cs typeface="Arial"/>
              <a:sym typeface="Arial"/>
            </a:endParaRPr>
          </a:p>
        </p:txBody>
      </p:sp>
      <p:sp>
        <p:nvSpPr>
          <p:cNvPr id="408" name="Google Shape;408;p69"/>
          <p:cNvSpPr txBox="1"/>
          <p:nvPr>
            <p:ph type="title"/>
          </p:nvPr>
        </p:nvSpPr>
        <p:spPr>
          <a:xfrm>
            <a:off x="4832400" y="345925"/>
            <a:ext cx="39999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1950">
                <a:solidFill>
                  <a:srgbClr val="040506"/>
                </a:solidFill>
                <a:latin typeface="Arial"/>
                <a:ea typeface="Arial"/>
                <a:cs typeface="Arial"/>
                <a:sym typeface="Arial"/>
              </a:rPr>
              <a:t>Wh-Interrogative Sentences</a:t>
            </a:r>
            <a:endParaRPr sz="1950"/>
          </a:p>
        </p:txBody>
      </p:sp>
      <p:cxnSp>
        <p:nvCxnSpPr>
          <p:cNvPr id="409" name="Google Shape;409;p69"/>
          <p:cNvCxnSpPr/>
          <p:nvPr/>
        </p:nvCxnSpPr>
        <p:spPr>
          <a:xfrm>
            <a:off x="4500775" y="659550"/>
            <a:ext cx="4200" cy="38244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70"/>
          <p:cNvSpPr txBox="1"/>
          <p:nvPr>
            <p:ph type="title"/>
          </p:nvPr>
        </p:nvSpPr>
        <p:spPr>
          <a:xfrm>
            <a:off x="311700" y="345925"/>
            <a:ext cx="39999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000">
                <a:solidFill>
                  <a:srgbClr val="040506"/>
                </a:solidFill>
                <a:latin typeface="Arial"/>
                <a:ea typeface="Arial"/>
                <a:cs typeface="Arial"/>
                <a:sym typeface="Arial"/>
              </a:rPr>
              <a:t>         Imperative Sentences</a:t>
            </a:r>
            <a:endParaRPr b="0" sz="2000">
              <a:solidFill>
                <a:srgbClr val="040506"/>
              </a:solidFill>
              <a:latin typeface="Arial"/>
              <a:ea typeface="Arial"/>
              <a:cs typeface="Arial"/>
              <a:sym typeface="Arial"/>
            </a:endParaRPr>
          </a:p>
        </p:txBody>
      </p:sp>
      <p:sp>
        <p:nvSpPr>
          <p:cNvPr id="415" name="Google Shape;415;p70"/>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solidFill>
                  <a:srgbClr val="397D5A"/>
                </a:solidFill>
                <a:latin typeface="Arial"/>
                <a:ea typeface="Arial"/>
                <a:cs typeface="Arial"/>
                <a:sym typeface="Arial"/>
              </a:rPr>
              <a:t>DEFINTITION</a:t>
            </a:r>
            <a:endParaRPr b="1" sz="1800">
              <a:solidFill>
                <a:srgbClr val="397D5A"/>
              </a:solidFill>
              <a:latin typeface="Arial"/>
              <a:ea typeface="Arial"/>
              <a:cs typeface="Arial"/>
              <a:sym typeface="Arial"/>
            </a:endParaRPr>
          </a:p>
          <a:p>
            <a:pPr indent="0" lvl="0" marL="0" rtl="0" algn="l">
              <a:spcBef>
                <a:spcPts val="1200"/>
              </a:spcBef>
              <a:spcAft>
                <a:spcPts val="0"/>
              </a:spcAft>
              <a:buNone/>
            </a:pPr>
            <a:r>
              <a:rPr lang="en" sz="1800">
                <a:solidFill>
                  <a:srgbClr val="231F20"/>
                </a:solidFill>
                <a:latin typeface="Arial"/>
                <a:ea typeface="Arial"/>
                <a:cs typeface="Arial"/>
                <a:sym typeface="Arial"/>
              </a:rPr>
              <a:t>Imperative sentences give commands or instructions.</a:t>
            </a:r>
            <a:endParaRPr sz="1800">
              <a:solidFill>
                <a:srgbClr val="231F20"/>
              </a:solidFill>
              <a:latin typeface="Arial"/>
              <a:ea typeface="Arial"/>
              <a:cs typeface="Arial"/>
              <a:sym typeface="Arial"/>
            </a:endParaRPr>
          </a:p>
          <a:p>
            <a:pPr indent="0" lvl="0" marL="0" rtl="0" algn="l">
              <a:spcBef>
                <a:spcPts val="1200"/>
              </a:spcBef>
              <a:spcAft>
                <a:spcPts val="0"/>
              </a:spcAft>
              <a:buNone/>
            </a:pPr>
            <a:r>
              <a:rPr b="1" lang="en" sz="1800">
                <a:solidFill>
                  <a:srgbClr val="397D5A"/>
                </a:solidFill>
                <a:latin typeface="Arial"/>
                <a:ea typeface="Arial"/>
                <a:cs typeface="Arial"/>
                <a:sym typeface="Arial"/>
              </a:rPr>
              <a:t>EXAMPLE</a:t>
            </a:r>
            <a:endParaRPr b="1" sz="1800">
              <a:solidFill>
                <a:srgbClr val="397D5A"/>
              </a:solidFill>
              <a:latin typeface="Arial"/>
              <a:ea typeface="Arial"/>
              <a:cs typeface="Arial"/>
              <a:sym typeface="Arial"/>
            </a:endParaRPr>
          </a:p>
          <a:p>
            <a:pPr indent="-342900" lvl="0" marL="457200" rtl="0" algn="l">
              <a:spcBef>
                <a:spcPts val="1200"/>
              </a:spcBef>
              <a:spcAft>
                <a:spcPts val="0"/>
              </a:spcAft>
              <a:buClr>
                <a:srgbClr val="000000"/>
              </a:buClr>
              <a:buSzPts val="1800"/>
              <a:buFont typeface="Arial"/>
              <a:buChar char="●"/>
            </a:pPr>
            <a:r>
              <a:rPr lang="en" sz="1800">
                <a:solidFill>
                  <a:srgbClr val="231F20"/>
                </a:solidFill>
                <a:latin typeface="Arial"/>
                <a:ea typeface="Arial"/>
                <a:cs typeface="Arial"/>
                <a:sym typeface="Arial"/>
              </a:rPr>
              <a:t>Sentence Type: imperative</a:t>
            </a:r>
            <a:endParaRPr sz="1800">
              <a:solidFill>
                <a:srgbClr val="231F2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sz="1800">
                <a:solidFill>
                  <a:srgbClr val="231F20"/>
                </a:solidFill>
                <a:latin typeface="Arial"/>
                <a:ea typeface="Arial"/>
                <a:cs typeface="Arial"/>
                <a:sym typeface="Arial"/>
              </a:rPr>
              <a:t>Example: "āpa ghara jāo"</a:t>
            </a:r>
            <a:endParaRPr sz="1800">
              <a:solidFill>
                <a:srgbClr val="231F2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sz="1800">
                <a:solidFill>
                  <a:srgbClr val="231F20"/>
                </a:solidFill>
                <a:latin typeface="Arial"/>
                <a:ea typeface="Arial"/>
                <a:cs typeface="Arial"/>
                <a:sym typeface="Arial"/>
              </a:rPr>
              <a:t>Translation: "You go home."</a:t>
            </a:r>
            <a:endParaRPr sz="1800">
              <a:solidFill>
                <a:srgbClr val="231F20"/>
              </a:solidFill>
              <a:latin typeface="Arial"/>
              <a:ea typeface="Arial"/>
              <a:cs typeface="Arial"/>
              <a:sym typeface="Arial"/>
            </a:endParaRPr>
          </a:p>
          <a:p>
            <a:pPr indent="0" lvl="0" marL="0" rtl="0" algn="l">
              <a:spcBef>
                <a:spcPts val="1200"/>
              </a:spcBef>
              <a:spcAft>
                <a:spcPts val="1200"/>
              </a:spcAft>
              <a:buNone/>
            </a:pPr>
            <a:r>
              <a:t/>
            </a:r>
            <a:endParaRPr b="1" sz="1800">
              <a:solidFill>
                <a:srgbClr val="397D5A"/>
              </a:solidFill>
              <a:latin typeface="Arial"/>
              <a:ea typeface="Arial"/>
              <a:cs typeface="Arial"/>
              <a:sym typeface="Arial"/>
            </a:endParaRPr>
          </a:p>
        </p:txBody>
      </p:sp>
      <p:sp>
        <p:nvSpPr>
          <p:cNvPr id="416" name="Google Shape;416;p70"/>
          <p:cNvSpPr txBox="1"/>
          <p:nvPr>
            <p:ph idx="2" type="body"/>
          </p:nvPr>
        </p:nvSpPr>
        <p:spPr>
          <a:xfrm>
            <a:off x="4832400" y="1266175"/>
            <a:ext cx="39999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397D5A"/>
                </a:solidFill>
                <a:latin typeface="Arial"/>
                <a:ea typeface="Arial"/>
                <a:cs typeface="Arial"/>
                <a:sym typeface="Arial"/>
              </a:rPr>
              <a:t>DEFINTITION</a:t>
            </a:r>
            <a:endParaRPr sz="1800">
              <a:solidFill>
                <a:srgbClr val="231F20"/>
              </a:solidFill>
              <a:latin typeface="Arial"/>
              <a:ea typeface="Arial"/>
              <a:cs typeface="Arial"/>
              <a:sym typeface="Arial"/>
            </a:endParaRPr>
          </a:p>
          <a:p>
            <a:pPr indent="0" lvl="0" marL="0" rtl="0" algn="l">
              <a:spcBef>
                <a:spcPts val="1200"/>
              </a:spcBef>
              <a:spcAft>
                <a:spcPts val="0"/>
              </a:spcAft>
              <a:buNone/>
            </a:pPr>
            <a:r>
              <a:rPr lang="en" sz="1800">
                <a:solidFill>
                  <a:srgbClr val="231F20"/>
                </a:solidFill>
                <a:latin typeface="Arial"/>
                <a:ea typeface="Arial"/>
                <a:cs typeface="Arial"/>
                <a:sym typeface="Arial"/>
              </a:rPr>
              <a:t>Passive affirmative sentences emphasize the action's receiver rather than the doer.</a:t>
            </a:r>
            <a:endParaRPr sz="1800">
              <a:solidFill>
                <a:srgbClr val="231F20"/>
              </a:solidFill>
              <a:latin typeface="Arial"/>
              <a:ea typeface="Arial"/>
              <a:cs typeface="Arial"/>
              <a:sym typeface="Arial"/>
            </a:endParaRPr>
          </a:p>
          <a:p>
            <a:pPr indent="0" lvl="0" marL="0" rtl="0" algn="l">
              <a:spcBef>
                <a:spcPts val="1200"/>
              </a:spcBef>
              <a:spcAft>
                <a:spcPts val="0"/>
              </a:spcAft>
              <a:buNone/>
            </a:pPr>
            <a:r>
              <a:rPr b="1" lang="en" sz="1800">
                <a:solidFill>
                  <a:srgbClr val="397D5A"/>
                </a:solidFill>
                <a:latin typeface="Arial"/>
                <a:ea typeface="Arial"/>
                <a:cs typeface="Arial"/>
                <a:sym typeface="Arial"/>
              </a:rPr>
              <a:t>EXAMPLE</a:t>
            </a:r>
            <a:endParaRPr sz="1800">
              <a:solidFill>
                <a:srgbClr val="231F20"/>
              </a:solidFill>
              <a:latin typeface="Arial"/>
              <a:ea typeface="Arial"/>
              <a:cs typeface="Arial"/>
              <a:sym typeface="Arial"/>
            </a:endParaRPr>
          </a:p>
          <a:p>
            <a:pPr indent="-342900" lvl="0" marL="457200" rtl="0" algn="l">
              <a:spcBef>
                <a:spcPts val="1200"/>
              </a:spcBef>
              <a:spcAft>
                <a:spcPts val="0"/>
              </a:spcAft>
              <a:buClr>
                <a:srgbClr val="000000"/>
              </a:buClr>
              <a:buSzPts val="1800"/>
              <a:buFont typeface="Arial"/>
              <a:buChar char="●"/>
            </a:pPr>
            <a:r>
              <a:rPr lang="en" sz="1800">
                <a:solidFill>
                  <a:srgbClr val="231F20"/>
                </a:solidFill>
                <a:latin typeface="Arial"/>
                <a:ea typeface="Arial"/>
                <a:cs typeface="Arial"/>
                <a:sym typeface="Arial"/>
              </a:rPr>
              <a:t>Sentence Type: pass-affirmative</a:t>
            </a:r>
            <a:endParaRPr sz="1800">
              <a:solidFill>
                <a:srgbClr val="231F2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sz="1800">
                <a:solidFill>
                  <a:srgbClr val="231F20"/>
                </a:solidFill>
                <a:latin typeface="Arial"/>
                <a:ea typeface="Arial"/>
                <a:cs typeface="Arial"/>
                <a:sym typeface="Arial"/>
              </a:rPr>
              <a:t>Example: "rāma ke dvārā rāvaṇa kā vadha kiyā gayā thā"</a:t>
            </a:r>
            <a:endParaRPr sz="1800">
              <a:solidFill>
                <a:srgbClr val="231F2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sz="1800">
                <a:solidFill>
                  <a:srgbClr val="231F20"/>
                </a:solidFill>
                <a:latin typeface="Arial"/>
                <a:ea typeface="Arial"/>
                <a:cs typeface="Arial"/>
                <a:sym typeface="Arial"/>
              </a:rPr>
              <a:t>Translation: "Ravana was killed by Rama."</a:t>
            </a:r>
            <a:endParaRPr sz="1800">
              <a:solidFill>
                <a:srgbClr val="231F20"/>
              </a:solidFill>
              <a:latin typeface="Arial"/>
              <a:ea typeface="Arial"/>
              <a:cs typeface="Arial"/>
              <a:sym typeface="Arial"/>
            </a:endParaRPr>
          </a:p>
          <a:p>
            <a:pPr indent="0" lvl="0" marL="457200" rtl="0" algn="l">
              <a:spcBef>
                <a:spcPts val="1200"/>
              </a:spcBef>
              <a:spcAft>
                <a:spcPts val="1200"/>
              </a:spcAft>
              <a:buNone/>
            </a:pPr>
            <a:r>
              <a:t/>
            </a:r>
            <a:endParaRPr sz="1800">
              <a:solidFill>
                <a:srgbClr val="231F20"/>
              </a:solidFill>
              <a:latin typeface="Arial"/>
              <a:ea typeface="Arial"/>
              <a:cs typeface="Arial"/>
              <a:sym typeface="Arial"/>
            </a:endParaRPr>
          </a:p>
        </p:txBody>
      </p:sp>
      <p:sp>
        <p:nvSpPr>
          <p:cNvPr id="417" name="Google Shape;417;p70"/>
          <p:cNvSpPr txBox="1"/>
          <p:nvPr>
            <p:ph type="title"/>
          </p:nvPr>
        </p:nvSpPr>
        <p:spPr>
          <a:xfrm>
            <a:off x="4832400" y="345925"/>
            <a:ext cx="39999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1950">
                <a:solidFill>
                  <a:srgbClr val="040506"/>
                </a:solidFill>
                <a:latin typeface="Arial"/>
                <a:ea typeface="Arial"/>
                <a:cs typeface="Arial"/>
                <a:sym typeface="Arial"/>
              </a:rPr>
              <a:t>   Passive Affirmative Sentences</a:t>
            </a:r>
            <a:endParaRPr sz="1950"/>
          </a:p>
        </p:txBody>
      </p:sp>
      <p:cxnSp>
        <p:nvCxnSpPr>
          <p:cNvPr id="418" name="Google Shape;418;p70"/>
          <p:cNvCxnSpPr/>
          <p:nvPr/>
        </p:nvCxnSpPr>
        <p:spPr>
          <a:xfrm>
            <a:off x="4500775" y="659550"/>
            <a:ext cx="4200" cy="38244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71"/>
          <p:cNvSpPr txBox="1"/>
          <p:nvPr>
            <p:ph type="title"/>
          </p:nvPr>
        </p:nvSpPr>
        <p:spPr>
          <a:xfrm>
            <a:off x="311700" y="345925"/>
            <a:ext cx="39999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000">
                <a:solidFill>
                  <a:srgbClr val="040506"/>
                </a:solidFill>
                <a:latin typeface="Arial"/>
                <a:ea typeface="Arial"/>
                <a:cs typeface="Arial"/>
                <a:sym typeface="Arial"/>
              </a:rPr>
              <a:t>     Passive Negative Sentences</a:t>
            </a:r>
            <a:endParaRPr b="0" sz="2000">
              <a:solidFill>
                <a:srgbClr val="040506"/>
              </a:solidFill>
              <a:latin typeface="Arial"/>
              <a:ea typeface="Arial"/>
              <a:cs typeface="Arial"/>
              <a:sym typeface="Arial"/>
            </a:endParaRPr>
          </a:p>
        </p:txBody>
      </p:sp>
      <p:sp>
        <p:nvSpPr>
          <p:cNvPr id="424" name="Google Shape;424;p71"/>
          <p:cNvSpPr txBox="1"/>
          <p:nvPr>
            <p:ph idx="1" type="body"/>
          </p:nvPr>
        </p:nvSpPr>
        <p:spPr>
          <a:xfrm>
            <a:off x="311700" y="1266175"/>
            <a:ext cx="39999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397D5A"/>
                </a:solidFill>
                <a:latin typeface="Arial"/>
                <a:ea typeface="Arial"/>
                <a:cs typeface="Arial"/>
                <a:sym typeface="Arial"/>
              </a:rPr>
              <a:t>DEFINTITION</a:t>
            </a:r>
            <a:endParaRPr b="1" sz="1800">
              <a:solidFill>
                <a:srgbClr val="397D5A"/>
              </a:solidFill>
              <a:latin typeface="Arial"/>
              <a:ea typeface="Arial"/>
              <a:cs typeface="Arial"/>
              <a:sym typeface="Arial"/>
            </a:endParaRPr>
          </a:p>
          <a:p>
            <a:pPr indent="0" lvl="0" marL="0" rtl="0" algn="l">
              <a:spcBef>
                <a:spcPts val="1200"/>
              </a:spcBef>
              <a:spcAft>
                <a:spcPts val="0"/>
              </a:spcAft>
              <a:buNone/>
            </a:pPr>
            <a:r>
              <a:rPr lang="en" sz="1800">
                <a:solidFill>
                  <a:srgbClr val="231F20"/>
                </a:solidFill>
                <a:latin typeface="Arial"/>
                <a:ea typeface="Arial"/>
                <a:cs typeface="Arial"/>
                <a:sym typeface="Arial"/>
              </a:rPr>
              <a:t>Passive negative sentences negate the passive action's occurrence.</a:t>
            </a:r>
            <a:endParaRPr sz="1800">
              <a:solidFill>
                <a:srgbClr val="231F20"/>
              </a:solidFill>
              <a:latin typeface="Arial"/>
              <a:ea typeface="Arial"/>
              <a:cs typeface="Arial"/>
              <a:sym typeface="Arial"/>
            </a:endParaRPr>
          </a:p>
          <a:p>
            <a:pPr indent="0" lvl="0" marL="0" rtl="0" algn="l">
              <a:spcBef>
                <a:spcPts val="1200"/>
              </a:spcBef>
              <a:spcAft>
                <a:spcPts val="0"/>
              </a:spcAft>
              <a:buNone/>
            </a:pPr>
            <a:r>
              <a:rPr b="1" lang="en" sz="1800">
                <a:solidFill>
                  <a:srgbClr val="397D5A"/>
                </a:solidFill>
                <a:latin typeface="Arial"/>
                <a:ea typeface="Arial"/>
                <a:cs typeface="Arial"/>
                <a:sym typeface="Arial"/>
              </a:rPr>
              <a:t>EXAMPLE</a:t>
            </a:r>
            <a:endParaRPr b="1" sz="1800">
              <a:solidFill>
                <a:srgbClr val="397D5A"/>
              </a:solidFill>
              <a:latin typeface="Arial"/>
              <a:ea typeface="Arial"/>
              <a:cs typeface="Arial"/>
              <a:sym typeface="Arial"/>
            </a:endParaRPr>
          </a:p>
          <a:p>
            <a:pPr indent="-342900" lvl="0" marL="457200" rtl="0" algn="l">
              <a:spcBef>
                <a:spcPts val="1200"/>
              </a:spcBef>
              <a:spcAft>
                <a:spcPts val="0"/>
              </a:spcAft>
              <a:buClr>
                <a:srgbClr val="000000"/>
              </a:buClr>
              <a:buSzPts val="1800"/>
              <a:buFont typeface="Arial"/>
              <a:buChar char="●"/>
            </a:pPr>
            <a:r>
              <a:rPr lang="en" sz="1800">
                <a:solidFill>
                  <a:srgbClr val="231F20"/>
                </a:solidFill>
                <a:latin typeface="Arial"/>
                <a:ea typeface="Arial"/>
                <a:cs typeface="Arial"/>
                <a:sym typeface="Arial"/>
              </a:rPr>
              <a:t>Sentence Type: pass-negative</a:t>
            </a:r>
            <a:endParaRPr sz="1800">
              <a:solidFill>
                <a:srgbClr val="231F2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sz="1800">
                <a:solidFill>
                  <a:srgbClr val="231F20"/>
                </a:solidFill>
                <a:latin typeface="Arial"/>
                <a:ea typeface="Arial"/>
                <a:cs typeface="Arial"/>
                <a:sym typeface="Arial"/>
              </a:rPr>
              <a:t>Example: "rāma ke dvārā rāvaṇa kā vadha nahīṃ kiyā gayā thā"</a:t>
            </a:r>
            <a:endParaRPr sz="1800">
              <a:solidFill>
                <a:srgbClr val="231F2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sz="1800">
                <a:solidFill>
                  <a:srgbClr val="231F20"/>
                </a:solidFill>
                <a:latin typeface="Arial"/>
                <a:ea typeface="Arial"/>
                <a:cs typeface="Arial"/>
                <a:sym typeface="Arial"/>
              </a:rPr>
              <a:t>Translation: "Ravana was not killed by Rama."</a:t>
            </a:r>
            <a:endParaRPr sz="1800">
              <a:solidFill>
                <a:srgbClr val="231F20"/>
              </a:solidFill>
              <a:latin typeface="Arial"/>
              <a:ea typeface="Arial"/>
              <a:cs typeface="Arial"/>
              <a:sym typeface="Arial"/>
            </a:endParaRPr>
          </a:p>
          <a:p>
            <a:pPr indent="0" lvl="0" marL="0" rtl="0" algn="l">
              <a:spcBef>
                <a:spcPts val="1200"/>
              </a:spcBef>
              <a:spcAft>
                <a:spcPts val="1200"/>
              </a:spcAft>
              <a:buNone/>
            </a:pPr>
            <a:r>
              <a:t/>
            </a:r>
            <a:endParaRPr b="1" sz="1800">
              <a:solidFill>
                <a:srgbClr val="397D5A"/>
              </a:solidFill>
              <a:latin typeface="Arial"/>
              <a:ea typeface="Arial"/>
              <a:cs typeface="Arial"/>
              <a:sym typeface="Arial"/>
            </a:endParaRPr>
          </a:p>
        </p:txBody>
      </p:sp>
      <p:sp>
        <p:nvSpPr>
          <p:cNvPr id="425" name="Google Shape;425;p71"/>
          <p:cNvSpPr txBox="1"/>
          <p:nvPr>
            <p:ph idx="2" type="body"/>
          </p:nvPr>
        </p:nvSpPr>
        <p:spPr>
          <a:xfrm>
            <a:off x="4832400" y="1266175"/>
            <a:ext cx="39999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397D5A"/>
                </a:solidFill>
                <a:latin typeface="Arial"/>
                <a:ea typeface="Arial"/>
                <a:cs typeface="Arial"/>
                <a:sym typeface="Arial"/>
              </a:rPr>
              <a:t>DEFINTITION</a:t>
            </a:r>
            <a:endParaRPr sz="1800">
              <a:solidFill>
                <a:srgbClr val="231F20"/>
              </a:solidFill>
              <a:latin typeface="Arial"/>
              <a:ea typeface="Arial"/>
              <a:cs typeface="Arial"/>
              <a:sym typeface="Arial"/>
            </a:endParaRPr>
          </a:p>
          <a:p>
            <a:pPr indent="0" lvl="0" marL="0" rtl="0" algn="l">
              <a:spcBef>
                <a:spcPts val="1200"/>
              </a:spcBef>
              <a:spcAft>
                <a:spcPts val="0"/>
              </a:spcAft>
              <a:buNone/>
            </a:pPr>
            <a:r>
              <a:rPr lang="en" sz="1800">
                <a:solidFill>
                  <a:srgbClr val="231F20"/>
                </a:solidFill>
                <a:latin typeface="Arial"/>
                <a:ea typeface="Arial"/>
                <a:cs typeface="Arial"/>
                <a:sym typeface="Arial"/>
              </a:rPr>
              <a:t>Passive yes-no interrogatives question the reason behind a passive action.</a:t>
            </a:r>
            <a:endParaRPr sz="1800">
              <a:solidFill>
                <a:srgbClr val="231F20"/>
              </a:solidFill>
              <a:latin typeface="Arial"/>
              <a:ea typeface="Arial"/>
              <a:cs typeface="Arial"/>
              <a:sym typeface="Arial"/>
            </a:endParaRPr>
          </a:p>
          <a:p>
            <a:pPr indent="0" lvl="0" marL="0" rtl="0" algn="l">
              <a:spcBef>
                <a:spcPts val="1200"/>
              </a:spcBef>
              <a:spcAft>
                <a:spcPts val="0"/>
              </a:spcAft>
              <a:buNone/>
            </a:pPr>
            <a:r>
              <a:rPr b="1" lang="en" sz="1800">
                <a:solidFill>
                  <a:srgbClr val="397D5A"/>
                </a:solidFill>
                <a:latin typeface="Arial"/>
                <a:ea typeface="Arial"/>
                <a:cs typeface="Arial"/>
                <a:sym typeface="Arial"/>
              </a:rPr>
              <a:t>EXAMPLE</a:t>
            </a:r>
            <a:endParaRPr sz="1800">
              <a:solidFill>
                <a:srgbClr val="231F20"/>
              </a:solidFill>
              <a:latin typeface="Arial"/>
              <a:ea typeface="Arial"/>
              <a:cs typeface="Arial"/>
              <a:sym typeface="Arial"/>
            </a:endParaRPr>
          </a:p>
          <a:p>
            <a:pPr indent="-342900" lvl="0" marL="457200" rtl="0" algn="l">
              <a:spcBef>
                <a:spcPts val="1200"/>
              </a:spcBef>
              <a:spcAft>
                <a:spcPts val="0"/>
              </a:spcAft>
              <a:buClr>
                <a:srgbClr val="000000"/>
              </a:buClr>
              <a:buSzPts val="1800"/>
              <a:buFont typeface="Arial"/>
              <a:buChar char="●"/>
            </a:pPr>
            <a:r>
              <a:rPr lang="en" sz="1800">
                <a:solidFill>
                  <a:srgbClr val="231F20"/>
                </a:solidFill>
                <a:latin typeface="Arial"/>
                <a:ea typeface="Arial"/>
                <a:cs typeface="Arial"/>
                <a:sym typeface="Arial"/>
              </a:rPr>
              <a:t>Sentence Type: pass-yn_interrogative</a:t>
            </a:r>
            <a:endParaRPr sz="1800">
              <a:solidFill>
                <a:srgbClr val="231F2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sz="1800">
                <a:solidFill>
                  <a:srgbClr val="231F20"/>
                </a:solidFill>
                <a:latin typeface="Arial"/>
                <a:ea typeface="Arial"/>
                <a:cs typeface="Arial"/>
                <a:sym typeface="Arial"/>
              </a:rPr>
              <a:t>Example: "kyā rāma ke dvārā rāvaṇa kā vadha kiyā gayā thā?"</a:t>
            </a:r>
            <a:endParaRPr sz="1800">
              <a:solidFill>
                <a:srgbClr val="231F2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sz="1800">
                <a:solidFill>
                  <a:srgbClr val="231F20"/>
                </a:solidFill>
                <a:latin typeface="Arial"/>
                <a:ea typeface="Arial"/>
                <a:cs typeface="Arial"/>
                <a:sym typeface="Arial"/>
              </a:rPr>
              <a:t>Translation: "Was Ravana killed by Rama?"</a:t>
            </a:r>
            <a:endParaRPr sz="1800">
              <a:solidFill>
                <a:srgbClr val="231F20"/>
              </a:solidFill>
              <a:latin typeface="Arial"/>
              <a:ea typeface="Arial"/>
              <a:cs typeface="Arial"/>
              <a:sym typeface="Arial"/>
            </a:endParaRPr>
          </a:p>
          <a:p>
            <a:pPr indent="0" lvl="0" marL="0" rtl="0" algn="l">
              <a:spcBef>
                <a:spcPts val="1200"/>
              </a:spcBef>
              <a:spcAft>
                <a:spcPts val="1200"/>
              </a:spcAft>
              <a:buNone/>
            </a:pPr>
            <a:r>
              <a:t/>
            </a:r>
            <a:endParaRPr sz="1800">
              <a:solidFill>
                <a:srgbClr val="231F20"/>
              </a:solidFill>
              <a:latin typeface="Arial"/>
              <a:ea typeface="Arial"/>
              <a:cs typeface="Arial"/>
              <a:sym typeface="Arial"/>
            </a:endParaRPr>
          </a:p>
        </p:txBody>
      </p:sp>
      <p:sp>
        <p:nvSpPr>
          <p:cNvPr id="426" name="Google Shape;426;p71"/>
          <p:cNvSpPr txBox="1"/>
          <p:nvPr>
            <p:ph type="title"/>
          </p:nvPr>
        </p:nvSpPr>
        <p:spPr>
          <a:xfrm>
            <a:off x="4832400" y="345925"/>
            <a:ext cx="3999900" cy="70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0" lang="en" sz="2000">
                <a:solidFill>
                  <a:srgbClr val="040506"/>
                </a:solidFill>
                <a:latin typeface="Arial"/>
                <a:ea typeface="Arial"/>
                <a:cs typeface="Arial"/>
                <a:sym typeface="Arial"/>
              </a:rPr>
              <a:t>Passive Yes-No Interrogative Sentences</a:t>
            </a:r>
            <a:endParaRPr sz="2000"/>
          </a:p>
        </p:txBody>
      </p:sp>
      <p:cxnSp>
        <p:nvCxnSpPr>
          <p:cNvPr id="427" name="Google Shape;427;p71"/>
          <p:cNvCxnSpPr/>
          <p:nvPr/>
        </p:nvCxnSpPr>
        <p:spPr>
          <a:xfrm>
            <a:off x="4500775" y="659550"/>
            <a:ext cx="4200" cy="38244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72"/>
          <p:cNvSpPr txBox="1"/>
          <p:nvPr>
            <p:ph type="title"/>
          </p:nvPr>
        </p:nvSpPr>
        <p:spPr>
          <a:xfrm>
            <a:off x="-1410750" y="272325"/>
            <a:ext cx="8520600" cy="636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latin typeface="Arial"/>
                <a:ea typeface="Arial"/>
                <a:cs typeface="Arial"/>
                <a:sym typeface="Arial"/>
              </a:rPr>
              <a:t>                     CONCLUSION</a:t>
            </a:r>
            <a:endParaRPr sz="2000">
              <a:latin typeface="Arial"/>
              <a:ea typeface="Arial"/>
              <a:cs typeface="Arial"/>
              <a:sym typeface="Arial"/>
            </a:endParaRPr>
          </a:p>
        </p:txBody>
      </p:sp>
      <p:sp>
        <p:nvSpPr>
          <p:cNvPr id="433" name="Google Shape;433;p72"/>
          <p:cNvSpPr txBox="1"/>
          <p:nvPr>
            <p:ph idx="1" type="body"/>
          </p:nvPr>
        </p:nvSpPr>
        <p:spPr>
          <a:xfrm>
            <a:off x="0" y="954100"/>
            <a:ext cx="9045000" cy="36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231F20"/>
                </a:solidFill>
                <a:latin typeface="Arial"/>
                <a:ea typeface="Arial"/>
                <a:cs typeface="Arial"/>
                <a:sym typeface="Arial"/>
              </a:rPr>
              <a:t>In conclusion, understanding the diverse sentence types in USRs enriches communication by allowing precise expression of statements, questions, and commands.</a:t>
            </a:r>
            <a:endParaRPr sz="1800">
              <a:solidFill>
                <a:srgbClr val="231F20"/>
              </a:solidFill>
              <a:latin typeface="Arial"/>
              <a:ea typeface="Arial"/>
              <a:cs typeface="Arial"/>
              <a:sym typeface="Arial"/>
            </a:endParaRPr>
          </a:p>
          <a:p>
            <a:pPr indent="0" lvl="0" marL="0" rtl="0" algn="l">
              <a:spcBef>
                <a:spcPts val="1200"/>
              </a:spcBef>
              <a:spcAft>
                <a:spcPts val="0"/>
              </a:spcAft>
              <a:buNone/>
            </a:pPr>
            <a:r>
              <a:rPr lang="en" sz="1800">
                <a:solidFill>
                  <a:srgbClr val="231F20"/>
                </a:solidFill>
                <a:latin typeface="Arial"/>
                <a:ea typeface="Arial"/>
                <a:cs typeface="Arial"/>
                <a:sym typeface="Arial"/>
              </a:rPr>
              <a:t>This knowledge facilitates effective language generation, enhancing both clarity and engagement</a:t>
            </a:r>
            <a:endParaRPr sz="1800">
              <a:solidFill>
                <a:srgbClr val="231F20"/>
              </a:solidFill>
              <a:latin typeface="Arial"/>
              <a:ea typeface="Arial"/>
              <a:cs typeface="Arial"/>
              <a:sym typeface="Arial"/>
            </a:endParaRPr>
          </a:p>
          <a:p>
            <a:pPr indent="0" lvl="0" marL="0" rtl="0" algn="l">
              <a:spcBef>
                <a:spcPts val="1200"/>
              </a:spcBef>
              <a:spcAft>
                <a:spcPts val="0"/>
              </a:spcAft>
              <a:buNone/>
            </a:pPr>
            <a:r>
              <a:rPr lang="en" sz="1800">
                <a:solidFill>
                  <a:srgbClr val="231F20"/>
                </a:solidFill>
                <a:latin typeface="Arial"/>
                <a:ea typeface="Arial"/>
                <a:cs typeface="Arial"/>
                <a:sym typeface="Arial"/>
              </a:rPr>
              <a:t>Mastering these sentence types empowers effective communication in various contexts.</a:t>
            </a:r>
            <a:endParaRPr sz="1800"/>
          </a:p>
          <a:p>
            <a:pPr indent="0" lvl="0" marL="0" rtl="0" algn="l">
              <a:spcBef>
                <a:spcPts val="1200"/>
              </a:spcBef>
              <a:spcAft>
                <a:spcPts val="0"/>
              </a:spcAft>
              <a:buNone/>
            </a:pPr>
            <a:r>
              <a:t/>
            </a:r>
            <a:endParaRPr sz="1800">
              <a:solidFill>
                <a:srgbClr val="231F20"/>
              </a:solidFill>
              <a:latin typeface="Arial"/>
              <a:ea typeface="Arial"/>
              <a:cs typeface="Arial"/>
              <a:sym typeface="Arial"/>
            </a:endParaRPr>
          </a:p>
          <a:p>
            <a:pPr indent="0" lvl="0" marL="0" rtl="0" algn="l">
              <a:spcBef>
                <a:spcPts val="1200"/>
              </a:spcBef>
              <a:spcAft>
                <a:spcPts val="1200"/>
              </a:spcAft>
              <a:buNone/>
            </a:pPr>
            <a:r>
              <a:t/>
            </a:r>
            <a:endParaRPr sz="1800">
              <a:solidFill>
                <a:srgbClr val="231F2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3"/>
          <p:cNvSpPr txBox="1"/>
          <p:nvPr>
            <p:ph type="title"/>
          </p:nvPr>
        </p:nvSpPr>
        <p:spPr>
          <a:xfrm>
            <a:off x="688625" y="0"/>
            <a:ext cx="8571300" cy="1239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                               </a:t>
            </a:r>
            <a:r>
              <a:rPr lang="en"/>
              <a:t>layer</a:t>
            </a:r>
            <a:r>
              <a:rPr lang="en"/>
              <a:t>-11</a:t>
            </a:r>
            <a:endParaRPr/>
          </a:p>
        </p:txBody>
      </p:sp>
      <p:sp>
        <p:nvSpPr>
          <p:cNvPr id="439" name="Google Shape;439;p73"/>
          <p:cNvSpPr txBox="1"/>
          <p:nvPr/>
        </p:nvSpPr>
        <p:spPr>
          <a:xfrm>
            <a:off x="3305550" y="1010400"/>
            <a:ext cx="4194600" cy="101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DD7E6B"/>
                </a:solidFill>
              </a:rPr>
              <a:t>CONSTRUCTION</a:t>
            </a:r>
            <a:endParaRPr b="1" sz="2000">
              <a:solidFill>
                <a:srgbClr val="DD7E6B"/>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74"/>
          <p:cNvSpPr txBox="1"/>
          <p:nvPr>
            <p:ph idx="1" type="body"/>
          </p:nvPr>
        </p:nvSpPr>
        <p:spPr>
          <a:xfrm>
            <a:off x="357425" y="1073325"/>
            <a:ext cx="8520600" cy="3560400"/>
          </a:xfrm>
          <a:prstGeom prst="rect">
            <a:avLst/>
          </a:prstGeom>
        </p:spPr>
        <p:txBody>
          <a:bodyPr anchorCtr="0" anchor="t" bIns="91425" lIns="91425" spcFirstLastPara="1" rIns="91425" wrap="square" tIns="91425">
            <a:normAutofit/>
          </a:bodyPr>
          <a:lstStyle/>
          <a:p>
            <a:pPr indent="-342900" lvl="0" marL="457200" rtl="0" algn="just">
              <a:lnSpc>
                <a:spcPct val="150000"/>
              </a:lnSpc>
              <a:spcBef>
                <a:spcPts val="0"/>
              </a:spcBef>
              <a:spcAft>
                <a:spcPts val="0"/>
              </a:spcAft>
              <a:buSzPts val="1800"/>
              <a:buFont typeface="Arial"/>
              <a:buChar char="●"/>
            </a:pPr>
            <a:r>
              <a:rPr lang="en">
                <a:solidFill>
                  <a:srgbClr val="000000"/>
                </a:solidFill>
                <a:latin typeface="Times New Roman"/>
                <a:ea typeface="Times New Roman"/>
                <a:cs typeface="Times New Roman"/>
                <a:sym typeface="Times New Roman"/>
              </a:rPr>
              <a:t>Semantic frames, which are linguistically expressed as </a:t>
            </a:r>
            <a:r>
              <a:rPr i="1" lang="en">
                <a:solidFill>
                  <a:srgbClr val="000000"/>
                </a:solidFill>
                <a:latin typeface="Times New Roman"/>
                <a:ea typeface="Times New Roman"/>
                <a:cs typeface="Times New Roman"/>
                <a:sym typeface="Times New Roman"/>
              </a:rPr>
              <a:t>larger-than-lexical-but-smaller-than-sentential expressions</a:t>
            </a:r>
            <a:r>
              <a:rPr lang="en">
                <a:solidFill>
                  <a:srgbClr val="000000"/>
                </a:solidFill>
                <a:latin typeface="Times New Roman"/>
                <a:ea typeface="Times New Roman"/>
                <a:cs typeface="Times New Roman"/>
                <a:sym typeface="Times New Roman"/>
              </a:rPr>
              <a:t>, are considered as Constructions (CxN) in Universal Semantic Representation. </a:t>
            </a:r>
            <a:endParaRPr>
              <a:solidFill>
                <a:srgbClr val="000000"/>
              </a:solidFill>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a:solidFill>
                <a:srgbClr val="000000"/>
              </a:solidFill>
              <a:latin typeface="Times New Roman"/>
              <a:ea typeface="Times New Roman"/>
              <a:cs typeface="Times New Roman"/>
              <a:sym typeface="Times New Roman"/>
            </a:endParaRPr>
          </a:p>
          <a:p>
            <a:pPr indent="-342900" lvl="0" marL="457200" rtl="0" algn="just">
              <a:lnSpc>
                <a:spcPct val="150000"/>
              </a:lnSpc>
              <a:spcBef>
                <a:spcPts val="0"/>
              </a:spcBef>
              <a:spcAft>
                <a:spcPts val="0"/>
              </a:spcAft>
              <a:buSzPts val="1800"/>
              <a:buFont typeface="Arial"/>
              <a:buChar char="●"/>
            </a:pPr>
            <a:r>
              <a:rPr lang="en">
                <a:solidFill>
                  <a:srgbClr val="000000"/>
                </a:solidFill>
                <a:latin typeface="Times New Roman"/>
                <a:ea typeface="Times New Roman"/>
                <a:cs typeface="Times New Roman"/>
                <a:sym typeface="Times New Roman"/>
              </a:rPr>
              <a:t>The conceptual schema of the constructions are mentioned below:</a:t>
            </a:r>
            <a:endParaRPr>
              <a:solidFill>
                <a:srgbClr val="000000"/>
              </a:solidFill>
              <a:latin typeface="Times New Roman"/>
              <a:ea typeface="Times New Roman"/>
              <a:cs typeface="Times New Roman"/>
              <a:sym typeface="Times New Roman"/>
            </a:endParaRPr>
          </a:p>
          <a:p>
            <a:pPr indent="-342900" lvl="1" marL="914400" rtl="0" algn="just">
              <a:lnSpc>
                <a:spcPct val="150000"/>
              </a:lnSpc>
              <a:spcBef>
                <a:spcPts val="0"/>
              </a:spcBef>
              <a:spcAft>
                <a:spcPts val="0"/>
              </a:spcAft>
              <a:buSzPts val="1800"/>
              <a:buFont typeface="Arial"/>
              <a:buChar char="○"/>
            </a:pPr>
            <a:r>
              <a:rPr lang="en" sz="1800">
                <a:solidFill>
                  <a:srgbClr val="000000"/>
                </a:solidFill>
                <a:latin typeface="Times New Roman"/>
                <a:ea typeface="Times New Roman"/>
                <a:cs typeface="Times New Roman"/>
                <a:sym typeface="Times New Roman"/>
              </a:rPr>
              <a:t>(i) The CxN Frame as the Complex Concept</a:t>
            </a:r>
            <a:endParaRPr sz="1800">
              <a:solidFill>
                <a:srgbClr val="000000"/>
              </a:solidFill>
              <a:latin typeface="Times New Roman"/>
              <a:ea typeface="Times New Roman"/>
              <a:cs typeface="Times New Roman"/>
              <a:sym typeface="Times New Roman"/>
            </a:endParaRPr>
          </a:p>
          <a:p>
            <a:pPr indent="-342900" lvl="1" marL="914400" rtl="0" algn="just">
              <a:lnSpc>
                <a:spcPct val="150000"/>
              </a:lnSpc>
              <a:spcBef>
                <a:spcPts val="0"/>
              </a:spcBef>
              <a:spcAft>
                <a:spcPts val="0"/>
              </a:spcAft>
              <a:buSzPts val="1800"/>
              <a:buFont typeface="Arial"/>
              <a:buChar char="○"/>
            </a:pPr>
            <a:r>
              <a:rPr lang="en" sz="1800">
                <a:solidFill>
                  <a:srgbClr val="000000"/>
                </a:solidFill>
                <a:latin typeface="Times New Roman"/>
                <a:ea typeface="Times New Roman"/>
                <a:cs typeface="Times New Roman"/>
                <a:sym typeface="Times New Roman"/>
              </a:rPr>
              <a:t>(ii) The semantic category of the components of the CxN.</a:t>
            </a:r>
            <a:endParaRPr sz="1800">
              <a:solidFill>
                <a:srgbClr val="000000"/>
              </a:solidFill>
              <a:latin typeface="Times New Roman"/>
              <a:ea typeface="Times New Roman"/>
              <a:cs typeface="Times New Roman"/>
              <a:sym typeface="Times New Roman"/>
            </a:endParaRPr>
          </a:p>
          <a:p>
            <a:pPr indent="0" lvl="0" marL="457200" rtl="0" algn="just">
              <a:spcBef>
                <a:spcPts val="0"/>
              </a:spcBef>
              <a:spcAft>
                <a:spcPts val="1200"/>
              </a:spcAft>
              <a:buNone/>
            </a:pPr>
            <a:r>
              <a:t/>
            </a:r>
            <a:endParaRPr>
              <a:solidFill>
                <a:srgbClr val="262626"/>
              </a:solidFill>
              <a:latin typeface="Arial"/>
              <a:ea typeface="Arial"/>
              <a:cs typeface="Arial"/>
              <a:sym typeface="Arial"/>
            </a:endParaRPr>
          </a:p>
        </p:txBody>
      </p:sp>
      <p:sp>
        <p:nvSpPr>
          <p:cNvPr id="445" name="Google Shape;445;p74"/>
          <p:cNvSpPr txBox="1"/>
          <p:nvPr/>
        </p:nvSpPr>
        <p:spPr>
          <a:xfrm>
            <a:off x="453450" y="289525"/>
            <a:ext cx="5132100" cy="9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DD7E6B"/>
                </a:solidFill>
              </a:rPr>
              <a:t>INTRODUCTION</a:t>
            </a:r>
            <a:endParaRPr b="1" sz="2000">
              <a:solidFill>
                <a:srgbClr val="DD7E6B"/>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75"/>
          <p:cNvSpPr txBox="1"/>
          <p:nvPr>
            <p:ph idx="1" type="body"/>
          </p:nvPr>
        </p:nvSpPr>
        <p:spPr>
          <a:xfrm>
            <a:off x="311700" y="1261200"/>
            <a:ext cx="8520600" cy="2830200"/>
          </a:xfrm>
          <a:prstGeom prst="rect">
            <a:avLst/>
          </a:prstGeom>
        </p:spPr>
        <p:txBody>
          <a:bodyPr anchorCtr="0" anchor="t" bIns="91425" lIns="91425" spcFirstLastPara="1" rIns="91425" wrap="square" tIns="91425">
            <a:normAutofit/>
          </a:bodyPr>
          <a:lstStyle/>
          <a:p>
            <a:pPr indent="-349250" lvl="0" marL="457200" rtl="0" algn="just">
              <a:lnSpc>
                <a:spcPct val="150000"/>
              </a:lnSpc>
              <a:spcBef>
                <a:spcPts val="0"/>
              </a:spcBef>
              <a:spcAft>
                <a:spcPts val="0"/>
              </a:spcAft>
              <a:buClr>
                <a:srgbClr val="000000"/>
              </a:buClr>
              <a:buSzPts val="1900"/>
              <a:buFont typeface="Times New Roman"/>
              <a:buChar char="●"/>
            </a:pPr>
            <a:r>
              <a:rPr lang="en" sz="1900">
                <a:solidFill>
                  <a:srgbClr val="000000"/>
                </a:solidFill>
                <a:latin typeface="Times New Roman"/>
                <a:ea typeface="Times New Roman"/>
                <a:cs typeface="Times New Roman"/>
                <a:sym typeface="Times New Roman"/>
              </a:rPr>
              <a:t>There is a form or complex concept that maps to a meaning</a:t>
            </a:r>
            <a:endParaRPr sz="1900">
              <a:solidFill>
                <a:srgbClr val="000000"/>
              </a:solidFill>
              <a:latin typeface="Times New Roman"/>
              <a:ea typeface="Times New Roman"/>
              <a:cs typeface="Times New Roman"/>
              <a:sym typeface="Times New Roman"/>
            </a:endParaRPr>
          </a:p>
          <a:p>
            <a:pPr indent="-349250" lvl="0" marL="457200" rtl="0" algn="just">
              <a:lnSpc>
                <a:spcPct val="150000"/>
              </a:lnSpc>
              <a:spcBef>
                <a:spcPts val="0"/>
              </a:spcBef>
              <a:spcAft>
                <a:spcPts val="0"/>
              </a:spcAft>
              <a:buClr>
                <a:srgbClr val="000000"/>
              </a:buClr>
              <a:buSzPts val="1900"/>
              <a:buFont typeface="Times New Roman"/>
              <a:buChar char="●"/>
            </a:pPr>
            <a:r>
              <a:rPr lang="en" sz="1900">
                <a:solidFill>
                  <a:srgbClr val="000000"/>
                </a:solidFill>
                <a:latin typeface="Times New Roman"/>
                <a:ea typeface="Times New Roman"/>
                <a:cs typeface="Times New Roman"/>
                <a:sym typeface="Times New Roman"/>
              </a:rPr>
              <a:t>Each complex concept is given a name that reflects the meaning.</a:t>
            </a:r>
            <a:endParaRPr sz="1900">
              <a:solidFill>
                <a:srgbClr val="000000"/>
              </a:solidFill>
              <a:latin typeface="Times New Roman"/>
              <a:ea typeface="Times New Roman"/>
              <a:cs typeface="Times New Roman"/>
              <a:sym typeface="Times New Roman"/>
            </a:endParaRPr>
          </a:p>
          <a:p>
            <a:pPr indent="-349250" lvl="0" marL="457200" rtl="0" algn="just">
              <a:spcBef>
                <a:spcPts val="0"/>
              </a:spcBef>
              <a:spcAft>
                <a:spcPts val="0"/>
              </a:spcAft>
              <a:buClr>
                <a:srgbClr val="000000"/>
              </a:buClr>
              <a:buSzPts val="1900"/>
              <a:buFont typeface="Times New Roman"/>
              <a:buChar char="●"/>
            </a:pPr>
            <a:r>
              <a:rPr lang="en" sz="1900">
                <a:solidFill>
                  <a:srgbClr val="000000"/>
                </a:solidFill>
                <a:latin typeface="Times New Roman"/>
                <a:ea typeface="Times New Roman"/>
                <a:cs typeface="Times New Roman"/>
                <a:sym typeface="Times New Roman"/>
              </a:rPr>
              <a:t>Complex concepts are specified within bracket []</a:t>
            </a:r>
            <a:endParaRPr sz="1900">
              <a:solidFill>
                <a:srgbClr val="000000"/>
              </a:solidFill>
              <a:latin typeface="Times New Roman"/>
              <a:ea typeface="Times New Roman"/>
              <a:cs typeface="Times New Roman"/>
              <a:sym typeface="Times New Roman"/>
            </a:endParaRPr>
          </a:p>
          <a:p>
            <a:pPr indent="-349250" lvl="0" marL="457200" rtl="0" algn="just">
              <a:lnSpc>
                <a:spcPct val="150000"/>
              </a:lnSpc>
              <a:spcBef>
                <a:spcPts val="0"/>
              </a:spcBef>
              <a:spcAft>
                <a:spcPts val="0"/>
              </a:spcAft>
              <a:buClr>
                <a:srgbClr val="000000"/>
              </a:buClr>
              <a:buSzPts val="1900"/>
              <a:buFont typeface="Times New Roman"/>
              <a:buChar char="●"/>
            </a:pPr>
            <a:r>
              <a:rPr lang="en" sz="1900">
                <a:solidFill>
                  <a:srgbClr val="000000"/>
                </a:solidFill>
                <a:latin typeface="Times New Roman"/>
                <a:ea typeface="Times New Roman"/>
                <a:cs typeface="Times New Roman"/>
                <a:sym typeface="Times New Roman"/>
              </a:rPr>
              <a:t>The relations among the components of the construction are specified in the construction row.</a:t>
            </a:r>
            <a:endParaRPr sz="1900">
              <a:solidFill>
                <a:srgbClr val="000000"/>
              </a:solidFill>
              <a:latin typeface="Times New Roman"/>
              <a:ea typeface="Times New Roman"/>
              <a:cs typeface="Times New Roman"/>
              <a:sym typeface="Times New Roman"/>
            </a:endParaRPr>
          </a:p>
        </p:txBody>
      </p:sp>
      <p:sp>
        <p:nvSpPr>
          <p:cNvPr id="451" name="Google Shape;451;p75"/>
          <p:cNvSpPr txBox="1"/>
          <p:nvPr/>
        </p:nvSpPr>
        <p:spPr>
          <a:xfrm>
            <a:off x="751575" y="293575"/>
            <a:ext cx="6108900" cy="4926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000"/>
              </a:spcBef>
              <a:spcAft>
                <a:spcPts val="0"/>
              </a:spcAft>
              <a:buNone/>
            </a:pPr>
            <a:r>
              <a:rPr b="1" lang="en" sz="2000">
                <a:solidFill>
                  <a:schemeClr val="accent1"/>
                </a:solidFill>
              </a:rPr>
              <a:t>The characteristic features of the Constructions</a:t>
            </a:r>
            <a:endParaRPr b="1" sz="2000">
              <a:solidFill>
                <a:schemeClr val="accent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76"/>
          <p:cNvSpPr txBox="1"/>
          <p:nvPr>
            <p:ph idx="1" type="body"/>
          </p:nvPr>
        </p:nvSpPr>
        <p:spPr>
          <a:xfrm>
            <a:off x="311700" y="955900"/>
            <a:ext cx="8520600" cy="418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latin typeface="Times New Roman"/>
                <a:ea typeface="Times New Roman"/>
                <a:cs typeface="Times New Roman"/>
                <a:sym typeface="Times New Roman"/>
              </a:rPr>
              <a:t>A </a:t>
            </a:r>
            <a:r>
              <a:rPr b="1" lang="en">
                <a:solidFill>
                  <a:srgbClr val="000000"/>
                </a:solidFill>
                <a:latin typeface="Times New Roman"/>
                <a:ea typeface="Times New Roman"/>
                <a:cs typeface="Times New Roman"/>
                <a:sym typeface="Times New Roman"/>
              </a:rPr>
              <a:t>Named Entity (NE)</a:t>
            </a:r>
            <a:r>
              <a:rPr lang="en">
                <a:solidFill>
                  <a:srgbClr val="000000"/>
                </a:solidFill>
                <a:latin typeface="Times New Roman"/>
                <a:ea typeface="Times New Roman"/>
                <a:cs typeface="Times New Roman"/>
                <a:sym typeface="Times New Roman"/>
              </a:rPr>
              <a:t> is a word or phrase that refers to a specific entity, such as a person, organization, location, date, or product. </a:t>
            </a:r>
            <a:endParaRPr>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rgbClr val="000000"/>
              </a:solidFill>
              <a:latin typeface="Times New Roman"/>
              <a:ea typeface="Times New Roman"/>
              <a:cs typeface="Times New Roman"/>
              <a:sym typeface="Times New Roman"/>
            </a:endParaRPr>
          </a:p>
          <a:p>
            <a:pPr indent="-342900" lvl="0" marL="457200" rtl="0" algn="l">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Named entities introduce a complex structured concept, represented as </a:t>
            </a:r>
            <a:r>
              <a:rPr b="1" lang="en">
                <a:solidFill>
                  <a:srgbClr val="000000"/>
                </a:solidFill>
                <a:latin typeface="Times New Roman"/>
                <a:ea typeface="Times New Roman"/>
                <a:cs typeface="Times New Roman"/>
                <a:sym typeface="Times New Roman"/>
              </a:rPr>
              <a:t>[ne_1]</a:t>
            </a:r>
            <a:r>
              <a:rPr lang="en">
                <a:solidFill>
                  <a:srgbClr val="000000"/>
                </a:solidFill>
                <a:latin typeface="Times New Roman"/>
                <a:ea typeface="Times New Roman"/>
                <a:cs typeface="Times New Roman"/>
                <a:sym typeface="Times New Roman"/>
              </a:rPr>
              <a:t>.</a:t>
            </a:r>
            <a:endParaRPr>
              <a:solidFill>
                <a:srgbClr val="000000"/>
              </a:solidFill>
              <a:latin typeface="Times New Roman"/>
              <a:ea typeface="Times New Roman"/>
              <a:cs typeface="Times New Roman"/>
              <a:sym typeface="Times New Roman"/>
            </a:endParaRPr>
          </a:p>
          <a:p>
            <a:pPr indent="-342900" lvl="0" marL="457200" rtl="0" algn="l">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Each entity is systematically tagged to ensure proper identification.</a:t>
            </a:r>
            <a:endParaRPr>
              <a:solidFill>
                <a:srgbClr val="000000"/>
              </a:solidFill>
              <a:latin typeface="Times New Roman"/>
              <a:ea typeface="Times New Roman"/>
              <a:cs typeface="Times New Roman"/>
              <a:sym typeface="Times New Roman"/>
            </a:endParaRPr>
          </a:p>
          <a:p>
            <a:pPr indent="-342900" lvl="0" marL="457200" rtl="0" algn="l">
              <a:spcBef>
                <a:spcPts val="0"/>
              </a:spcBef>
              <a:spcAft>
                <a:spcPts val="0"/>
              </a:spcAft>
              <a:buClr>
                <a:srgbClr val="000000"/>
              </a:buClr>
              <a:buSzPts val="1800"/>
              <a:buFont typeface="Times New Roman"/>
              <a:buChar char="●"/>
            </a:pPr>
            <a:r>
              <a:rPr b="1" lang="en">
                <a:solidFill>
                  <a:srgbClr val="000000"/>
                </a:solidFill>
                <a:latin typeface="Times New Roman"/>
                <a:ea typeface="Times New Roman"/>
                <a:cs typeface="Times New Roman"/>
                <a:sym typeface="Times New Roman"/>
              </a:rPr>
              <a:t>begin:</a:t>
            </a:r>
            <a:r>
              <a:rPr lang="en">
                <a:solidFill>
                  <a:srgbClr val="000000"/>
                </a:solidFill>
                <a:latin typeface="Times New Roman"/>
                <a:ea typeface="Times New Roman"/>
                <a:cs typeface="Times New Roman"/>
                <a:sym typeface="Times New Roman"/>
              </a:rPr>
              <a:t> Used to mark the first word in a named entity (e.g., the first name in a person’s full name).</a:t>
            </a:r>
            <a:endParaRPr>
              <a:solidFill>
                <a:srgbClr val="000000"/>
              </a:solidFill>
              <a:latin typeface="Times New Roman"/>
              <a:ea typeface="Times New Roman"/>
              <a:cs typeface="Times New Roman"/>
              <a:sym typeface="Times New Roman"/>
            </a:endParaRPr>
          </a:p>
          <a:p>
            <a:pPr indent="-342900" lvl="0" marL="457200" rtl="0" algn="l">
              <a:spcBef>
                <a:spcPts val="0"/>
              </a:spcBef>
              <a:spcAft>
                <a:spcPts val="0"/>
              </a:spcAft>
              <a:buClr>
                <a:srgbClr val="000000"/>
              </a:buClr>
              <a:buSzPts val="1800"/>
              <a:buFont typeface="Times New Roman"/>
              <a:buChar char="●"/>
            </a:pPr>
            <a:r>
              <a:rPr b="1" lang="en">
                <a:solidFill>
                  <a:srgbClr val="000000"/>
                </a:solidFill>
                <a:latin typeface="Times New Roman"/>
                <a:ea typeface="Times New Roman"/>
                <a:cs typeface="Times New Roman"/>
                <a:sym typeface="Times New Roman"/>
              </a:rPr>
              <a:t>inside:</a:t>
            </a:r>
            <a:r>
              <a:rPr lang="en">
                <a:solidFill>
                  <a:srgbClr val="000000"/>
                </a:solidFill>
                <a:latin typeface="Times New Roman"/>
                <a:ea typeface="Times New Roman"/>
                <a:cs typeface="Times New Roman"/>
                <a:sym typeface="Times New Roman"/>
              </a:rPr>
              <a:t> Applied to subsequent words within the same entity (e.g., middle name, last name, or additional words in an organization name).</a:t>
            </a:r>
            <a:endParaRPr>
              <a:solidFill>
                <a:srgbClr val="000000"/>
              </a:solidFill>
              <a:latin typeface="Times New Roman"/>
              <a:ea typeface="Times New Roman"/>
              <a:cs typeface="Times New Roman"/>
              <a:sym typeface="Times New Roman"/>
            </a:endParaRPr>
          </a:p>
        </p:txBody>
      </p:sp>
      <p:sp>
        <p:nvSpPr>
          <p:cNvPr id="457" name="Google Shape;457;p76"/>
          <p:cNvSpPr txBox="1"/>
          <p:nvPr/>
        </p:nvSpPr>
        <p:spPr>
          <a:xfrm>
            <a:off x="751575" y="293575"/>
            <a:ext cx="6108900" cy="492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600"/>
              </a:spcBef>
              <a:spcAft>
                <a:spcPts val="400"/>
              </a:spcAft>
              <a:buNone/>
            </a:pPr>
            <a:r>
              <a:rPr b="1" lang="en" sz="2000">
                <a:solidFill>
                  <a:schemeClr val="accent1"/>
                </a:solidFill>
              </a:rPr>
              <a:t>Named Entity Construction</a:t>
            </a:r>
            <a:endParaRPr b="1" sz="2000">
              <a:solidFill>
                <a:schemeClr val="accent1"/>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77"/>
          <p:cNvSpPr txBox="1"/>
          <p:nvPr>
            <p:ph idx="1" type="body"/>
          </p:nvPr>
        </p:nvSpPr>
        <p:spPr>
          <a:xfrm>
            <a:off x="311700" y="955900"/>
            <a:ext cx="8520600" cy="4187700"/>
          </a:xfrm>
          <a:prstGeom prst="rect">
            <a:avLst/>
          </a:prstGeom>
        </p:spPr>
        <p:txBody>
          <a:bodyPr anchorCtr="0" anchor="t" bIns="91425" lIns="91425" spcFirstLastPara="1" rIns="91425" wrap="square" tIns="91425">
            <a:noAutofit/>
          </a:bodyPr>
          <a:lstStyle/>
          <a:p>
            <a:pPr indent="0" lvl="0" marL="0" rtl="0" algn="just">
              <a:spcBef>
                <a:spcPts val="1600"/>
              </a:spcBef>
              <a:spcAft>
                <a:spcPts val="0"/>
              </a:spcAft>
              <a:buNone/>
            </a:pPr>
            <a:r>
              <a:rPr b="1" lang="en">
                <a:solidFill>
                  <a:srgbClr val="000000"/>
                </a:solidFill>
                <a:latin typeface="Times New Roman"/>
                <a:ea typeface="Times New Roman"/>
                <a:cs typeface="Times New Roman"/>
                <a:sym typeface="Times New Roman"/>
              </a:rPr>
              <a:t>Noun Compound</a:t>
            </a:r>
            <a:endParaRPr b="1">
              <a:solidFill>
                <a:srgbClr val="000000"/>
              </a:solidFill>
              <a:latin typeface="Times New Roman"/>
              <a:ea typeface="Times New Roman"/>
              <a:cs typeface="Times New Roman"/>
              <a:sym typeface="Times New Roman"/>
            </a:endParaRPr>
          </a:p>
          <a:p>
            <a:pPr indent="-342900" lvl="0" marL="457200" rtl="0" algn="l">
              <a:spcBef>
                <a:spcPts val="120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Noun Compounds consist of two or more nouns with the final noun head and other noun modifiers  or two nouns in coordinating relation as two operators.</a:t>
            </a:r>
            <a:endParaRPr>
              <a:solidFill>
                <a:srgbClr val="000000"/>
              </a:solidFill>
              <a:latin typeface="Times New Roman"/>
              <a:ea typeface="Times New Roman"/>
              <a:cs typeface="Times New Roman"/>
              <a:sym typeface="Times New Roman"/>
            </a:endParaRPr>
          </a:p>
          <a:p>
            <a:pPr indent="-342900" lvl="0" marL="457200" rtl="0" algn="l">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Noun Compounds can be spaced or hyphenated. </a:t>
            </a:r>
            <a:endParaRPr>
              <a:solidFill>
                <a:srgbClr val="000000"/>
              </a:solidFill>
              <a:latin typeface="Times New Roman"/>
              <a:ea typeface="Times New Roman"/>
              <a:cs typeface="Times New Roman"/>
              <a:sym typeface="Times New Roman"/>
            </a:endParaRPr>
          </a:p>
          <a:p>
            <a:pPr indent="-342900" lvl="1" marL="914400" rtl="0" algn="l">
              <a:spcBef>
                <a:spcPts val="0"/>
              </a:spcBef>
              <a:spcAft>
                <a:spcPts val="0"/>
              </a:spcAft>
              <a:buClr>
                <a:srgbClr val="000000"/>
              </a:buClr>
              <a:buSzPts val="1800"/>
              <a:buFont typeface="Times New Roman"/>
              <a:buChar char="○"/>
            </a:pPr>
            <a:r>
              <a:rPr lang="en" sz="1800">
                <a:solidFill>
                  <a:srgbClr val="000000"/>
                </a:solidFill>
                <a:latin typeface="Times New Roman"/>
                <a:ea typeface="Times New Roman"/>
                <a:cs typeface="Times New Roman"/>
                <a:sym typeface="Times New Roman"/>
              </a:rPr>
              <a:t>[[kṛṣi prasāraṇa] udyoga]</a:t>
            </a:r>
            <a:endParaRPr sz="1800">
              <a:solidFill>
                <a:srgbClr val="000000"/>
              </a:solidFill>
              <a:latin typeface="Times New Roman"/>
              <a:ea typeface="Times New Roman"/>
              <a:cs typeface="Times New Roman"/>
              <a:sym typeface="Times New Roman"/>
            </a:endParaRPr>
          </a:p>
          <a:p>
            <a:pPr indent="-342900" lvl="1" marL="914400" rtl="0" algn="l">
              <a:spcBef>
                <a:spcPts val="0"/>
              </a:spcBef>
              <a:spcAft>
                <a:spcPts val="0"/>
              </a:spcAft>
              <a:buClr>
                <a:srgbClr val="000000"/>
              </a:buClr>
              <a:buSzPts val="1800"/>
              <a:buFont typeface="Times New Roman"/>
              <a:buChar char="○"/>
            </a:pPr>
            <a:r>
              <a:rPr lang="en" sz="1800">
                <a:solidFill>
                  <a:srgbClr val="000000"/>
                </a:solidFill>
                <a:latin typeface="Times New Roman"/>
                <a:ea typeface="Times New Roman"/>
                <a:cs typeface="Times New Roman"/>
                <a:sym typeface="Times New Roman"/>
              </a:rPr>
              <a:t>gṛha-śikṣaka</a:t>
            </a:r>
            <a:endParaRPr sz="1800">
              <a:solidFill>
                <a:srgbClr val="000000"/>
              </a:solidFill>
              <a:latin typeface="Times New Roman"/>
              <a:ea typeface="Times New Roman"/>
              <a:cs typeface="Times New Roman"/>
              <a:sym typeface="Times New Roman"/>
            </a:endParaRPr>
          </a:p>
          <a:p>
            <a:pPr indent="-342900" lvl="0" marL="457200" rtl="0" algn="l">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When an adjective modifies the modifier, that adjective will be part of the noun compounds</a:t>
            </a:r>
            <a:endParaRPr>
              <a:solidFill>
                <a:srgbClr val="000000"/>
              </a:solidFill>
              <a:latin typeface="Times New Roman"/>
              <a:ea typeface="Times New Roman"/>
              <a:cs typeface="Times New Roman"/>
              <a:sym typeface="Times New Roman"/>
            </a:endParaRPr>
          </a:p>
          <a:p>
            <a:pPr indent="-342900" lvl="1" marL="914400" rtl="0" algn="l">
              <a:spcBef>
                <a:spcPts val="0"/>
              </a:spcBef>
              <a:spcAft>
                <a:spcPts val="0"/>
              </a:spcAft>
              <a:buClr>
                <a:srgbClr val="000000"/>
              </a:buClr>
              <a:buSzPts val="1800"/>
              <a:buFont typeface="Times New Roman"/>
              <a:buChar char="○"/>
            </a:pPr>
            <a:r>
              <a:rPr lang="en" sz="1800">
                <a:solidFill>
                  <a:srgbClr val="000000"/>
                </a:solidFill>
                <a:latin typeface="Times New Roman"/>
                <a:ea typeface="Times New Roman"/>
                <a:cs typeface="Times New Roman"/>
                <a:sym typeface="Times New Roman"/>
              </a:rPr>
              <a:t>[[vanyā jīva] surakṣā]</a:t>
            </a:r>
            <a:endParaRPr sz="1800">
              <a:solidFill>
                <a:srgbClr val="000000"/>
              </a:solidFill>
              <a:latin typeface="Times New Roman"/>
              <a:ea typeface="Times New Roman"/>
              <a:cs typeface="Times New Roman"/>
              <a:sym typeface="Times New Roman"/>
            </a:endParaRPr>
          </a:p>
          <a:p>
            <a:pPr indent="-342900" lvl="0" marL="457200" rtl="0" algn="l">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One proper noun and one or more than nominal is NC</a:t>
            </a:r>
            <a:endParaRPr>
              <a:solidFill>
                <a:srgbClr val="000000"/>
              </a:solidFill>
              <a:latin typeface="Times New Roman"/>
              <a:ea typeface="Times New Roman"/>
              <a:cs typeface="Times New Roman"/>
              <a:sym typeface="Times New Roman"/>
            </a:endParaRPr>
          </a:p>
          <a:p>
            <a:pPr indent="-342900" lvl="1" marL="914400" rtl="0" algn="l">
              <a:spcBef>
                <a:spcPts val="0"/>
              </a:spcBef>
              <a:spcAft>
                <a:spcPts val="0"/>
              </a:spcAft>
              <a:buClr>
                <a:srgbClr val="000000"/>
              </a:buClr>
              <a:buSzPts val="1800"/>
              <a:buFont typeface="Times New Roman"/>
              <a:buChar char="○"/>
            </a:pPr>
            <a:r>
              <a:rPr lang="en" sz="1800">
                <a:solidFill>
                  <a:srgbClr val="000000"/>
                </a:solidFill>
                <a:latin typeface="Times New Roman"/>
                <a:ea typeface="Times New Roman"/>
                <a:cs typeface="Times New Roman"/>
                <a:sym typeface="Times New Roman"/>
              </a:rPr>
              <a:t>dillī pulisa</a:t>
            </a:r>
            <a:endParaRPr sz="18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rgbClr val="000000"/>
              </a:solidFill>
              <a:latin typeface="Times New Roman"/>
              <a:ea typeface="Times New Roman"/>
              <a:cs typeface="Times New Roman"/>
              <a:sym typeface="Times New Roman"/>
            </a:endParaRPr>
          </a:p>
        </p:txBody>
      </p:sp>
      <p:sp>
        <p:nvSpPr>
          <p:cNvPr id="463" name="Google Shape;463;p77"/>
          <p:cNvSpPr txBox="1"/>
          <p:nvPr/>
        </p:nvSpPr>
        <p:spPr>
          <a:xfrm>
            <a:off x="751575" y="293575"/>
            <a:ext cx="6108900" cy="492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600"/>
              </a:spcBef>
              <a:spcAft>
                <a:spcPts val="400"/>
              </a:spcAft>
              <a:buNone/>
            </a:pPr>
            <a:r>
              <a:rPr b="1" lang="en" sz="2000">
                <a:solidFill>
                  <a:schemeClr val="accent1"/>
                </a:solidFill>
              </a:rPr>
              <a:t>Compound Construction</a:t>
            </a:r>
            <a:endParaRPr b="1" sz="2000">
              <a:solidFill>
                <a:schemeClr val="accent1"/>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8"/>
          <p:cNvSpPr txBox="1"/>
          <p:nvPr>
            <p:ph idx="1" type="body"/>
          </p:nvPr>
        </p:nvSpPr>
        <p:spPr>
          <a:xfrm>
            <a:off x="311700" y="786175"/>
            <a:ext cx="8520600" cy="4357500"/>
          </a:xfrm>
          <a:prstGeom prst="rect">
            <a:avLst/>
          </a:prstGeom>
        </p:spPr>
        <p:txBody>
          <a:bodyPr anchorCtr="0" anchor="t" bIns="91425" lIns="91425" spcFirstLastPara="1" rIns="91425" wrap="square" tIns="91425">
            <a:noAutofit/>
          </a:bodyPr>
          <a:lstStyle/>
          <a:p>
            <a:pPr indent="0" lvl="0" marL="457200" rtl="0" algn="just">
              <a:spcBef>
                <a:spcPts val="1200"/>
              </a:spcBef>
              <a:spcAft>
                <a:spcPts val="0"/>
              </a:spcAft>
              <a:buNone/>
            </a:pPr>
            <a:r>
              <a:rPr b="1" lang="en">
                <a:solidFill>
                  <a:srgbClr val="000000"/>
                </a:solidFill>
                <a:latin typeface="Times New Roman"/>
                <a:ea typeface="Times New Roman"/>
                <a:cs typeface="Times New Roman"/>
                <a:sym typeface="Times New Roman"/>
              </a:rPr>
              <a:t>List of Noun compound</a:t>
            </a:r>
            <a:r>
              <a:rPr lang="en">
                <a:solidFill>
                  <a:srgbClr val="666666"/>
                </a:solidFill>
                <a:latin typeface="Times New Roman"/>
                <a:ea typeface="Times New Roman"/>
                <a:cs typeface="Times New Roman"/>
                <a:sym typeface="Times New Roman"/>
              </a:rPr>
              <a:t> </a:t>
            </a:r>
            <a:endParaRPr b="1">
              <a:solidFill>
                <a:srgbClr val="000000"/>
              </a:solidFill>
              <a:latin typeface="Times New Roman"/>
              <a:ea typeface="Times New Roman"/>
              <a:cs typeface="Times New Roman"/>
              <a:sym typeface="Times New Roman"/>
            </a:endParaRPr>
          </a:p>
          <a:p>
            <a:pPr indent="0" lvl="0" marL="0" rtl="0" algn="l">
              <a:spcBef>
                <a:spcPts val="1000"/>
              </a:spcBef>
              <a:spcAft>
                <a:spcPts val="0"/>
              </a:spcAft>
              <a:buNone/>
            </a:pPr>
            <a:r>
              <a:rPr lang="en">
                <a:solidFill>
                  <a:srgbClr val="000000"/>
                </a:solidFill>
                <a:latin typeface="Times New Roman"/>
                <a:ea typeface="Times New Roman"/>
                <a:cs typeface="Times New Roman"/>
                <a:sym typeface="Times New Roman"/>
              </a:rPr>
              <a:t>Noun Compound Type</a:t>
            </a:r>
            <a:endParaRPr>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rgbClr val="000000"/>
              </a:solidFill>
              <a:latin typeface="Times New Roman"/>
              <a:ea typeface="Times New Roman"/>
              <a:cs typeface="Times New Roman"/>
              <a:sym typeface="Times New Roman"/>
            </a:endParaRPr>
          </a:p>
          <a:p>
            <a:pPr indent="-342900" lvl="0" marL="457200" rtl="0" algn="l">
              <a:spcBef>
                <a:spcPts val="0"/>
              </a:spcBef>
              <a:spcAft>
                <a:spcPts val="0"/>
              </a:spcAft>
              <a:buClr>
                <a:srgbClr val="000000"/>
              </a:buClr>
              <a:buSzPts val="1800"/>
              <a:buFont typeface="Times New Roman"/>
              <a:buChar char="●"/>
            </a:pPr>
            <a:r>
              <a:rPr b="1" lang="en">
                <a:solidFill>
                  <a:srgbClr val="000000"/>
                </a:solidFill>
                <a:latin typeface="Times New Roman"/>
                <a:ea typeface="Times New Roman"/>
                <a:cs typeface="Times New Roman"/>
                <a:sym typeface="Times New Roman"/>
              </a:rPr>
              <a:t>karmaXAraya</a:t>
            </a:r>
            <a:endParaRPr b="1">
              <a:solidFill>
                <a:srgbClr val="000000"/>
              </a:solidFill>
              <a:latin typeface="Times New Roman"/>
              <a:ea typeface="Times New Roman"/>
              <a:cs typeface="Times New Roman"/>
              <a:sym typeface="Times New Roman"/>
            </a:endParaRPr>
          </a:p>
          <a:p>
            <a:pPr indent="457200" lvl="0" marL="0" rtl="0" algn="l">
              <a:spcBef>
                <a:spcPts val="0"/>
              </a:spcBef>
              <a:spcAft>
                <a:spcPts val="0"/>
              </a:spcAft>
              <a:buNone/>
            </a:pPr>
            <a:r>
              <a:rPr lang="en">
                <a:solidFill>
                  <a:srgbClr val="000000"/>
                </a:solidFill>
                <a:latin typeface="Times New Roman"/>
                <a:ea typeface="Times New Roman"/>
                <a:cs typeface="Times New Roman"/>
                <a:sym typeface="Times New Roman"/>
              </a:rPr>
              <a:t>nīla kamala</a:t>
            </a:r>
            <a:endParaRPr>
              <a:solidFill>
                <a:srgbClr val="000000"/>
              </a:solidFill>
              <a:latin typeface="Times New Roman"/>
              <a:ea typeface="Times New Roman"/>
              <a:cs typeface="Times New Roman"/>
              <a:sym typeface="Times New Roman"/>
            </a:endParaRPr>
          </a:p>
          <a:p>
            <a:pPr indent="-342900" lvl="0" marL="457200" rtl="0" algn="l">
              <a:spcBef>
                <a:spcPts val="0"/>
              </a:spcBef>
              <a:spcAft>
                <a:spcPts val="0"/>
              </a:spcAft>
              <a:buClr>
                <a:srgbClr val="000000"/>
              </a:buClr>
              <a:buSzPts val="1800"/>
              <a:buFont typeface="Times New Roman"/>
              <a:buChar char="●"/>
            </a:pPr>
            <a:r>
              <a:rPr b="1" lang="en">
                <a:solidFill>
                  <a:srgbClr val="000000"/>
                </a:solidFill>
                <a:latin typeface="Times New Roman"/>
                <a:ea typeface="Times New Roman"/>
                <a:cs typeface="Times New Roman"/>
                <a:sym typeface="Times New Roman"/>
              </a:rPr>
              <a:t>wawpuruRa</a:t>
            </a:r>
            <a:endParaRPr b="1">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a:solidFill>
                  <a:srgbClr val="000000"/>
                </a:solidFill>
                <a:latin typeface="Times New Roman"/>
                <a:ea typeface="Times New Roman"/>
                <a:cs typeface="Times New Roman"/>
                <a:sym typeface="Times New Roman"/>
              </a:rPr>
              <a:t>2-waw   -    	dhana prāpta</a:t>
            </a:r>
            <a:endParaRPr>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a:solidFill>
                  <a:srgbClr val="000000"/>
                </a:solidFill>
                <a:latin typeface="Times New Roman"/>
                <a:ea typeface="Times New Roman"/>
                <a:cs typeface="Times New Roman"/>
                <a:sym typeface="Times New Roman"/>
              </a:rPr>
              <a:t>3-waw    -    	cintā grasta </a:t>
            </a:r>
            <a:endParaRPr>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a:solidFill>
                  <a:srgbClr val="000000"/>
                </a:solidFill>
                <a:latin typeface="Times New Roman"/>
                <a:ea typeface="Times New Roman"/>
                <a:cs typeface="Times New Roman"/>
                <a:sym typeface="Times New Roman"/>
              </a:rPr>
              <a:t>4-waw    - 	guru dakṣiṇā</a:t>
            </a:r>
            <a:endParaRPr>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a:solidFill>
                  <a:srgbClr val="000000"/>
                </a:solidFill>
                <a:latin typeface="Times New Roman"/>
                <a:ea typeface="Times New Roman"/>
                <a:cs typeface="Times New Roman"/>
                <a:sym typeface="Times New Roman"/>
              </a:rPr>
              <a:t>5-waw    -	śoka mukta</a:t>
            </a:r>
            <a:endParaRPr>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a:solidFill>
                  <a:srgbClr val="000000"/>
                </a:solidFill>
                <a:latin typeface="Times New Roman"/>
                <a:ea typeface="Times New Roman"/>
                <a:cs typeface="Times New Roman"/>
                <a:sym typeface="Times New Roman"/>
              </a:rPr>
              <a:t>6-waw    -	</a:t>
            </a:r>
            <a:r>
              <a:rPr lang="en">
                <a:solidFill>
                  <a:srgbClr val="000000"/>
                </a:solidFill>
                <a:latin typeface="Times New Roman"/>
                <a:ea typeface="Times New Roman"/>
                <a:cs typeface="Times New Roman"/>
                <a:sym typeface="Times New Roman"/>
              </a:rPr>
              <a:t>d</a:t>
            </a:r>
            <a:r>
              <a:rPr lang="en">
                <a:solidFill>
                  <a:srgbClr val="000000"/>
                </a:solidFill>
                <a:latin typeface="Times New Roman"/>
                <a:ea typeface="Times New Roman"/>
                <a:cs typeface="Times New Roman"/>
                <a:sym typeface="Times New Roman"/>
              </a:rPr>
              <a:t>hūla-kaṇoṃ</a:t>
            </a:r>
            <a:endParaRPr>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rPr lang="en">
                <a:solidFill>
                  <a:srgbClr val="000000"/>
                </a:solidFill>
                <a:latin typeface="Times New Roman"/>
                <a:ea typeface="Times New Roman"/>
                <a:cs typeface="Times New Roman"/>
                <a:sym typeface="Times New Roman"/>
              </a:rPr>
              <a:t>7-waw    -	viśva vitaraṇa</a:t>
            </a:r>
            <a:endParaRPr>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rgbClr val="000000"/>
              </a:solidFill>
              <a:latin typeface="Times New Roman"/>
              <a:ea typeface="Times New Roman"/>
              <a:cs typeface="Times New Roman"/>
              <a:sym typeface="Times New Roman"/>
            </a:endParaRPr>
          </a:p>
        </p:txBody>
      </p:sp>
      <p:sp>
        <p:nvSpPr>
          <p:cNvPr id="469" name="Google Shape;469;p78"/>
          <p:cNvSpPr txBox="1"/>
          <p:nvPr/>
        </p:nvSpPr>
        <p:spPr>
          <a:xfrm>
            <a:off x="751575" y="293575"/>
            <a:ext cx="6108900" cy="492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600"/>
              </a:spcBef>
              <a:spcAft>
                <a:spcPts val="400"/>
              </a:spcAft>
              <a:buNone/>
            </a:pPr>
            <a:r>
              <a:rPr b="1" lang="en" sz="2000">
                <a:solidFill>
                  <a:schemeClr val="accent1"/>
                </a:solidFill>
              </a:rPr>
              <a:t>Compound Construction</a:t>
            </a:r>
            <a:endParaRPr b="1" sz="2000">
              <a:solidFill>
                <a:schemeClr val="accent1"/>
              </a:solidFill>
            </a:endParaRPr>
          </a:p>
        </p:txBody>
      </p:sp>
      <p:sp>
        <p:nvSpPr>
          <p:cNvPr id="470" name="Google Shape;470;p78"/>
          <p:cNvSpPr txBox="1"/>
          <p:nvPr/>
        </p:nvSpPr>
        <p:spPr>
          <a:xfrm>
            <a:off x="4887500" y="1391275"/>
            <a:ext cx="3605400" cy="31473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Font typeface="Times New Roman"/>
              <a:buChar char="●"/>
            </a:pPr>
            <a:r>
              <a:rPr b="1" lang="en" sz="1800">
                <a:latin typeface="Times New Roman"/>
                <a:ea typeface="Times New Roman"/>
                <a:cs typeface="Times New Roman"/>
                <a:sym typeface="Times New Roman"/>
              </a:rPr>
              <a:t>X</a:t>
            </a:r>
            <a:r>
              <a:rPr b="1" lang="en" sz="1800">
                <a:latin typeface="Times New Roman"/>
                <a:ea typeface="Times New Roman"/>
                <a:cs typeface="Times New Roman"/>
                <a:sym typeface="Times New Roman"/>
              </a:rPr>
              <a:t>vanxva</a:t>
            </a:r>
            <a:endParaRPr b="1" sz="1800">
              <a:latin typeface="Times New Roman"/>
              <a:ea typeface="Times New Roman"/>
              <a:cs typeface="Times New Roman"/>
              <a:sym typeface="Times New Roman"/>
            </a:endParaRPr>
          </a:p>
          <a:p>
            <a:pPr indent="457200" lvl="0" marL="0" rtl="0" algn="l">
              <a:lnSpc>
                <a:spcPct val="115000"/>
              </a:lnSpc>
              <a:spcBef>
                <a:spcPts val="0"/>
              </a:spcBef>
              <a:spcAft>
                <a:spcPts val="0"/>
              </a:spcAft>
              <a:buNone/>
            </a:pPr>
            <a:r>
              <a:rPr lang="en" sz="1800">
                <a:latin typeface="Times New Roman"/>
                <a:ea typeface="Times New Roman"/>
                <a:cs typeface="Times New Roman"/>
                <a:sym typeface="Times New Roman"/>
              </a:rPr>
              <a:t>peḍa-paudhoṃ</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b="1" lang="en" sz="1800">
                <a:latin typeface="Times New Roman"/>
                <a:ea typeface="Times New Roman"/>
                <a:cs typeface="Times New Roman"/>
                <a:sym typeface="Times New Roman"/>
              </a:rPr>
              <a:t>bahuvrIhi</a:t>
            </a:r>
            <a:endParaRPr b="1" sz="1800">
              <a:latin typeface="Times New Roman"/>
              <a:ea typeface="Times New Roman"/>
              <a:cs typeface="Times New Roman"/>
              <a:sym typeface="Times New Roman"/>
            </a:endParaRPr>
          </a:p>
          <a:p>
            <a:pPr indent="457200" lvl="0" marL="0" rtl="0" algn="l">
              <a:lnSpc>
                <a:spcPct val="115000"/>
              </a:lnSpc>
              <a:spcBef>
                <a:spcPts val="0"/>
              </a:spcBef>
              <a:spcAft>
                <a:spcPts val="0"/>
              </a:spcAft>
              <a:buNone/>
            </a:pPr>
            <a:r>
              <a:rPr lang="en" sz="1800">
                <a:latin typeface="Times New Roman"/>
                <a:ea typeface="Times New Roman"/>
                <a:cs typeface="Times New Roman"/>
                <a:sym typeface="Times New Roman"/>
              </a:rPr>
              <a:t>[tāpa-abhāva]	kṣetra</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latin typeface="Open Sans"/>
              <a:ea typeface="Open Sans"/>
              <a:cs typeface="Open Sans"/>
              <a:sym typeface="Open Sans"/>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79"/>
          <p:cNvSpPr txBox="1"/>
          <p:nvPr>
            <p:ph idx="1" type="body"/>
          </p:nvPr>
        </p:nvSpPr>
        <p:spPr>
          <a:xfrm>
            <a:off x="311700" y="920650"/>
            <a:ext cx="8520600" cy="4145400"/>
          </a:xfrm>
          <a:prstGeom prst="rect">
            <a:avLst/>
          </a:prstGeom>
        </p:spPr>
        <p:txBody>
          <a:bodyPr anchorCtr="0" anchor="t" bIns="91425" lIns="91425" spcFirstLastPara="1" rIns="91425" wrap="square" tIns="91425">
            <a:noAutofit/>
          </a:bodyPr>
          <a:lstStyle/>
          <a:p>
            <a:pPr indent="-349250" lvl="0" marL="457200" rtl="0" algn="l">
              <a:spcBef>
                <a:spcPts val="1200"/>
              </a:spcBef>
              <a:spcAft>
                <a:spcPts val="0"/>
              </a:spcAft>
              <a:buClr>
                <a:srgbClr val="000000"/>
              </a:buClr>
              <a:buSzPts val="1900"/>
              <a:buFont typeface="Arial"/>
              <a:buChar char="●"/>
            </a:pPr>
            <a:r>
              <a:rPr lang="en" sz="1900">
                <a:solidFill>
                  <a:srgbClr val="000000"/>
                </a:solidFill>
                <a:latin typeface="Times New Roman"/>
                <a:ea typeface="Times New Roman"/>
                <a:cs typeface="Times New Roman"/>
                <a:sym typeface="Times New Roman"/>
              </a:rPr>
              <a:t>We do not consider a noun compound as a construction when it is written together as </a:t>
            </a:r>
            <a:r>
              <a:rPr b="1" i="1" lang="en" sz="1900">
                <a:solidFill>
                  <a:srgbClr val="000000"/>
                </a:solidFill>
                <a:latin typeface="Times New Roman"/>
                <a:ea typeface="Times New Roman"/>
                <a:cs typeface="Times New Roman"/>
                <a:sym typeface="Times New Roman"/>
              </a:rPr>
              <a:t>vidyālaya </a:t>
            </a:r>
            <a:r>
              <a:rPr lang="en" sz="1900">
                <a:solidFill>
                  <a:srgbClr val="000000"/>
                </a:solidFill>
                <a:latin typeface="Times New Roman"/>
                <a:ea typeface="Times New Roman"/>
                <a:cs typeface="Times New Roman"/>
                <a:sym typeface="Times New Roman"/>
              </a:rPr>
              <a:t>‘school’</a:t>
            </a:r>
            <a:r>
              <a:rPr b="1" lang="en" sz="1900">
                <a:solidFill>
                  <a:srgbClr val="000000"/>
                </a:solidFill>
                <a:latin typeface="Times New Roman"/>
                <a:ea typeface="Times New Roman"/>
                <a:cs typeface="Times New Roman"/>
                <a:sym typeface="Times New Roman"/>
              </a:rPr>
              <a:t>.</a:t>
            </a:r>
            <a:endParaRPr b="1" sz="1900">
              <a:solidFill>
                <a:srgbClr val="000000"/>
              </a:solidFill>
              <a:latin typeface="Times New Roman"/>
              <a:ea typeface="Times New Roman"/>
              <a:cs typeface="Times New Roman"/>
              <a:sym typeface="Times New Roman"/>
            </a:endParaRPr>
          </a:p>
          <a:p>
            <a:pPr indent="-349250" lvl="0" marL="457200" rtl="0" algn="l">
              <a:spcBef>
                <a:spcPts val="0"/>
              </a:spcBef>
              <a:spcAft>
                <a:spcPts val="0"/>
              </a:spcAft>
              <a:buClr>
                <a:srgbClr val="000000"/>
              </a:buClr>
              <a:buSzPts val="1900"/>
              <a:buFont typeface="Times New Roman"/>
              <a:buChar char="●"/>
            </a:pPr>
            <a:r>
              <a:rPr b="1" lang="en" sz="1900">
                <a:solidFill>
                  <a:srgbClr val="000000"/>
                </a:solidFill>
                <a:latin typeface="Times New Roman"/>
                <a:ea typeface="Times New Roman"/>
                <a:cs typeface="Times New Roman"/>
                <a:sym typeface="Times New Roman"/>
              </a:rPr>
              <a:t>We do not consider </a:t>
            </a:r>
            <a:r>
              <a:rPr lang="en" sz="1900">
                <a:solidFill>
                  <a:srgbClr val="000000"/>
                </a:solidFill>
                <a:latin typeface="Times New Roman"/>
                <a:ea typeface="Times New Roman"/>
                <a:cs typeface="Times New Roman"/>
                <a:sym typeface="Times New Roman"/>
              </a:rPr>
              <a:t> a noun compound as a construction when </a:t>
            </a:r>
            <a:r>
              <a:rPr b="1" lang="en" sz="1900">
                <a:solidFill>
                  <a:srgbClr val="000000"/>
                </a:solidFill>
                <a:latin typeface="Times New Roman"/>
                <a:ea typeface="Times New Roman"/>
                <a:cs typeface="Times New Roman"/>
                <a:sym typeface="Times New Roman"/>
              </a:rPr>
              <a:t>any post-position or suffix is posited in between</a:t>
            </a:r>
            <a:endParaRPr b="1" sz="1900">
              <a:solidFill>
                <a:srgbClr val="000000"/>
              </a:solidFill>
              <a:latin typeface="Times New Roman"/>
              <a:ea typeface="Times New Roman"/>
              <a:cs typeface="Times New Roman"/>
              <a:sym typeface="Times New Roman"/>
            </a:endParaRPr>
          </a:p>
          <a:p>
            <a:pPr indent="-349250" lvl="1" marL="914400" rtl="0" algn="l">
              <a:spcBef>
                <a:spcPts val="0"/>
              </a:spcBef>
              <a:spcAft>
                <a:spcPts val="0"/>
              </a:spcAft>
              <a:buClr>
                <a:srgbClr val="000000"/>
              </a:buClr>
              <a:buSzPts val="1900"/>
              <a:buFont typeface="Times New Roman"/>
              <a:buChar char="○"/>
            </a:pPr>
            <a:r>
              <a:rPr lang="en" sz="1900">
                <a:solidFill>
                  <a:srgbClr val="000000"/>
                </a:solidFill>
                <a:latin typeface="Times New Roman"/>
                <a:ea typeface="Times New Roman"/>
                <a:cs typeface="Times New Roman"/>
                <a:sym typeface="Times New Roman"/>
              </a:rPr>
              <a:t>lohe</a:t>
            </a:r>
            <a:r>
              <a:rPr b="1" lang="en" sz="1900">
                <a:solidFill>
                  <a:srgbClr val="000000"/>
                </a:solidFill>
                <a:latin typeface="Times New Roman"/>
                <a:ea typeface="Times New Roman"/>
                <a:cs typeface="Times New Roman"/>
                <a:sym typeface="Times New Roman"/>
              </a:rPr>
              <a:t> kā</a:t>
            </a:r>
            <a:r>
              <a:rPr lang="en" sz="1900">
                <a:solidFill>
                  <a:srgbClr val="000000"/>
                </a:solidFill>
                <a:latin typeface="Times New Roman"/>
                <a:ea typeface="Times New Roman"/>
                <a:cs typeface="Times New Roman"/>
                <a:sym typeface="Times New Roman"/>
              </a:rPr>
              <a:t> ciyara</a:t>
            </a:r>
            <a:endParaRPr sz="1900">
              <a:solidFill>
                <a:srgbClr val="000000"/>
              </a:solidFill>
              <a:latin typeface="Times New Roman"/>
              <a:ea typeface="Times New Roman"/>
              <a:cs typeface="Times New Roman"/>
              <a:sym typeface="Times New Roman"/>
            </a:endParaRPr>
          </a:p>
          <a:p>
            <a:pPr indent="0" lvl="0" marL="914400" rtl="0" algn="l">
              <a:spcBef>
                <a:spcPts val="1200"/>
              </a:spcBef>
              <a:spcAft>
                <a:spcPts val="0"/>
              </a:spcAft>
              <a:buNone/>
            </a:pPr>
            <a:r>
              <a:t/>
            </a:r>
            <a:endParaRPr sz="1900">
              <a:solidFill>
                <a:srgbClr val="000000"/>
              </a:solidFill>
              <a:latin typeface="Times New Roman"/>
              <a:ea typeface="Times New Roman"/>
              <a:cs typeface="Times New Roman"/>
              <a:sym typeface="Times New Roman"/>
            </a:endParaRPr>
          </a:p>
          <a:p>
            <a:pPr indent="-349250" lvl="0" marL="457200" rtl="0" algn="l">
              <a:spcBef>
                <a:spcPts val="1200"/>
              </a:spcBef>
              <a:spcAft>
                <a:spcPts val="0"/>
              </a:spcAft>
              <a:buClr>
                <a:srgbClr val="000000"/>
              </a:buClr>
              <a:buSzPts val="1900"/>
              <a:buFont typeface="Times New Roman"/>
              <a:buChar char="●"/>
            </a:pPr>
            <a:r>
              <a:rPr lang="en" sz="1900" u="sng">
                <a:solidFill>
                  <a:srgbClr val="000000"/>
                </a:solidFill>
                <a:latin typeface="Times New Roman"/>
                <a:ea typeface="Times New Roman"/>
                <a:cs typeface="Times New Roman"/>
                <a:sym typeface="Times New Roman"/>
              </a:rPr>
              <a:t>Compound Verb</a:t>
            </a:r>
            <a:r>
              <a:rPr lang="en" sz="1900">
                <a:solidFill>
                  <a:srgbClr val="000000"/>
                </a:solidFill>
                <a:latin typeface="Times New Roman"/>
                <a:ea typeface="Times New Roman"/>
                <a:cs typeface="Times New Roman"/>
                <a:sym typeface="Times New Roman"/>
              </a:rPr>
              <a:t>, i.e.- Verb + Light Verb</a:t>
            </a:r>
            <a:endParaRPr sz="1900">
              <a:solidFill>
                <a:srgbClr val="000000"/>
              </a:solidFill>
              <a:latin typeface="Times New Roman"/>
              <a:ea typeface="Times New Roman"/>
              <a:cs typeface="Times New Roman"/>
              <a:sym typeface="Times New Roman"/>
            </a:endParaRPr>
          </a:p>
          <a:p>
            <a:pPr indent="-349250" lvl="1" marL="914400" rtl="0" algn="l">
              <a:spcBef>
                <a:spcPts val="0"/>
              </a:spcBef>
              <a:spcAft>
                <a:spcPts val="0"/>
              </a:spcAft>
              <a:buClr>
                <a:srgbClr val="000000"/>
              </a:buClr>
              <a:buSzPts val="1900"/>
              <a:buFont typeface="Times New Roman"/>
              <a:buChar char="○"/>
            </a:pPr>
            <a:r>
              <a:rPr b="1" lang="en" sz="1900">
                <a:solidFill>
                  <a:srgbClr val="000000"/>
                </a:solidFill>
                <a:latin typeface="Times New Roman"/>
                <a:ea typeface="Times New Roman"/>
                <a:cs typeface="Times New Roman"/>
                <a:sym typeface="Times New Roman"/>
              </a:rPr>
              <a:t>kara ḍāl-ā 		‘do keep-past’  </a:t>
            </a:r>
            <a:endParaRPr b="1" sz="1900">
              <a:solidFill>
                <a:srgbClr val="000000"/>
              </a:solidFill>
              <a:latin typeface="Times New Roman"/>
              <a:ea typeface="Times New Roman"/>
              <a:cs typeface="Times New Roman"/>
              <a:sym typeface="Times New Roman"/>
            </a:endParaRPr>
          </a:p>
          <a:p>
            <a:pPr indent="-349250" lvl="2" marL="1371600" rtl="0" algn="l">
              <a:spcBef>
                <a:spcPts val="0"/>
              </a:spcBef>
              <a:spcAft>
                <a:spcPts val="0"/>
              </a:spcAft>
              <a:buClr>
                <a:srgbClr val="000000"/>
              </a:buClr>
              <a:buSzPts val="1900"/>
              <a:buFont typeface="Times New Roman"/>
              <a:buChar char="■"/>
            </a:pPr>
            <a:r>
              <a:rPr lang="en" sz="1900">
                <a:solidFill>
                  <a:srgbClr val="000000"/>
                </a:solidFill>
                <a:latin typeface="Times New Roman"/>
                <a:ea typeface="Times New Roman"/>
                <a:cs typeface="Times New Roman"/>
                <a:sym typeface="Times New Roman"/>
              </a:rPr>
              <a:t>rām ne sārā kāma ekadina maiṃ </a:t>
            </a:r>
            <a:r>
              <a:rPr i="1" lang="en" sz="1900">
                <a:solidFill>
                  <a:srgbClr val="000000"/>
                </a:solidFill>
                <a:latin typeface="Times New Roman"/>
                <a:ea typeface="Times New Roman"/>
                <a:cs typeface="Times New Roman"/>
                <a:sym typeface="Times New Roman"/>
              </a:rPr>
              <a:t>kara ḍālā</a:t>
            </a:r>
            <a:endParaRPr i="1" sz="19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en" sz="1900">
                <a:solidFill>
                  <a:srgbClr val="000000"/>
                </a:solidFill>
                <a:latin typeface="Times New Roman"/>
                <a:ea typeface="Times New Roman"/>
                <a:cs typeface="Times New Roman"/>
                <a:sym typeface="Times New Roman"/>
              </a:rPr>
              <a:t> ‘Ram could do the whole work in one day’	</a:t>
            </a:r>
            <a:endParaRPr sz="19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b="1" sz="1900">
              <a:solidFill>
                <a:srgbClr val="000000"/>
              </a:solidFill>
              <a:latin typeface="Times New Roman"/>
              <a:ea typeface="Times New Roman"/>
              <a:cs typeface="Times New Roman"/>
              <a:sym typeface="Times New Roman"/>
            </a:endParaRPr>
          </a:p>
        </p:txBody>
      </p:sp>
      <p:sp>
        <p:nvSpPr>
          <p:cNvPr id="476" name="Google Shape;476;p79"/>
          <p:cNvSpPr txBox="1"/>
          <p:nvPr/>
        </p:nvSpPr>
        <p:spPr>
          <a:xfrm>
            <a:off x="751575" y="293575"/>
            <a:ext cx="61089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2000">
                <a:solidFill>
                  <a:schemeClr val="accent1"/>
                </a:solidFill>
              </a:rPr>
              <a:t>When NOT to consider as Noun Compound?</a:t>
            </a:r>
            <a:endParaRPr b="1" sz="2000">
              <a:solidFill>
                <a:schemeClr val="accent1"/>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80"/>
          <p:cNvSpPr txBox="1"/>
          <p:nvPr/>
        </p:nvSpPr>
        <p:spPr>
          <a:xfrm>
            <a:off x="751575" y="293575"/>
            <a:ext cx="61089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2000">
                <a:solidFill>
                  <a:schemeClr val="accent1"/>
                </a:solidFill>
              </a:rPr>
              <a:t>USR</a:t>
            </a:r>
            <a:endParaRPr b="1" sz="2000">
              <a:solidFill>
                <a:schemeClr val="accent1"/>
              </a:solidFill>
            </a:endParaRPr>
          </a:p>
        </p:txBody>
      </p:sp>
      <p:graphicFrame>
        <p:nvGraphicFramePr>
          <p:cNvPr id="482" name="Google Shape;482;p80"/>
          <p:cNvGraphicFramePr/>
          <p:nvPr/>
        </p:nvGraphicFramePr>
        <p:xfrm>
          <a:off x="622125" y="868700"/>
          <a:ext cx="3000000" cy="3000000"/>
        </p:xfrm>
        <a:graphic>
          <a:graphicData uri="http://schemas.openxmlformats.org/drawingml/2006/table">
            <a:tbl>
              <a:tblPr>
                <a:noFill/>
                <a:tableStyleId>{D7B16A15-CEB2-4D38-87CE-0F15F70C6202}</a:tableStyleId>
              </a:tblPr>
              <a:tblGrid>
                <a:gridCol w="1642550"/>
                <a:gridCol w="626075"/>
                <a:gridCol w="713025"/>
                <a:gridCol w="765225"/>
                <a:gridCol w="713025"/>
                <a:gridCol w="591300"/>
                <a:gridCol w="904325"/>
                <a:gridCol w="591300"/>
                <a:gridCol w="1478250"/>
              </a:tblGrid>
              <a:tr h="752850">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Original Sentence</a:t>
                      </a:r>
                      <a:endParaRPr sz="1500">
                        <a:latin typeface="Times New Roman"/>
                        <a:ea typeface="Times New Roman"/>
                        <a:cs typeface="Times New Roman"/>
                        <a:sym typeface="Times New Roman"/>
                      </a:endParaRPr>
                    </a:p>
                  </a:txBody>
                  <a:tcPr marT="63500" marB="63500" marR="63500" marL="63500"/>
                </a:tc>
                <a:tc gridSpan="8">
                  <a:txBody>
                    <a:bodyPr/>
                    <a:lstStyle/>
                    <a:p>
                      <a:pPr indent="0" lvl="0" marL="0" rtl="0" algn="just">
                        <a:lnSpc>
                          <a:spcPct val="115000"/>
                        </a:lnSpc>
                        <a:spcBef>
                          <a:spcPts val="0"/>
                        </a:spcBef>
                        <a:spcAft>
                          <a:spcPts val="0"/>
                        </a:spcAft>
                        <a:buNone/>
                      </a:pPr>
                      <a:r>
                        <a:rPr lang="en" sz="1500">
                          <a:latin typeface="Times New Roman"/>
                          <a:ea typeface="Times New Roman"/>
                          <a:cs typeface="Times New Roman"/>
                          <a:sym typeface="Times New Roman"/>
                        </a:rPr>
                        <a:t>pitā-putra ne basa sṭapa para cāya pīyā</a:t>
                      </a:r>
                      <a:endParaRPr sz="150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 sz="1500">
                          <a:latin typeface="Times New Roman"/>
                          <a:ea typeface="Times New Roman"/>
                          <a:cs typeface="Times New Roman"/>
                          <a:sym typeface="Times New Roman"/>
                        </a:rPr>
                        <a:t>‘Father and son had tea at the bus-stop.’</a:t>
                      </a:r>
                      <a:endParaRPr sz="1500">
                        <a:latin typeface="Times New Roman"/>
                        <a:ea typeface="Times New Roman"/>
                        <a:cs typeface="Times New Roman"/>
                        <a:sym typeface="Times New Roman"/>
                      </a:endParaRPr>
                    </a:p>
                  </a:txBody>
                  <a:tcPr marT="63500" marB="63500" marR="63500" marL="63500"/>
                </a:tc>
                <a:tc hMerge="1"/>
                <a:tc hMerge="1"/>
                <a:tc hMerge="1"/>
                <a:tc hMerge="1"/>
                <a:tc hMerge="1"/>
                <a:tc hMerge="1"/>
                <a:tc hMerge="1"/>
              </a:tr>
              <a:tr h="752850">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Concept</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500">
                          <a:latin typeface="Times New Roman"/>
                          <a:ea typeface="Times New Roman"/>
                          <a:cs typeface="Times New Roman"/>
                          <a:sym typeface="Times New Roman"/>
                        </a:rPr>
                        <a:t>pitā_1</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500">
                          <a:latin typeface="Times New Roman"/>
                          <a:ea typeface="Times New Roman"/>
                          <a:cs typeface="Times New Roman"/>
                          <a:sym typeface="Times New Roman"/>
                        </a:rPr>
                        <a:t>putra_1</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b="1" lang="en" sz="1500">
                          <a:latin typeface="Times New Roman"/>
                          <a:ea typeface="Times New Roman"/>
                          <a:cs typeface="Times New Roman"/>
                          <a:sym typeface="Times New Roman"/>
                        </a:rPr>
                        <a:t>[xvanxva_1]</a:t>
                      </a:r>
                      <a:endParaRPr b="1" sz="15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500">
                          <a:latin typeface="Times New Roman"/>
                          <a:ea typeface="Times New Roman"/>
                          <a:cs typeface="Times New Roman"/>
                          <a:sym typeface="Times New Roman"/>
                        </a:rPr>
                        <a:t>basa_1</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500">
                          <a:latin typeface="Times New Roman"/>
                          <a:ea typeface="Times New Roman"/>
                          <a:cs typeface="Times New Roman"/>
                          <a:sym typeface="Times New Roman"/>
                        </a:rPr>
                        <a:t>sṭapa_1</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b="1" lang="en" sz="1500">
                          <a:latin typeface="Times New Roman"/>
                          <a:ea typeface="Times New Roman"/>
                          <a:cs typeface="Times New Roman"/>
                          <a:sym typeface="Times New Roman"/>
                        </a:rPr>
                        <a:t>[6-waw_1]</a:t>
                      </a:r>
                      <a:endParaRPr b="1" sz="15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500">
                          <a:latin typeface="Times New Roman"/>
                          <a:ea typeface="Times New Roman"/>
                          <a:cs typeface="Times New Roman"/>
                          <a:sym typeface="Times New Roman"/>
                        </a:rPr>
                        <a:t>cāya_1</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500">
                          <a:latin typeface="Times New Roman"/>
                          <a:ea typeface="Times New Roman"/>
                          <a:cs typeface="Times New Roman"/>
                          <a:sym typeface="Times New Roman"/>
                        </a:rPr>
                        <a:t>pī_1-yā_1</a:t>
                      </a:r>
                      <a:endParaRPr sz="1500">
                        <a:latin typeface="Times New Roman"/>
                        <a:ea typeface="Times New Roman"/>
                        <a:cs typeface="Times New Roman"/>
                        <a:sym typeface="Times New Roman"/>
                      </a:endParaRPr>
                    </a:p>
                  </a:txBody>
                  <a:tcPr marT="63500" marB="63500" marR="63500" marL="63500"/>
                </a:tc>
              </a:tr>
              <a:tr h="417100">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Index</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1</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2</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3</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4</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5</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6</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7</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8</a:t>
                      </a:r>
                      <a:endParaRPr sz="1500">
                        <a:latin typeface="Times New Roman"/>
                        <a:ea typeface="Times New Roman"/>
                        <a:cs typeface="Times New Roman"/>
                        <a:sym typeface="Times New Roman"/>
                      </a:endParaRPr>
                    </a:p>
                  </a:txBody>
                  <a:tcPr marT="63500" marB="63500" marR="63500" marL="63500"/>
                </a:tc>
              </a:tr>
              <a:tr h="666000">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Semantic Category</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anim/male</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anim/male</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t/>
                      </a:r>
                      <a:endParaRPr sz="1500">
                        <a:latin typeface="Times New Roman"/>
                        <a:ea typeface="Times New Roman"/>
                        <a:cs typeface="Times New Roman"/>
                        <a:sym typeface="Times New Roman"/>
                      </a:endParaRPr>
                    </a:p>
                  </a:txBody>
                  <a:tcPr marT="63500" marB="63500" marR="63500" marL="63500"/>
                </a:tc>
              </a:tr>
              <a:tr h="666000">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Dependency relation</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8:k1</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8:k7p</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8:k2</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0:main</a:t>
                      </a:r>
                      <a:endParaRPr sz="1500">
                        <a:latin typeface="Times New Roman"/>
                        <a:ea typeface="Times New Roman"/>
                        <a:cs typeface="Times New Roman"/>
                        <a:sym typeface="Times New Roman"/>
                      </a:endParaRPr>
                    </a:p>
                  </a:txBody>
                  <a:tcPr marT="63500" marB="63500" marR="63500" marL="63500"/>
                </a:tc>
              </a:tr>
              <a:tr h="666000">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Construction relation</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b="1" lang="en" sz="1500">
                          <a:latin typeface="Times New Roman"/>
                          <a:ea typeface="Times New Roman"/>
                          <a:cs typeface="Times New Roman"/>
                          <a:sym typeface="Times New Roman"/>
                        </a:rPr>
                        <a:t>3:op1</a:t>
                      </a:r>
                      <a:endParaRPr b="1"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b="1" lang="en" sz="1500">
                          <a:latin typeface="Times New Roman"/>
                          <a:ea typeface="Times New Roman"/>
                          <a:cs typeface="Times New Roman"/>
                          <a:sym typeface="Times New Roman"/>
                        </a:rPr>
                        <a:t>3:op2</a:t>
                      </a:r>
                      <a:endParaRPr b="1"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b="1" lang="en" sz="1500">
                          <a:latin typeface="Times New Roman"/>
                          <a:ea typeface="Times New Roman"/>
                          <a:cs typeface="Times New Roman"/>
                          <a:sym typeface="Times New Roman"/>
                        </a:rPr>
                        <a:t>6:mod</a:t>
                      </a:r>
                      <a:endParaRPr b="1"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b="1" lang="en" sz="1500">
                          <a:latin typeface="Times New Roman"/>
                          <a:ea typeface="Times New Roman"/>
                          <a:cs typeface="Times New Roman"/>
                          <a:sym typeface="Times New Roman"/>
                        </a:rPr>
                        <a:t>6:head</a:t>
                      </a:r>
                      <a:endParaRPr b="1"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t/>
                      </a:r>
                      <a:endParaRPr sz="15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t/>
                      </a:r>
                      <a:endParaRPr sz="1500">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81"/>
          <p:cNvSpPr txBox="1"/>
          <p:nvPr/>
        </p:nvSpPr>
        <p:spPr>
          <a:xfrm>
            <a:off x="763325" y="70450"/>
            <a:ext cx="6108900" cy="492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600"/>
              </a:spcBef>
              <a:spcAft>
                <a:spcPts val="400"/>
              </a:spcAft>
              <a:buNone/>
            </a:pPr>
            <a:r>
              <a:rPr b="1" lang="en" sz="2000">
                <a:solidFill>
                  <a:schemeClr val="accent1"/>
                </a:solidFill>
                <a:latin typeface="Times New Roman"/>
                <a:ea typeface="Times New Roman"/>
                <a:cs typeface="Times New Roman"/>
                <a:sym typeface="Times New Roman"/>
              </a:rPr>
              <a:t>Complex Predicate</a:t>
            </a:r>
            <a:endParaRPr b="1" sz="2000">
              <a:solidFill>
                <a:schemeClr val="accent1"/>
              </a:solidFill>
            </a:endParaRPr>
          </a:p>
        </p:txBody>
      </p:sp>
      <p:sp>
        <p:nvSpPr>
          <p:cNvPr id="488" name="Google Shape;488;p81"/>
          <p:cNvSpPr txBox="1"/>
          <p:nvPr/>
        </p:nvSpPr>
        <p:spPr>
          <a:xfrm>
            <a:off x="445375" y="492600"/>
            <a:ext cx="7480200" cy="1772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800">
                <a:latin typeface="Times New Roman"/>
                <a:ea typeface="Times New Roman"/>
                <a:cs typeface="Times New Roman"/>
                <a:sym typeface="Times New Roman"/>
              </a:rPr>
              <a:t>A complex predicate consists of a kriyāmūla and a kriyā or verbalizer. They are represented as two different concepts with specific concept ID and the complex concept [cp_1] denotes their complex construction.</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rāma ne </a:t>
            </a:r>
            <a:r>
              <a:rPr b="1" lang="en" sz="1800">
                <a:latin typeface="Times New Roman"/>
                <a:ea typeface="Times New Roman"/>
                <a:cs typeface="Times New Roman"/>
                <a:sym typeface="Times New Roman"/>
              </a:rPr>
              <a:t> snāna kiyā</a:t>
            </a:r>
            <a:r>
              <a:rPr lang="en" sz="1800">
                <a:latin typeface="Times New Roman"/>
                <a:ea typeface="Times New Roman"/>
                <a:cs typeface="Times New Roman"/>
                <a:sym typeface="Times New Roman"/>
              </a:rPr>
              <a:t>. ‘Rama took a bath.’</a:t>
            </a:r>
            <a:endParaRPr sz="1800">
              <a:latin typeface="Times New Roman"/>
              <a:ea typeface="Times New Roman"/>
              <a:cs typeface="Times New Roman"/>
              <a:sym typeface="Times New Roman"/>
            </a:endParaRPr>
          </a:p>
        </p:txBody>
      </p:sp>
      <p:graphicFrame>
        <p:nvGraphicFramePr>
          <p:cNvPr id="489" name="Google Shape;489;p81"/>
          <p:cNvGraphicFramePr/>
          <p:nvPr/>
        </p:nvGraphicFramePr>
        <p:xfrm>
          <a:off x="763325" y="2264725"/>
          <a:ext cx="3000000" cy="3000000"/>
        </p:xfrm>
        <a:graphic>
          <a:graphicData uri="http://schemas.openxmlformats.org/drawingml/2006/table">
            <a:tbl>
              <a:tblPr>
                <a:noFill/>
                <a:tableStyleId>{EDD58965-6D8F-4DDF-ACC0-97B9EA81CD88}</a:tableStyleId>
              </a:tblPr>
              <a:tblGrid>
                <a:gridCol w="2951325"/>
                <a:gridCol w="798450"/>
                <a:gridCol w="735425"/>
                <a:gridCol w="899300"/>
                <a:gridCol w="1264900"/>
                <a:gridCol w="748000"/>
              </a:tblGrid>
              <a:tr h="483150">
                <a:tc>
                  <a:txBody>
                    <a:bodyPr/>
                    <a:lstStyle/>
                    <a:p>
                      <a:pPr indent="0" lvl="0" marL="0" rtl="0" algn="l">
                        <a:lnSpc>
                          <a:spcPct val="115000"/>
                        </a:lnSpc>
                        <a:spcBef>
                          <a:spcPts val="0"/>
                        </a:spcBef>
                        <a:spcAft>
                          <a:spcPts val="0"/>
                        </a:spcAft>
                        <a:buNone/>
                      </a:pPr>
                      <a:r>
                        <a:rPr lang="en" sz="1500">
                          <a:latin typeface="Times New Roman"/>
                          <a:ea typeface="Times New Roman"/>
                          <a:cs typeface="Times New Roman"/>
                          <a:sym typeface="Times New Roman"/>
                        </a:rPr>
                        <a:t>Concept</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Times New Roman"/>
                          <a:ea typeface="Times New Roman"/>
                          <a:cs typeface="Times New Roman"/>
                          <a:sym typeface="Times New Roman"/>
                        </a:rPr>
                        <a:t>ramā</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Times New Roman"/>
                          <a:ea typeface="Times New Roman"/>
                          <a:cs typeface="Times New Roman"/>
                          <a:sym typeface="Times New Roman"/>
                        </a:rPr>
                        <a:t>[ne_1]</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Times New Roman"/>
                          <a:ea typeface="Times New Roman"/>
                          <a:cs typeface="Times New Roman"/>
                          <a:sym typeface="Times New Roman"/>
                        </a:rPr>
                        <a:t>snāna_1</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Times New Roman"/>
                          <a:ea typeface="Times New Roman"/>
                          <a:cs typeface="Times New Roman"/>
                          <a:sym typeface="Times New Roman"/>
                        </a:rPr>
                        <a:t>kara_1-yā_1</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Times New Roman"/>
                          <a:ea typeface="Times New Roman"/>
                          <a:cs typeface="Times New Roman"/>
                          <a:sym typeface="Times New Roman"/>
                        </a:rPr>
                        <a:t>[cp_1]</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52200">
                <a:tc>
                  <a:txBody>
                    <a:bodyPr/>
                    <a:lstStyle/>
                    <a:p>
                      <a:pPr indent="0" lvl="0" marL="0" rtl="0" algn="l">
                        <a:lnSpc>
                          <a:spcPct val="115000"/>
                        </a:lnSpc>
                        <a:spcBef>
                          <a:spcPts val="0"/>
                        </a:spcBef>
                        <a:spcAft>
                          <a:spcPts val="0"/>
                        </a:spcAft>
                        <a:buNone/>
                      </a:pPr>
                      <a:r>
                        <a:rPr lang="en" sz="1500">
                          <a:latin typeface="Times New Roman"/>
                          <a:ea typeface="Times New Roman"/>
                          <a:cs typeface="Times New Roman"/>
                          <a:sym typeface="Times New Roman"/>
                        </a:rPr>
                        <a:t>Index</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latin typeface="Times New Roman"/>
                          <a:ea typeface="Times New Roman"/>
                          <a:cs typeface="Times New Roman"/>
                          <a:sym typeface="Times New Roman"/>
                        </a:rPr>
                        <a:t>1</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latin typeface="Times New Roman"/>
                          <a:ea typeface="Times New Roman"/>
                          <a:cs typeface="Times New Roman"/>
                          <a:sym typeface="Times New Roman"/>
                        </a:rPr>
                        <a:t>2</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latin typeface="Times New Roman"/>
                          <a:ea typeface="Times New Roman"/>
                          <a:cs typeface="Times New Roman"/>
                          <a:sym typeface="Times New Roman"/>
                        </a:rPr>
                        <a:t>3</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latin typeface="Times New Roman"/>
                          <a:ea typeface="Times New Roman"/>
                          <a:cs typeface="Times New Roman"/>
                          <a:sym typeface="Times New Roman"/>
                        </a:rPr>
                        <a:t>4</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latin typeface="Times New Roman"/>
                          <a:ea typeface="Times New Roman"/>
                          <a:cs typeface="Times New Roman"/>
                          <a:sym typeface="Times New Roman"/>
                        </a:rPr>
                        <a:t>5</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52200">
                <a:tc>
                  <a:txBody>
                    <a:bodyPr/>
                    <a:lstStyle/>
                    <a:p>
                      <a:pPr indent="0" lvl="0" marL="0" rtl="0" algn="l">
                        <a:lnSpc>
                          <a:spcPct val="115000"/>
                        </a:lnSpc>
                        <a:spcBef>
                          <a:spcPts val="0"/>
                        </a:spcBef>
                        <a:spcAft>
                          <a:spcPts val="0"/>
                        </a:spcAft>
                        <a:buNone/>
                      </a:pPr>
                      <a:r>
                        <a:rPr lang="en" sz="1500">
                          <a:latin typeface="Times New Roman"/>
                          <a:ea typeface="Times New Roman"/>
                          <a:cs typeface="Times New Roman"/>
                          <a:sym typeface="Times New Roman"/>
                        </a:rPr>
                        <a:t>Semantic Category</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latin typeface="Times New Roman"/>
                          <a:ea typeface="Times New Roman"/>
                          <a:cs typeface="Times New Roman"/>
                          <a:sym typeface="Times New Roman"/>
                        </a:rPr>
                        <a:t>male</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latin typeface="Times New Roman"/>
                          <a:ea typeface="Times New Roman"/>
                          <a:cs typeface="Times New Roman"/>
                          <a:sym typeface="Times New Roman"/>
                        </a:rPr>
                        <a:t>per</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19300">
                <a:tc>
                  <a:txBody>
                    <a:bodyPr/>
                    <a:lstStyle/>
                    <a:p>
                      <a:pPr indent="0" lvl="0" marL="0" rtl="0" algn="l">
                        <a:lnSpc>
                          <a:spcPct val="115000"/>
                        </a:lnSpc>
                        <a:spcBef>
                          <a:spcPts val="0"/>
                        </a:spcBef>
                        <a:spcAft>
                          <a:spcPts val="0"/>
                        </a:spcAft>
                        <a:buNone/>
                      </a:pPr>
                      <a:r>
                        <a:rPr lang="en" sz="1500">
                          <a:latin typeface="Times New Roman"/>
                          <a:ea typeface="Times New Roman"/>
                          <a:cs typeface="Times New Roman"/>
                          <a:sym typeface="Times New Roman"/>
                        </a:rPr>
                        <a:t>Dependency Row</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latin typeface="Times New Roman"/>
                          <a:ea typeface="Times New Roman"/>
                          <a:cs typeface="Times New Roman"/>
                          <a:sym typeface="Times New Roman"/>
                        </a:rPr>
                        <a:t>5:k1</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latin typeface="Times New Roman"/>
                          <a:ea typeface="Times New Roman"/>
                          <a:cs typeface="Times New Roman"/>
                          <a:sym typeface="Times New Roman"/>
                        </a:rPr>
                        <a:t>0:main</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71925">
                <a:tc>
                  <a:txBody>
                    <a:bodyPr/>
                    <a:lstStyle/>
                    <a:p>
                      <a:pPr indent="0" lvl="0" marL="0" rtl="0" algn="l">
                        <a:lnSpc>
                          <a:spcPct val="115000"/>
                        </a:lnSpc>
                        <a:spcBef>
                          <a:spcPts val="0"/>
                        </a:spcBef>
                        <a:spcAft>
                          <a:spcPts val="0"/>
                        </a:spcAft>
                        <a:buNone/>
                      </a:pPr>
                      <a:r>
                        <a:rPr lang="en" sz="1500">
                          <a:latin typeface="Times New Roman"/>
                          <a:ea typeface="Times New Roman"/>
                          <a:cs typeface="Times New Roman"/>
                          <a:sym typeface="Times New Roman"/>
                        </a:rPr>
                        <a:t>Construction</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latin typeface="Times New Roman"/>
                          <a:ea typeface="Times New Roman"/>
                          <a:cs typeface="Times New Roman"/>
                          <a:sym typeface="Times New Roman"/>
                        </a:rPr>
                        <a:t>2:begin</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500">
                          <a:latin typeface="Times New Roman"/>
                          <a:ea typeface="Times New Roman"/>
                          <a:cs typeface="Times New Roman"/>
                          <a:sym typeface="Times New Roman"/>
                        </a:rPr>
                        <a:t>5:kriyAmUla</a:t>
                      </a:r>
                      <a:endParaRPr b="1"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500">
                          <a:latin typeface="Times New Roman"/>
                          <a:ea typeface="Times New Roman"/>
                          <a:cs typeface="Times New Roman"/>
                          <a:sym typeface="Times New Roman"/>
                        </a:rPr>
                        <a:t>5:verbalizer</a:t>
                      </a:r>
                      <a:endParaRPr b="1"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82"/>
          <p:cNvSpPr txBox="1"/>
          <p:nvPr/>
        </p:nvSpPr>
        <p:spPr>
          <a:xfrm>
            <a:off x="751600" y="106025"/>
            <a:ext cx="61089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rPr b="1" lang="en" sz="2000">
                <a:solidFill>
                  <a:schemeClr val="accent1"/>
                </a:solidFill>
                <a:latin typeface="Times New Roman"/>
                <a:ea typeface="Times New Roman"/>
                <a:cs typeface="Times New Roman"/>
                <a:sym typeface="Times New Roman"/>
              </a:rPr>
              <a:t>Conjunction Construction</a:t>
            </a:r>
            <a:endParaRPr b="1" sz="2000">
              <a:solidFill>
                <a:schemeClr val="accent1"/>
              </a:solidFill>
              <a:latin typeface="Times New Roman"/>
              <a:ea typeface="Times New Roman"/>
              <a:cs typeface="Times New Roman"/>
              <a:sym typeface="Times New Roman"/>
            </a:endParaRPr>
          </a:p>
        </p:txBody>
      </p:sp>
      <p:sp>
        <p:nvSpPr>
          <p:cNvPr id="495" name="Google Shape;495;p82"/>
          <p:cNvSpPr txBox="1"/>
          <p:nvPr/>
        </p:nvSpPr>
        <p:spPr>
          <a:xfrm>
            <a:off x="583950" y="505550"/>
            <a:ext cx="7976100" cy="16902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A conjunction construction consists of more than one element which are conjoined together and are in identical dependency relation with the head.</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Components of [conj_1] constructions have the tag of op1, op2… index of [conj_1]:op</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b="1" i="1" lang="en" sz="1500">
                <a:latin typeface="Times New Roman"/>
                <a:ea typeface="Times New Roman"/>
                <a:cs typeface="Times New Roman"/>
                <a:sym typeface="Times New Roman"/>
              </a:rPr>
              <a:t>rāma aura mohana skūla gaye. ‘Rama and Mohana went to school.</a:t>
            </a:r>
            <a:endParaRPr b="1" i="1" sz="1500">
              <a:latin typeface="Times New Roman"/>
              <a:ea typeface="Times New Roman"/>
              <a:cs typeface="Times New Roman"/>
              <a:sym typeface="Times New Roman"/>
            </a:endParaRPr>
          </a:p>
        </p:txBody>
      </p:sp>
      <p:graphicFrame>
        <p:nvGraphicFramePr>
          <p:cNvPr id="496" name="Google Shape;496;p82"/>
          <p:cNvGraphicFramePr/>
          <p:nvPr/>
        </p:nvGraphicFramePr>
        <p:xfrm>
          <a:off x="540200" y="2571750"/>
          <a:ext cx="3000000" cy="3000000"/>
        </p:xfrm>
        <a:graphic>
          <a:graphicData uri="http://schemas.openxmlformats.org/drawingml/2006/table">
            <a:tbl>
              <a:tblPr>
                <a:noFill/>
                <a:tableStyleId>{DF9678A1-FBC9-4738-A53A-9731423E04E4}</a:tableStyleId>
              </a:tblPr>
              <a:tblGrid>
                <a:gridCol w="1834800"/>
                <a:gridCol w="830775"/>
                <a:gridCol w="942850"/>
                <a:gridCol w="956325"/>
                <a:gridCol w="896750"/>
                <a:gridCol w="1100025"/>
                <a:gridCol w="882550"/>
                <a:gridCol w="866125"/>
              </a:tblGrid>
              <a:tr h="621425">
                <a:tc>
                  <a:txBody>
                    <a:bodyPr/>
                    <a:lstStyle/>
                    <a:p>
                      <a:pPr indent="0" lvl="0" marL="0" rtl="0" algn="l">
                        <a:lnSpc>
                          <a:spcPct val="115000"/>
                        </a:lnSpc>
                        <a:spcBef>
                          <a:spcPts val="0"/>
                        </a:spcBef>
                        <a:spcAft>
                          <a:spcPts val="0"/>
                        </a:spcAft>
                        <a:buNone/>
                      </a:pPr>
                      <a:r>
                        <a:rPr b="1" lang="en"/>
                        <a:t>Concept</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ramā</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mohanā</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[conj_1]</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skūla_1</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jā_1-yā_1</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[ne_1]</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[ne_2]</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24000">
                <a:tc>
                  <a:txBody>
                    <a:bodyPr/>
                    <a:lstStyle/>
                    <a:p>
                      <a:pPr indent="0" lvl="0" marL="0" rtl="0" algn="l">
                        <a:spcBef>
                          <a:spcPts val="0"/>
                        </a:spcBef>
                        <a:spcAft>
                          <a:spcPts val="0"/>
                        </a:spcAft>
                        <a:buNone/>
                      </a:pPr>
                      <a:r>
                        <a:rPr b="1" lang="en"/>
                        <a:t>Index</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3</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6</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7</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9575">
                <a:tc>
                  <a:txBody>
                    <a:bodyPr/>
                    <a:lstStyle/>
                    <a:p>
                      <a:pPr indent="0" lvl="0" marL="0" rtl="0" algn="l">
                        <a:spcBef>
                          <a:spcPts val="0"/>
                        </a:spcBef>
                        <a:spcAft>
                          <a:spcPts val="0"/>
                        </a:spcAft>
                        <a:buNone/>
                      </a:pPr>
                      <a:r>
                        <a:rPr b="1" lang="en"/>
                        <a:t>Semantic Category</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male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male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per</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per</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6450">
                <a:tc>
                  <a:txBody>
                    <a:bodyPr/>
                    <a:lstStyle/>
                    <a:p>
                      <a:pPr indent="0" lvl="0" marL="0" rtl="0" algn="l">
                        <a:spcBef>
                          <a:spcPts val="0"/>
                        </a:spcBef>
                        <a:spcAft>
                          <a:spcPts val="0"/>
                        </a:spcAft>
                        <a:buNone/>
                      </a:pPr>
                      <a:r>
                        <a:rPr b="1" lang="en"/>
                        <a:t>Dependency Row</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5:k1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5:k2p</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0:main</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26350">
                <a:tc>
                  <a:txBody>
                    <a:bodyPr/>
                    <a:lstStyle/>
                    <a:p>
                      <a:pPr indent="0" lvl="0" marL="0" rtl="0" algn="l">
                        <a:spcBef>
                          <a:spcPts val="0"/>
                        </a:spcBef>
                        <a:spcAft>
                          <a:spcPts val="0"/>
                        </a:spcAft>
                        <a:buNone/>
                      </a:pPr>
                      <a:r>
                        <a:rPr b="1" lang="en"/>
                        <a:t>Construction</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6:begin</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7:begin</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3:op1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3:op2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83"/>
          <p:cNvSpPr txBox="1"/>
          <p:nvPr/>
        </p:nvSpPr>
        <p:spPr>
          <a:xfrm>
            <a:off x="751600" y="106025"/>
            <a:ext cx="61089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rPr b="1" lang="en" sz="2000">
                <a:solidFill>
                  <a:schemeClr val="accent1"/>
                </a:solidFill>
                <a:latin typeface="Times New Roman"/>
                <a:ea typeface="Times New Roman"/>
                <a:cs typeface="Times New Roman"/>
                <a:sym typeface="Times New Roman"/>
              </a:rPr>
              <a:t>Disjunction</a:t>
            </a:r>
            <a:r>
              <a:rPr b="1" lang="en" sz="2000">
                <a:solidFill>
                  <a:schemeClr val="accent1"/>
                </a:solidFill>
                <a:latin typeface="Times New Roman"/>
                <a:ea typeface="Times New Roman"/>
                <a:cs typeface="Times New Roman"/>
                <a:sym typeface="Times New Roman"/>
              </a:rPr>
              <a:t> Construction</a:t>
            </a:r>
            <a:endParaRPr b="1" sz="2000">
              <a:solidFill>
                <a:schemeClr val="accent1"/>
              </a:solidFill>
              <a:latin typeface="Times New Roman"/>
              <a:ea typeface="Times New Roman"/>
              <a:cs typeface="Times New Roman"/>
              <a:sym typeface="Times New Roman"/>
            </a:endParaRPr>
          </a:p>
        </p:txBody>
      </p:sp>
      <p:sp>
        <p:nvSpPr>
          <p:cNvPr id="502" name="Google Shape;502;p83"/>
          <p:cNvSpPr txBox="1"/>
          <p:nvPr/>
        </p:nvSpPr>
        <p:spPr>
          <a:xfrm>
            <a:off x="366400" y="880475"/>
            <a:ext cx="8184900" cy="23736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A disjunction construction expresses the relation between more than one element which are distinct alternatives. </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Relation among the components are given in the construction row as following</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sz="1800">
                <a:latin typeface="Times New Roman"/>
                <a:ea typeface="Times New Roman"/>
                <a:cs typeface="Times New Roman"/>
                <a:sym typeface="Times New Roman"/>
              </a:rPr>
              <a:t>Index of [disjunct_1]:opn</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800">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rPr lang="en" sz="1800">
                <a:latin typeface="Times New Roman"/>
                <a:ea typeface="Times New Roman"/>
                <a:cs typeface="Times New Roman"/>
                <a:sym typeface="Times New Roman"/>
              </a:rPr>
              <a:t>rāma roṭī </a:t>
            </a:r>
            <a:r>
              <a:rPr b="1" lang="en" sz="1800">
                <a:latin typeface="Times New Roman"/>
                <a:ea typeface="Times New Roman"/>
                <a:cs typeface="Times New Roman"/>
                <a:sym typeface="Times New Roman"/>
              </a:rPr>
              <a:t>yā </a:t>
            </a:r>
            <a:r>
              <a:rPr lang="en" sz="1800">
                <a:latin typeface="Times New Roman"/>
                <a:ea typeface="Times New Roman"/>
                <a:cs typeface="Times New Roman"/>
                <a:sym typeface="Times New Roman"/>
              </a:rPr>
              <a:t>cāvala khāyegā ‘Rama will eat bread </a:t>
            </a:r>
            <a:r>
              <a:rPr b="1" lang="en" sz="1800">
                <a:latin typeface="Times New Roman"/>
                <a:ea typeface="Times New Roman"/>
                <a:cs typeface="Times New Roman"/>
                <a:sym typeface="Times New Roman"/>
              </a:rPr>
              <a:t>or </a:t>
            </a:r>
            <a:r>
              <a:rPr lang="en" sz="1800">
                <a:latin typeface="Times New Roman"/>
                <a:ea typeface="Times New Roman"/>
                <a:cs typeface="Times New Roman"/>
                <a:sym typeface="Times New Roman"/>
              </a:rPr>
              <a:t>rice.’</a:t>
            </a:r>
            <a:endParaRPr sz="1800">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84"/>
          <p:cNvSpPr txBox="1"/>
          <p:nvPr/>
        </p:nvSpPr>
        <p:spPr>
          <a:xfrm>
            <a:off x="493250" y="0"/>
            <a:ext cx="61089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rPr b="1" lang="en" sz="2000">
                <a:solidFill>
                  <a:schemeClr val="accent1"/>
                </a:solidFill>
                <a:latin typeface="Times New Roman"/>
                <a:ea typeface="Times New Roman"/>
                <a:cs typeface="Times New Roman"/>
                <a:sym typeface="Times New Roman"/>
              </a:rPr>
              <a:t>Calendar </a:t>
            </a:r>
            <a:r>
              <a:rPr b="1" lang="en" sz="2000">
                <a:solidFill>
                  <a:schemeClr val="accent1"/>
                </a:solidFill>
                <a:latin typeface="Times New Roman"/>
                <a:ea typeface="Times New Roman"/>
                <a:cs typeface="Times New Roman"/>
                <a:sym typeface="Times New Roman"/>
              </a:rPr>
              <a:t>Construction</a:t>
            </a:r>
            <a:endParaRPr b="1" sz="2000">
              <a:solidFill>
                <a:schemeClr val="accent1"/>
              </a:solidFill>
              <a:latin typeface="Times New Roman"/>
              <a:ea typeface="Times New Roman"/>
              <a:cs typeface="Times New Roman"/>
              <a:sym typeface="Times New Roman"/>
            </a:endParaRPr>
          </a:p>
        </p:txBody>
      </p:sp>
      <p:sp>
        <p:nvSpPr>
          <p:cNvPr id="508" name="Google Shape;508;p84"/>
          <p:cNvSpPr txBox="1"/>
          <p:nvPr/>
        </p:nvSpPr>
        <p:spPr>
          <a:xfrm>
            <a:off x="284100" y="410400"/>
            <a:ext cx="8443500" cy="17277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A calendar construction is consists of following elements in an order</a:t>
            </a:r>
            <a:endParaRPr sz="1500">
              <a:latin typeface="Times New Roman"/>
              <a:ea typeface="Times New Roman"/>
              <a:cs typeface="Times New Roman"/>
              <a:sym typeface="Times New Roman"/>
            </a:endParaRPr>
          </a:p>
          <a:p>
            <a:pPr indent="457200" lvl="0" marL="0" rtl="0" algn="l">
              <a:lnSpc>
                <a:spcPct val="115000"/>
              </a:lnSpc>
              <a:spcBef>
                <a:spcPts val="0"/>
              </a:spcBef>
              <a:spcAft>
                <a:spcPts val="0"/>
              </a:spcAft>
              <a:buNone/>
            </a:pPr>
            <a:r>
              <a:rPr lang="en" sz="1500">
                <a:latin typeface="Times New Roman"/>
                <a:ea typeface="Times New Roman"/>
                <a:cs typeface="Times New Roman"/>
                <a:sym typeface="Times New Roman"/>
              </a:rPr>
              <a:t>Year&gt;Month&gt;Date&gt;Hour&gt;Minute&gt;Second</a:t>
            </a:r>
            <a:endParaRPr sz="1500">
              <a:latin typeface="Times New Roman"/>
              <a:ea typeface="Times New Roman"/>
              <a:cs typeface="Times New Roman"/>
              <a:sym typeface="Times New Roman"/>
            </a:endParaRPr>
          </a:p>
          <a:p>
            <a:pPr indent="-323850" lvl="0" marL="457200" rtl="0" algn="l">
              <a:lnSpc>
                <a:spcPct val="115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Semantic Category row gives the semantic tag of each slot of the pattern. </a:t>
            </a:r>
            <a:endParaRPr sz="1500">
              <a:latin typeface="Times New Roman"/>
              <a:ea typeface="Times New Roman"/>
              <a:cs typeface="Times New Roman"/>
              <a:sym typeface="Times New Roman"/>
            </a:endParaRPr>
          </a:p>
          <a:p>
            <a:pPr indent="-323850" lvl="0" marL="457200" rtl="0" algn="l">
              <a:lnSpc>
                <a:spcPct val="115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Relation among the components are given in the construction row as following Index of [calendar_1]:component</a:t>
            </a:r>
            <a:endParaRPr sz="1500">
              <a:latin typeface="Times New Roman"/>
              <a:ea typeface="Times New Roman"/>
              <a:cs typeface="Times New Roman"/>
              <a:sym typeface="Times New Roman"/>
            </a:endParaRPr>
          </a:p>
          <a:p>
            <a:pPr indent="-317500" lvl="2" marL="1371600" rtl="0" algn="l">
              <a:lnSpc>
                <a:spcPct val="115000"/>
              </a:lnSpc>
              <a:spcBef>
                <a:spcPts val="0"/>
              </a:spcBef>
              <a:spcAft>
                <a:spcPts val="0"/>
              </a:spcAft>
              <a:buSzPts val="1400"/>
              <a:buFont typeface="Times New Roman"/>
              <a:buChar char="■"/>
            </a:pPr>
            <a:r>
              <a:rPr b="1" i="1" lang="en">
                <a:latin typeface="Times New Roman"/>
                <a:ea typeface="Times New Roman"/>
                <a:cs typeface="Times New Roman"/>
                <a:sym typeface="Times New Roman"/>
              </a:rPr>
              <a:t>15 julāī 2020 rāma paidā huā thā  ‘Ram was born on 15th July, 2020.</a:t>
            </a:r>
            <a:endParaRPr b="1" i="1">
              <a:latin typeface="Times New Roman"/>
              <a:ea typeface="Times New Roman"/>
              <a:cs typeface="Times New Roman"/>
              <a:sym typeface="Times New Roman"/>
            </a:endParaRPr>
          </a:p>
        </p:txBody>
      </p:sp>
      <p:graphicFrame>
        <p:nvGraphicFramePr>
          <p:cNvPr id="509" name="Google Shape;509;p84"/>
          <p:cNvGraphicFramePr/>
          <p:nvPr/>
        </p:nvGraphicFramePr>
        <p:xfrm>
          <a:off x="200550" y="2122000"/>
          <a:ext cx="3000000" cy="3000000"/>
        </p:xfrm>
        <a:graphic>
          <a:graphicData uri="http://schemas.openxmlformats.org/drawingml/2006/table">
            <a:tbl>
              <a:tblPr>
                <a:noFill/>
                <a:tableStyleId>{DF9678A1-FBC9-4738-A53A-9731423E04E4}</a:tableStyleId>
              </a:tblPr>
              <a:tblGrid>
                <a:gridCol w="1069400"/>
                <a:gridCol w="748700"/>
                <a:gridCol w="1042275"/>
                <a:gridCol w="643000"/>
                <a:gridCol w="868075"/>
                <a:gridCol w="698975"/>
                <a:gridCol w="932675"/>
                <a:gridCol w="1100725"/>
                <a:gridCol w="875475"/>
                <a:gridCol w="631300"/>
              </a:tblGrid>
              <a:tr h="511375">
                <a:tc>
                  <a:txBody>
                    <a:bodyPr/>
                    <a:lstStyle/>
                    <a:p>
                      <a:pPr indent="0" lvl="0" marL="0" rtl="0" algn="l">
                        <a:lnSpc>
                          <a:spcPct val="115000"/>
                        </a:lnSpc>
                        <a:spcBef>
                          <a:spcPts val="0"/>
                        </a:spcBef>
                        <a:spcAft>
                          <a:spcPts val="0"/>
                        </a:spcAft>
                        <a:buNone/>
                      </a:pPr>
                      <a:r>
                        <a:rPr b="1" lang="en" sz="1100"/>
                        <a:t>Concept</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15</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julāī_1</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2020</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[calendar_1]</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rAma</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paidā_1</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ho_1-yā_thā_1</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[cp-1]</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[ne_1]</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5900">
                <a:tc>
                  <a:txBody>
                    <a:bodyPr/>
                    <a:lstStyle/>
                    <a:p>
                      <a:pPr indent="0" lvl="0" marL="0" rtl="0" algn="l">
                        <a:spcBef>
                          <a:spcPts val="0"/>
                        </a:spcBef>
                        <a:spcAft>
                          <a:spcPts val="0"/>
                        </a:spcAft>
                        <a:buNone/>
                      </a:pPr>
                      <a:r>
                        <a:rPr b="1" lang="en" sz="1100"/>
                        <a:t>Index</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3</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6</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7</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8</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9</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76825">
                <a:tc>
                  <a:txBody>
                    <a:bodyPr/>
                    <a:lstStyle/>
                    <a:p>
                      <a:pPr indent="0" lvl="0" marL="0" rtl="0" algn="l">
                        <a:spcBef>
                          <a:spcPts val="0"/>
                        </a:spcBef>
                        <a:spcAft>
                          <a:spcPts val="0"/>
                        </a:spcAft>
                        <a:buNone/>
                      </a:pPr>
                      <a:r>
                        <a:rPr b="1" lang="en" sz="1100"/>
                        <a:t>Semantic Category</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a:t>dom</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a:t>moy</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a:t>yoc</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male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per</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76825">
                <a:tc>
                  <a:txBody>
                    <a:bodyPr/>
                    <a:lstStyle/>
                    <a:p>
                      <a:pPr indent="0" lvl="0" marL="0" rtl="0" algn="l">
                        <a:spcBef>
                          <a:spcPts val="0"/>
                        </a:spcBef>
                        <a:spcAft>
                          <a:spcPts val="0"/>
                        </a:spcAft>
                        <a:buNone/>
                      </a:pPr>
                      <a:r>
                        <a:rPr b="1" lang="en" sz="1100"/>
                        <a:t>Dependency Row</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8:k7t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0:main</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8:k1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926050">
                <a:tc>
                  <a:txBody>
                    <a:bodyPr/>
                    <a:lstStyle/>
                    <a:p>
                      <a:pPr indent="0" lvl="0" marL="0" rtl="0" algn="l">
                        <a:spcBef>
                          <a:spcPts val="0"/>
                        </a:spcBef>
                        <a:spcAft>
                          <a:spcPts val="0"/>
                        </a:spcAft>
                        <a:buNone/>
                      </a:pPr>
                      <a:r>
                        <a:rPr b="1" lang="en" sz="1100"/>
                        <a:t>Construction</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4:component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4:component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4:component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8:kriyAmUla</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8:verbalizer</a:t>
                      </a:r>
                      <a:endParaRPr/>
                    </a:p>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9:begin</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85"/>
          <p:cNvSpPr txBox="1"/>
          <p:nvPr/>
        </p:nvSpPr>
        <p:spPr>
          <a:xfrm>
            <a:off x="598950" y="352300"/>
            <a:ext cx="61089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rPr b="1" lang="en" sz="2000">
                <a:solidFill>
                  <a:schemeClr val="accent1"/>
                </a:solidFill>
                <a:latin typeface="Times New Roman"/>
                <a:ea typeface="Times New Roman"/>
                <a:cs typeface="Times New Roman"/>
                <a:sym typeface="Times New Roman"/>
              </a:rPr>
              <a:t>Spatial Construction</a:t>
            </a:r>
            <a:endParaRPr b="1" sz="2000">
              <a:solidFill>
                <a:schemeClr val="accent1"/>
              </a:solidFill>
              <a:latin typeface="Times New Roman"/>
              <a:ea typeface="Times New Roman"/>
              <a:cs typeface="Times New Roman"/>
              <a:sym typeface="Times New Roman"/>
            </a:endParaRPr>
          </a:p>
        </p:txBody>
      </p:sp>
      <p:sp>
        <p:nvSpPr>
          <p:cNvPr id="515" name="Google Shape;515;p85"/>
          <p:cNvSpPr txBox="1"/>
          <p:nvPr/>
        </p:nvSpPr>
        <p:spPr>
          <a:xfrm>
            <a:off x="350250" y="950600"/>
            <a:ext cx="8443500" cy="14175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A spatial construction shows the relation as a part-whole between the places as</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sz="1800">
                <a:latin typeface="Times New Roman"/>
                <a:ea typeface="Times New Roman"/>
                <a:cs typeface="Times New Roman"/>
                <a:sym typeface="Times New Roman"/>
              </a:rPr>
              <a:t> whole place&gt; place within</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The relation is shown as </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sz="1800">
                <a:latin typeface="Times New Roman"/>
                <a:ea typeface="Times New Roman"/>
                <a:cs typeface="Times New Roman"/>
                <a:sym typeface="Times New Roman"/>
              </a:rPr>
              <a:t> Index of [spatial_1]: whole and  Index of [spatial_1]:part</a:t>
            </a:r>
            <a:endParaRPr b="1" i="1" sz="1800">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86"/>
          <p:cNvSpPr txBox="1"/>
          <p:nvPr/>
        </p:nvSpPr>
        <p:spPr>
          <a:xfrm>
            <a:off x="598950" y="352300"/>
            <a:ext cx="61089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rPr b="1" lang="en" sz="2000">
                <a:solidFill>
                  <a:schemeClr val="accent1"/>
                </a:solidFill>
                <a:latin typeface="Times New Roman"/>
                <a:ea typeface="Times New Roman"/>
                <a:cs typeface="Times New Roman"/>
                <a:sym typeface="Times New Roman"/>
              </a:rPr>
              <a:t>Temporal Construction</a:t>
            </a:r>
            <a:endParaRPr b="1" sz="2000">
              <a:solidFill>
                <a:schemeClr val="accent1"/>
              </a:solidFill>
              <a:latin typeface="Times New Roman"/>
              <a:ea typeface="Times New Roman"/>
              <a:cs typeface="Times New Roman"/>
              <a:sym typeface="Times New Roman"/>
            </a:endParaRPr>
          </a:p>
        </p:txBody>
      </p:sp>
      <p:sp>
        <p:nvSpPr>
          <p:cNvPr id="521" name="Google Shape;521;p86"/>
          <p:cNvSpPr txBox="1"/>
          <p:nvPr/>
        </p:nvSpPr>
        <p:spPr>
          <a:xfrm>
            <a:off x="350250" y="950600"/>
            <a:ext cx="8443500" cy="14175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A temporal construction shows the relation as a part-whole between the times as</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sz="1800">
                <a:latin typeface="Times New Roman"/>
                <a:ea typeface="Times New Roman"/>
                <a:cs typeface="Times New Roman"/>
                <a:sym typeface="Times New Roman"/>
              </a:rPr>
              <a:t> </a:t>
            </a:r>
            <a:r>
              <a:rPr b="1" lang="en" sz="1800">
                <a:latin typeface="Times New Roman"/>
                <a:ea typeface="Times New Roman"/>
                <a:cs typeface="Times New Roman"/>
                <a:sym typeface="Times New Roman"/>
              </a:rPr>
              <a:t>whole time&gt; time within</a:t>
            </a:r>
            <a:endParaRPr b="1"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The relation is shown as </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sz="1800">
                <a:latin typeface="Times New Roman"/>
                <a:ea typeface="Times New Roman"/>
                <a:cs typeface="Times New Roman"/>
                <a:sym typeface="Times New Roman"/>
              </a:rPr>
              <a:t> Index of [temporal_1]: whole and  Index of [temporal_1]:part</a:t>
            </a:r>
            <a:endParaRPr sz="1800">
              <a:latin typeface="Times New Roman"/>
              <a:ea typeface="Times New Roman"/>
              <a:cs typeface="Times New Roman"/>
              <a:sym typeface="Times New Roman"/>
            </a:endParaRPr>
          </a:p>
        </p:txBody>
      </p:sp>
      <p:sp>
        <p:nvSpPr>
          <p:cNvPr id="522" name="Google Shape;522;p86"/>
          <p:cNvSpPr txBox="1"/>
          <p:nvPr/>
        </p:nvSpPr>
        <p:spPr>
          <a:xfrm>
            <a:off x="986425" y="2368100"/>
            <a:ext cx="77058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i="1" lang="en" sz="1600">
                <a:latin typeface="Times New Roman"/>
                <a:ea typeface="Times New Roman"/>
                <a:cs typeface="Times New Roman"/>
                <a:sym typeface="Times New Roman"/>
              </a:rPr>
              <a:t>manu subaha sāta baje calanā śurū kiyā  (‘Manu started walking at 7 in the morning.’)</a:t>
            </a:r>
            <a:endParaRPr b="1" i="1" sz="1600">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87"/>
          <p:cNvSpPr txBox="1"/>
          <p:nvPr/>
        </p:nvSpPr>
        <p:spPr>
          <a:xfrm>
            <a:off x="598950" y="352300"/>
            <a:ext cx="61089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rPr b="1" lang="en" sz="2000">
                <a:solidFill>
                  <a:schemeClr val="accent1"/>
                </a:solidFill>
                <a:latin typeface="Times New Roman"/>
                <a:ea typeface="Times New Roman"/>
                <a:cs typeface="Times New Roman"/>
                <a:sym typeface="Times New Roman"/>
              </a:rPr>
              <a:t>Temporal Construction</a:t>
            </a:r>
            <a:endParaRPr b="1" sz="2000">
              <a:solidFill>
                <a:schemeClr val="accent1"/>
              </a:solidFill>
              <a:latin typeface="Times New Roman"/>
              <a:ea typeface="Times New Roman"/>
              <a:cs typeface="Times New Roman"/>
              <a:sym typeface="Times New Roman"/>
            </a:endParaRPr>
          </a:p>
        </p:txBody>
      </p:sp>
      <p:sp>
        <p:nvSpPr>
          <p:cNvPr id="528" name="Google Shape;528;p87"/>
          <p:cNvSpPr txBox="1"/>
          <p:nvPr/>
        </p:nvSpPr>
        <p:spPr>
          <a:xfrm>
            <a:off x="598950" y="986425"/>
            <a:ext cx="77058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i="1" lang="en" sz="1600">
                <a:latin typeface="Times New Roman"/>
                <a:ea typeface="Times New Roman"/>
                <a:cs typeface="Times New Roman"/>
                <a:sym typeface="Times New Roman"/>
              </a:rPr>
              <a:t>manu subaha sāta baje calanā śurū kiyā  (‘Manu started walking at 7 in the morning.’)</a:t>
            </a:r>
            <a:endParaRPr b="1" i="1" sz="1600">
              <a:latin typeface="Times New Roman"/>
              <a:ea typeface="Times New Roman"/>
              <a:cs typeface="Times New Roman"/>
              <a:sym typeface="Times New Roman"/>
            </a:endParaRPr>
          </a:p>
        </p:txBody>
      </p:sp>
      <p:graphicFrame>
        <p:nvGraphicFramePr>
          <p:cNvPr id="529" name="Google Shape;529;p87"/>
          <p:cNvGraphicFramePr/>
          <p:nvPr/>
        </p:nvGraphicFramePr>
        <p:xfrm>
          <a:off x="308075" y="1619950"/>
          <a:ext cx="3000000" cy="3000000"/>
        </p:xfrm>
        <a:graphic>
          <a:graphicData uri="http://schemas.openxmlformats.org/drawingml/2006/table">
            <a:tbl>
              <a:tblPr>
                <a:noFill/>
                <a:tableStyleId>{DF9678A1-FBC9-4738-A53A-9731423E04E4}</a:tableStyleId>
              </a:tblPr>
              <a:tblGrid>
                <a:gridCol w="971575"/>
                <a:gridCol w="611625"/>
                <a:gridCol w="617350"/>
                <a:gridCol w="794525"/>
                <a:gridCol w="878300"/>
                <a:gridCol w="732750"/>
                <a:gridCol w="1206925"/>
                <a:gridCol w="1184775"/>
                <a:gridCol w="641200"/>
                <a:gridCol w="745050"/>
              </a:tblGrid>
              <a:tr h="190500">
                <a:tc>
                  <a:txBody>
                    <a:bodyPr/>
                    <a:lstStyle/>
                    <a:p>
                      <a:pPr indent="0" lvl="0" marL="0" rtl="0" algn="l">
                        <a:spcBef>
                          <a:spcPts val="0"/>
                        </a:spcBef>
                        <a:spcAft>
                          <a:spcPts val="0"/>
                        </a:spcAft>
                        <a:buNone/>
                      </a:pPr>
                      <a:r>
                        <a:rPr b="1" lang="en" sz="1300"/>
                        <a:t>Concept</a:t>
                      </a:r>
                      <a:endParaRPr b="1" sz="13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manu</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subaha_1</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7</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600"/>
                        <a:t>[temporal_1]</a:t>
                      </a:r>
                      <a:endParaRPr b="1"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cala_1</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śurū_1</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kara_1-yā_1</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[cp_1]</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[ne_1]</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en" sz="1300"/>
                        <a:t>Index</a:t>
                      </a:r>
                      <a:endParaRPr b="1" sz="13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1</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2</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3</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4</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5</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6</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7</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8</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9</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en" sz="1300"/>
                        <a:t>Sem. Cat.</a:t>
                      </a:r>
                      <a:endParaRPr b="1" sz="13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male</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clocktime</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per</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en" sz="1300"/>
                        <a:t>Construction</a:t>
                      </a:r>
                      <a:endParaRPr b="1" sz="13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9:begin </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600"/>
                        <a:t>4:whole </a:t>
                      </a:r>
                      <a:endParaRPr b="1" sz="1600"/>
                    </a:p>
                    <a:p>
                      <a:pPr indent="0" lvl="0" marL="0" rtl="0" algn="l">
                        <a:spcBef>
                          <a:spcPts val="0"/>
                        </a:spcBef>
                        <a:spcAft>
                          <a:spcPts val="0"/>
                        </a:spcAft>
                        <a:buNone/>
                      </a:pPr>
                      <a:r>
                        <a:t/>
                      </a:r>
                      <a:endParaRPr b="1"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600"/>
                        <a:t>4:part</a:t>
                      </a:r>
                      <a:endParaRPr b="1"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8:kriyAmUla</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8:verbalizer</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graphicFrame>
        <p:nvGraphicFramePr>
          <p:cNvPr id="534" name="Google Shape;534;p88"/>
          <p:cNvGraphicFramePr/>
          <p:nvPr/>
        </p:nvGraphicFramePr>
        <p:xfrm>
          <a:off x="798275" y="2524500"/>
          <a:ext cx="3000000" cy="3000000"/>
        </p:xfrm>
        <a:graphic>
          <a:graphicData uri="http://schemas.openxmlformats.org/drawingml/2006/table">
            <a:tbl>
              <a:tblPr>
                <a:noFill/>
                <a:tableStyleId>{DF9678A1-FBC9-4738-A53A-9731423E04E4}</a:tableStyleId>
              </a:tblPr>
              <a:tblGrid>
                <a:gridCol w="1426025"/>
                <a:gridCol w="968550"/>
                <a:gridCol w="909800"/>
                <a:gridCol w="1129300"/>
                <a:gridCol w="1411725"/>
                <a:gridCol w="1416675"/>
              </a:tblGrid>
              <a:tr h="190500">
                <a:tc>
                  <a:txBody>
                    <a:bodyPr/>
                    <a:lstStyle/>
                    <a:p>
                      <a:pPr indent="0" lvl="0" marL="0" rtl="0" algn="l">
                        <a:spcBef>
                          <a:spcPts val="0"/>
                        </a:spcBef>
                        <a:spcAft>
                          <a:spcPts val="0"/>
                        </a:spcAft>
                        <a:buNone/>
                      </a:pPr>
                      <a:r>
                        <a:rPr b="1" lang="en" sz="1100"/>
                        <a:t>Concept</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1990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2000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pragati_1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ho_1-yā_1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a:t>[span_1]</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en" sz="1100"/>
                        <a:t>Index</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3</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en" sz="1100"/>
                        <a:t>Sem. Cat.</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yoc</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yoc</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en" sz="1100"/>
                        <a:t>Dependency Row</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4:k1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0:main</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4:k7t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b="1" lang="en" sz="1100"/>
                        <a:t>Construction</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a:t>5:start</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a:t>5:end</a:t>
                      </a:r>
                      <a:endParaRPr b="1"/>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535" name="Google Shape;535;p88"/>
          <p:cNvSpPr txBox="1"/>
          <p:nvPr/>
        </p:nvSpPr>
        <p:spPr>
          <a:xfrm>
            <a:off x="563675" y="657625"/>
            <a:ext cx="7846800" cy="17361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A span construction shows the relation as a span of </a:t>
            </a:r>
            <a:r>
              <a:rPr lang="en" sz="1800">
                <a:highlight>
                  <a:srgbClr val="FFFFFF"/>
                </a:highlight>
                <a:latin typeface="Times New Roman"/>
                <a:ea typeface="Times New Roman"/>
                <a:cs typeface="Times New Roman"/>
                <a:sym typeface="Times New Roman"/>
              </a:rPr>
              <a:t>the full extent or range of something from start to end.</a:t>
            </a:r>
            <a:endParaRPr sz="1800">
              <a:highlight>
                <a:srgbClr val="FFFFFF"/>
              </a:highlight>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highlight>
                  <a:srgbClr val="FFFFFF"/>
                </a:highlight>
                <a:latin typeface="Times New Roman"/>
                <a:ea typeface="Times New Roman"/>
                <a:cs typeface="Times New Roman"/>
                <a:sym typeface="Times New Roman"/>
              </a:rPr>
              <a:t>Name of this construction is [span_1] and the components are </a:t>
            </a:r>
            <a:r>
              <a:rPr b="1" lang="en" sz="1800">
                <a:highlight>
                  <a:srgbClr val="FFFFFF"/>
                </a:highlight>
                <a:latin typeface="Times New Roman"/>
                <a:ea typeface="Times New Roman"/>
                <a:cs typeface="Times New Roman"/>
                <a:sym typeface="Times New Roman"/>
              </a:rPr>
              <a:t>start and end</a:t>
            </a:r>
            <a:r>
              <a:rPr lang="en" sz="1800">
                <a:highlight>
                  <a:srgbClr val="FFFFFF"/>
                </a:highlight>
                <a:latin typeface="Times New Roman"/>
                <a:ea typeface="Times New Roman"/>
                <a:cs typeface="Times New Roman"/>
                <a:sym typeface="Times New Roman"/>
              </a:rPr>
              <a:t>.</a:t>
            </a:r>
            <a:endParaRPr sz="1800">
              <a:highlight>
                <a:srgbClr val="FFFFFF"/>
              </a:highlight>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The relation is shown as </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sz="1800">
                <a:latin typeface="Times New Roman"/>
                <a:ea typeface="Times New Roman"/>
                <a:cs typeface="Times New Roman"/>
                <a:sym typeface="Times New Roman"/>
              </a:rPr>
              <a:t> Index of [span_1]: start and  Index of [span_1]:end</a:t>
            </a:r>
            <a:endParaRPr sz="1800">
              <a:latin typeface="Times New Roman"/>
              <a:ea typeface="Times New Roman"/>
              <a:cs typeface="Times New Roman"/>
              <a:sym typeface="Times New Roman"/>
            </a:endParaRPr>
          </a:p>
        </p:txBody>
      </p:sp>
      <p:sp>
        <p:nvSpPr>
          <p:cNvPr id="536" name="Google Shape;536;p88"/>
          <p:cNvSpPr txBox="1"/>
          <p:nvPr/>
        </p:nvSpPr>
        <p:spPr>
          <a:xfrm>
            <a:off x="798275" y="117425"/>
            <a:ext cx="30000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rPr b="1" lang="en" sz="2000">
                <a:solidFill>
                  <a:schemeClr val="accent1"/>
                </a:solidFill>
                <a:latin typeface="Times New Roman"/>
                <a:ea typeface="Times New Roman"/>
                <a:cs typeface="Times New Roman"/>
                <a:sym typeface="Times New Roman"/>
              </a:rPr>
              <a:t>Span Construction</a:t>
            </a:r>
            <a:endParaRPr b="1" sz="2000">
              <a:solidFill>
                <a:schemeClr val="accen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89"/>
          <p:cNvSpPr txBox="1"/>
          <p:nvPr/>
        </p:nvSpPr>
        <p:spPr>
          <a:xfrm>
            <a:off x="563675" y="657625"/>
            <a:ext cx="7846800" cy="23736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highlight>
                  <a:srgbClr val="FFFFFF"/>
                </a:highlight>
                <a:latin typeface="Times New Roman"/>
                <a:ea typeface="Times New Roman"/>
                <a:cs typeface="Times New Roman"/>
                <a:sym typeface="Times New Roman"/>
              </a:rPr>
              <a:t>The concept of </a:t>
            </a:r>
            <a:r>
              <a:rPr b="1" lang="en" sz="1800">
                <a:highlight>
                  <a:srgbClr val="FFFFFF"/>
                </a:highlight>
                <a:latin typeface="Times New Roman"/>
                <a:ea typeface="Times New Roman"/>
                <a:cs typeface="Times New Roman"/>
                <a:sym typeface="Times New Roman"/>
              </a:rPr>
              <a:t>rate</a:t>
            </a:r>
            <a:r>
              <a:rPr lang="en" sz="1800">
                <a:highlight>
                  <a:srgbClr val="FFFFFF"/>
                </a:highlight>
                <a:latin typeface="Times New Roman"/>
                <a:ea typeface="Times New Roman"/>
                <a:cs typeface="Times New Roman"/>
                <a:sym typeface="Times New Roman"/>
              </a:rPr>
              <a:t> involves two measurements, often involving time, quantity, amount, or degree of something measured per unit of something else.</a:t>
            </a:r>
            <a:endParaRPr sz="1800">
              <a:highlight>
                <a:srgbClr val="FFFFFF"/>
              </a:highlight>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highlight>
                  <a:srgbClr val="FFFFFF"/>
                </a:highlight>
                <a:latin typeface="Times New Roman"/>
                <a:ea typeface="Times New Roman"/>
                <a:cs typeface="Times New Roman"/>
                <a:sym typeface="Times New Roman"/>
              </a:rPr>
              <a:t>Name of rate construction is </a:t>
            </a:r>
            <a:r>
              <a:rPr b="1" lang="en" sz="1800">
                <a:latin typeface="Times New Roman"/>
                <a:ea typeface="Times New Roman"/>
                <a:cs typeface="Times New Roman"/>
                <a:sym typeface="Times New Roman"/>
              </a:rPr>
              <a:t> [rate_1]</a:t>
            </a:r>
            <a:r>
              <a:rPr lang="en" sz="1800">
                <a:latin typeface="Times New Roman"/>
                <a:ea typeface="Times New Roman"/>
                <a:cs typeface="Times New Roman"/>
                <a:sym typeface="Times New Roman"/>
              </a:rPr>
              <a:t>, components are </a:t>
            </a:r>
            <a:r>
              <a:rPr b="1" lang="en" sz="1800">
                <a:latin typeface="Times New Roman"/>
                <a:ea typeface="Times New Roman"/>
                <a:cs typeface="Times New Roman"/>
                <a:sym typeface="Times New Roman"/>
              </a:rPr>
              <a:t>unit_value </a:t>
            </a:r>
            <a:r>
              <a:rPr lang="en" sz="1800">
                <a:latin typeface="Times New Roman"/>
                <a:ea typeface="Times New Roman"/>
                <a:cs typeface="Times New Roman"/>
                <a:sym typeface="Times New Roman"/>
              </a:rPr>
              <a:t>and</a:t>
            </a:r>
            <a:r>
              <a:rPr b="1" lang="en" sz="1800">
                <a:latin typeface="Times New Roman"/>
                <a:ea typeface="Times New Roman"/>
                <a:cs typeface="Times New Roman"/>
                <a:sym typeface="Times New Roman"/>
              </a:rPr>
              <a:t> unit_every</a:t>
            </a:r>
            <a:r>
              <a:rPr lang="en" sz="1800">
                <a:highlight>
                  <a:srgbClr val="FFFFFF"/>
                </a:highlight>
                <a:latin typeface="Times New Roman"/>
                <a:ea typeface="Times New Roman"/>
                <a:cs typeface="Times New Roman"/>
                <a:sym typeface="Times New Roman"/>
              </a:rPr>
              <a:t> consists of value/per unit.</a:t>
            </a:r>
            <a:endParaRPr sz="1800">
              <a:highlight>
                <a:srgbClr val="FFFFFF"/>
              </a:highlight>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highlight>
                  <a:srgbClr val="FFFFFF"/>
                </a:highlight>
                <a:latin typeface="Times New Roman"/>
                <a:ea typeface="Times New Roman"/>
                <a:cs typeface="Times New Roman"/>
                <a:sym typeface="Times New Roman"/>
              </a:rPr>
              <a:t>Value can be a measuring expression or a counting expression (cardinal+noun expression)</a:t>
            </a:r>
            <a:endParaRPr sz="1800">
              <a:highlight>
                <a:srgbClr val="FFFFFF"/>
              </a:highlight>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highlight>
                  <a:srgbClr val="FFFFFF"/>
                </a:highlight>
                <a:latin typeface="Times New Roman"/>
                <a:ea typeface="Times New Roman"/>
                <a:cs typeface="Times New Roman"/>
                <a:sym typeface="Times New Roman"/>
              </a:rPr>
              <a:t>Unit can be a measuring unit or measuring noun.</a:t>
            </a:r>
            <a:endParaRPr sz="1800">
              <a:latin typeface="Times New Roman"/>
              <a:ea typeface="Times New Roman"/>
              <a:cs typeface="Times New Roman"/>
              <a:sym typeface="Times New Roman"/>
            </a:endParaRPr>
          </a:p>
        </p:txBody>
      </p:sp>
      <p:sp>
        <p:nvSpPr>
          <p:cNvPr id="542" name="Google Shape;542;p89"/>
          <p:cNvSpPr txBox="1"/>
          <p:nvPr/>
        </p:nvSpPr>
        <p:spPr>
          <a:xfrm>
            <a:off x="798275" y="117425"/>
            <a:ext cx="30000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rPr b="1" lang="en" sz="2000">
                <a:solidFill>
                  <a:schemeClr val="accent1"/>
                </a:solidFill>
                <a:latin typeface="Times New Roman"/>
                <a:ea typeface="Times New Roman"/>
                <a:cs typeface="Times New Roman"/>
                <a:sym typeface="Times New Roman"/>
              </a:rPr>
              <a:t>Rate Construction</a:t>
            </a:r>
            <a:endParaRPr b="1" sz="2000">
              <a:solidFill>
                <a:schemeClr val="accen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90"/>
          <p:cNvSpPr txBox="1"/>
          <p:nvPr/>
        </p:nvSpPr>
        <p:spPr>
          <a:xfrm>
            <a:off x="657350" y="211375"/>
            <a:ext cx="30000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rPr b="1" lang="en" sz="2000">
                <a:solidFill>
                  <a:schemeClr val="accent1"/>
                </a:solidFill>
                <a:latin typeface="Times New Roman"/>
                <a:ea typeface="Times New Roman"/>
                <a:cs typeface="Times New Roman"/>
                <a:sym typeface="Times New Roman"/>
              </a:rPr>
              <a:t>Rate Construction</a:t>
            </a:r>
            <a:endParaRPr b="1" sz="2000">
              <a:solidFill>
                <a:schemeClr val="accent1"/>
              </a:solidFill>
              <a:latin typeface="Times New Roman"/>
              <a:ea typeface="Times New Roman"/>
              <a:cs typeface="Times New Roman"/>
              <a:sym typeface="Times New Roman"/>
            </a:endParaRPr>
          </a:p>
        </p:txBody>
      </p:sp>
      <p:graphicFrame>
        <p:nvGraphicFramePr>
          <p:cNvPr id="548" name="Google Shape;548;p90"/>
          <p:cNvGraphicFramePr/>
          <p:nvPr/>
        </p:nvGraphicFramePr>
        <p:xfrm>
          <a:off x="434225" y="1978225"/>
          <a:ext cx="3000000" cy="3000000"/>
        </p:xfrm>
        <a:graphic>
          <a:graphicData uri="http://schemas.openxmlformats.org/drawingml/2006/table">
            <a:tbl>
              <a:tblPr>
                <a:noFill/>
                <a:tableStyleId>{D7B16A15-CEB2-4D38-87CE-0F15F70C6202}</a:tableStyleId>
              </a:tblPr>
              <a:tblGrid>
                <a:gridCol w="900475"/>
                <a:gridCol w="900475"/>
                <a:gridCol w="900475"/>
                <a:gridCol w="900475"/>
                <a:gridCol w="900475"/>
                <a:gridCol w="900475"/>
                <a:gridCol w="900475"/>
                <a:gridCol w="900475"/>
                <a:gridCol w="900475"/>
              </a:tblGrid>
              <a:tr h="12700">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concept</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rāma</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10</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kilomitara_1</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ghaṃṭā_1</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b="1" lang="en" sz="1800">
                          <a:latin typeface="Times New Roman"/>
                          <a:ea typeface="Times New Roman"/>
                          <a:cs typeface="Times New Roman"/>
                          <a:sym typeface="Times New Roman"/>
                        </a:rPr>
                        <a:t>[rate_1]</a:t>
                      </a:r>
                      <a:endParaRPr b="1" sz="18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cala_1-yā_1</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[ne_1]</a:t>
                      </a:r>
                      <a:endParaRPr sz="18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Index</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2</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3</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4</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5</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6</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7</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8</a:t>
                      </a:r>
                      <a:endParaRPr sz="18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Dep. Rel.</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7:rmeas</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0:main</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7:k1</a:t>
                      </a:r>
                      <a:endParaRPr sz="18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lang="en" sz="1800">
                          <a:latin typeface="Times New Roman"/>
                          <a:ea typeface="Times New Roman"/>
                          <a:cs typeface="Times New Roman"/>
                          <a:sym typeface="Times New Roman"/>
                        </a:rPr>
                        <a:t>Construction</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8:begin</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b="1" lang="en" sz="1800">
                          <a:latin typeface="Times New Roman"/>
                          <a:ea typeface="Times New Roman"/>
                          <a:cs typeface="Times New Roman"/>
                          <a:sym typeface="Times New Roman"/>
                        </a:rPr>
                        <a:t>6:count</a:t>
                      </a:r>
                      <a:endParaRPr b="1" sz="18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b="1" lang="en" sz="1800">
                          <a:latin typeface="Times New Roman"/>
                          <a:ea typeface="Times New Roman"/>
                          <a:cs typeface="Times New Roman"/>
                          <a:sym typeface="Times New Roman"/>
                        </a:rPr>
                        <a:t>6:unit_value</a:t>
                      </a:r>
                      <a:endParaRPr b="1" sz="18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b="1" lang="en" sz="1800">
                          <a:latin typeface="Times New Roman"/>
                          <a:ea typeface="Times New Roman"/>
                          <a:cs typeface="Times New Roman"/>
                          <a:sym typeface="Times New Roman"/>
                        </a:rPr>
                        <a:t>6:count</a:t>
                      </a:r>
                      <a:endParaRPr b="1" sz="18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b="1" lang="en" sz="1800">
                          <a:latin typeface="Times New Roman"/>
                          <a:ea typeface="Times New Roman"/>
                          <a:cs typeface="Times New Roman"/>
                          <a:sym typeface="Times New Roman"/>
                        </a:rPr>
                        <a:t>6:unit_every</a:t>
                      </a:r>
                      <a:endParaRPr b="1" sz="18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t/>
                      </a:r>
                      <a:endParaRPr sz="18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t/>
                      </a:r>
                      <a:endParaRPr sz="1800">
                        <a:latin typeface="Times New Roman"/>
                        <a:ea typeface="Times New Roman"/>
                        <a:cs typeface="Times New Roman"/>
                        <a:sym typeface="Times New Roman"/>
                      </a:endParaRPr>
                    </a:p>
                  </a:txBody>
                  <a:tcPr marT="63500" marB="63500" marR="63500" marL="63500"/>
                </a:tc>
              </a:tr>
            </a:tbl>
          </a:graphicData>
        </a:graphic>
      </p:graphicFrame>
      <p:sp>
        <p:nvSpPr>
          <p:cNvPr id="549" name="Google Shape;549;p90"/>
          <p:cNvSpPr txBox="1"/>
          <p:nvPr/>
        </p:nvSpPr>
        <p:spPr>
          <a:xfrm>
            <a:off x="1127075" y="763050"/>
            <a:ext cx="62265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i="1" lang="en" sz="1800">
                <a:latin typeface="Times New Roman"/>
                <a:ea typeface="Times New Roman"/>
                <a:cs typeface="Times New Roman"/>
                <a:sym typeface="Times New Roman"/>
              </a:rPr>
              <a:t>rāma 10 kimi prati ghaṃṭā cale</a:t>
            </a:r>
            <a:endParaRPr b="1" i="1"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i="1" lang="en" sz="1800">
                <a:latin typeface="Times New Roman"/>
                <a:ea typeface="Times New Roman"/>
                <a:cs typeface="Times New Roman"/>
                <a:sym typeface="Times New Roman"/>
              </a:rPr>
              <a:t>‘Rama walked 10 kilometers each hour.’</a:t>
            </a:r>
            <a:endParaRPr b="1" i="1"/>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91"/>
          <p:cNvSpPr txBox="1"/>
          <p:nvPr>
            <p:ph type="title"/>
          </p:nvPr>
        </p:nvSpPr>
        <p:spPr>
          <a:xfrm>
            <a:off x="2299725" y="1524750"/>
            <a:ext cx="4503300" cy="2834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000"/>
              <a:t>     </a:t>
            </a:r>
            <a:r>
              <a:rPr lang="en" sz="4000">
                <a:solidFill>
                  <a:srgbClr val="DD7E6B"/>
                </a:solidFill>
              </a:rPr>
              <a:t>THANK YOU</a:t>
            </a:r>
            <a:endParaRPr sz="4000">
              <a:solidFill>
                <a:srgbClr val="DD7E6B"/>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92"/>
          <p:cNvSpPr txBox="1"/>
          <p:nvPr/>
        </p:nvSpPr>
        <p:spPr>
          <a:xfrm>
            <a:off x="182200" y="509250"/>
            <a:ext cx="8473200" cy="42852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Unique Sentence ID Format: [LanguageName_NameoftheBook_ChapterID_SentenceID]</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ID Usage: Followed throughout to maintain reference.</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Spacing Rule: No space between chapter/sentence and number.</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sz="1800">
                <a:latin typeface="Times New Roman"/>
                <a:ea typeface="Times New Roman"/>
                <a:cs typeface="Times New Roman"/>
                <a:sym typeface="Times New Roman"/>
              </a:rPr>
              <a:t>Language name, book name, chapter, and sentence ID separated by an underscore (_).</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Original Sentence:</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sz="1800">
                <a:latin typeface="Times New Roman"/>
                <a:ea typeface="Times New Roman"/>
                <a:cs typeface="Times New Roman"/>
                <a:sym typeface="Times New Roman"/>
              </a:rPr>
              <a:t>Commented with a # symbol.</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sz="1800">
                <a:latin typeface="Times New Roman"/>
                <a:ea typeface="Times New Roman"/>
                <a:cs typeface="Times New Roman"/>
                <a:sym typeface="Times New Roman"/>
              </a:rPr>
              <a:t>Includes the sentence in Roman Indic script and in the original script (e.g., Devanagari for Hindi).</a:t>
            </a:r>
            <a:endParaRPr sz="1800">
              <a:latin typeface="Times New Roman"/>
              <a:ea typeface="Times New Roman"/>
              <a:cs typeface="Times New Roman"/>
              <a:sym typeface="Times New Roman"/>
            </a:endParaRPr>
          </a:p>
          <a:p>
            <a:pPr indent="457200" lvl="0" marL="0" rtl="0" algn="l">
              <a:lnSpc>
                <a:spcPct val="115000"/>
              </a:lnSpc>
              <a:spcBef>
                <a:spcPts val="0"/>
              </a:spcBef>
              <a:spcAft>
                <a:spcPts val="0"/>
              </a:spcAft>
              <a:buNone/>
            </a:pPr>
            <a:r>
              <a:rPr lang="en" sz="1800">
                <a:latin typeface="Times New Roman"/>
                <a:ea typeface="Times New Roman"/>
                <a:cs typeface="Times New Roman"/>
                <a:sym typeface="Times New Roman"/>
              </a:rPr>
              <a:t>Example: Unique ID: Hin_ABC_Chapter1_001</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        ABC = name of the book. </a:t>
            </a:r>
            <a:endParaRPr sz="1800">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sz="1800">
                <a:latin typeface="Times New Roman"/>
                <a:ea typeface="Times New Roman"/>
                <a:cs typeface="Times New Roman"/>
                <a:sym typeface="Times New Roman"/>
              </a:rPr>
              <a:t>Row 1:   # राम बस अड्डे पर एक पुराने दोस्त के साथ ही बात कर रहा था । (Original script)</a:t>
            </a:r>
            <a:endParaRPr sz="1800">
              <a:latin typeface="Times New Roman"/>
              <a:ea typeface="Times New Roman"/>
              <a:cs typeface="Times New Roman"/>
              <a:sym typeface="Times New Roman"/>
            </a:endParaRPr>
          </a:p>
        </p:txBody>
      </p:sp>
      <p:sp>
        <p:nvSpPr>
          <p:cNvPr id="560" name="Google Shape;560;p92"/>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How to write the first layer</a:t>
            </a:r>
            <a:endParaRPr b="1" sz="2200">
              <a:solidFill>
                <a:schemeClr val="accen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93"/>
          <p:cNvSpPr txBox="1"/>
          <p:nvPr/>
        </p:nvSpPr>
        <p:spPr>
          <a:xfrm>
            <a:off x="182200" y="509250"/>
            <a:ext cx="8473200" cy="46038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TITLE</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Used for chapter titles.</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Sentence ID ends with TITLE.</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Sentence type: TITLE</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Example: Recipe_1TITLE</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Heading (H)</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For section/subsection headings.</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Sentence ID ends with H.</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Sentence type: heading</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Example: Geo_ncert_10stnd_2ch_0012H</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Term (T)</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Term and its definition split into two sub-sentences.</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Term ID ends with T; sentence type: Term</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Example: Hin_Geo_nios_7ch_0029T</a:t>
            </a:r>
            <a:endParaRPr sz="1800">
              <a:latin typeface="Times New Roman"/>
              <a:ea typeface="Times New Roman"/>
              <a:cs typeface="Times New Roman"/>
              <a:sym typeface="Times New Roman"/>
            </a:endParaRPr>
          </a:p>
        </p:txBody>
      </p:sp>
      <p:sp>
        <p:nvSpPr>
          <p:cNvPr id="566" name="Google Shape;566;p93"/>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Sub-sentence Identification</a:t>
            </a:r>
            <a:endParaRPr b="1" sz="2200">
              <a:solidFill>
                <a:schemeClr val="accen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94"/>
          <p:cNvSpPr txBox="1"/>
          <p:nvPr/>
        </p:nvSpPr>
        <p:spPr>
          <a:xfrm>
            <a:off x="182200" y="509250"/>
            <a:ext cx="8473200" cy="33294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Sentence Segmentation in USR</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Complex sentences are segmented into discourse units to simplify USR annotation.</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Each segment contains a finite verb and contributes to overall discourse.</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Complement clauses are split; relative clauses (with pronoun referring to a noun) are not split.</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Connectives guide segmentation and stay with the following segment.</a:t>
            </a:r>
            <a:endParaRPr sz="1800">
              <a:latin typeface="Times New Roman"/>
              <a:ea typeface="Times New Roman"/>
              <a:cs typeface="Times New Roman"/>
              <a:sym typeface="Times New Roman"/>
            </a:endParaRPr>
          </a:p>
          <a:p>
            <a:pPr indent="-342900" lvl="1" marL="9144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Discourse relations are captured via connectives and annotated in the discourse row.</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800">
              <a:latin typeface="Times New Roman"/>
              <a:ea typeface="Times New Roman"/>
              <a:cs typeface="Times New Roman"/>
              <a:sym typeface="Times New Roman"/>
            </a:endParaRPr>
          </a:p>
        </p:txBody>
      </p:sp>
      <p:sp>
        <p:nvSpPr>
          <p:cNvPr id="572" name="Google Shape;572;p94"/>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Sentence Segmentation</a:t>
            </a:r>
            <a:endParaRPr b="1" sz="2200">
              <a:solidFill>
                <a:schemeClr val="accen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95"/>
          <p:cNvSpPr txBox="1"/>
          <p:nvPr/>
        </p:nvSpPr>
        <p:spPr>
          <a:xfrm>
            <a:off x="182200" y="509250"/>
            <a:ext cx="8473200" cy="237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Example: </a:t>
            </a:r>
            <a:endParaRPr sz="1800">
              <a:latin typeface="Times New Roman"/>
              <a:ea typeface="Times New Roman"/>
              <a:cs typeface="Times New Roman"/>
              <a:sym typeface="Times New Roman"/>
            </a:endParaRPr>
          </a:p>
          <a:p>
            <a:pPr indent="457200" lvl="0" marL="0" rtl="0" algn="l">
              <a:lnSpc>
                <a:spcPct val="115000"/>
              </a:lnSpc>
              <a:spcBef>
                <a:spcPts val="0"/>
              </a:spcBef>
              <a:spcAft>
                <a:spcPts val="0"/>
              </a:spcAft>
              <a:buNone/>
            </a:pPr>
            <a:r>
              <a:rPr lang="en" sz="1800">
                <a:latin typeface="Times New Roman"/>
                <a:ea typeface="Times New Roman"/>
                <a:cs typeface="Times New Roman"/>
                <a:sym typeface="Times New Roman"/>
              </a:rPr>
              <a:t>Original:	Sent_ID_1 → #rām bīmāra hai isalie vaha skūla nahīṃ gayā</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	(Ram is sick. Therefore, he did not go to school)</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Segmented:</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	Sent_ID_1a → #rām bīmāra hai</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	Sent_ID_1b → #isalie vaha skūla nahīṃ gayā</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800">
              <a:latin typeface="Times New Roman"/>
              <a:ea typeface="Times New Roman"/>
              <a:cs typeface="Times New Roman"/>
              <a:sym typeface="Times New Roman"/>
            </a:endParaRPr>
          </a:p>
        </p:txBody>
      </p:sp>
      <p:sp>
        <p:nvSpPr>
          <p:cNvPr id="578" name="Google Shape;578;p95"/>
          <p:cNvSpPr txBox="1"/>
          <p:nvPr/>
        </p:nvSpPr>
        <p:spPr>
          <a:xfrm>
            <a:off x="353300" y="0"/>
            <a:ext cx="830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accent1"/>
                </a:solidFill>
                <a:latin typeface="Times New Roman"/>
                <a:ea typeface="Times New Roman"/>
                <a:cs typeface="Times New Roman"/>
                <a:sym typeface="Times New Roman"/>
              </a:rPr>
              <a:t>Sentence Segmentation</a:t>
            </a:r>
            <a:endParaRPr b="1" sz="2200">
              <a:solidFill>
                <a:schemeClr val="accent1"/>
              </a:solidFill>
              <a:latin typeface="Times New Roman"/>
              <a:ea typeface="Times New Roman"/>
              <a:cs typeface="Times New Roman"/>
              <a:sym typeface="Times New Roman"/>
            </a:endParaRPr>
          </a:p>
        </p:txBody>
      </p:sp>
      <p:sp>
        <p:nvSpPr>
          <p:cNvPr id="579" name="Google Shape;579;p95"/>
          <p:cNvSpPr txBox="1"/>
          <p:nvPr/>
        </p:nvSpPr>
        <p:spPr>
          <a:xfrm>
            <a:off x="585225" y="2786675"/>
            <a:ext cx="8190000" cy="20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Open Sans"/>
                <a:ea typeface="Open Sans"/>
                <a:cs typeface="Open Sans"/>
                <a:sym typeface="Open Sans"/>
              </a:rPr>
              <a:t>Rough</a:t>
            </a:r>
            <a:endParaRPr sz="1800">
              <a:solidFill>
                <a:schemeClr val="dk2"/>
              </a:solidFill>
              <a:latin typeface="Open Sans"/>
              <a:ea typeface="Open Sans"/>
              <a:cs typeface="Open Sans"/>
              <a:sym typeface="Open Sans"/>
            </a:endParaRPr>
          </a:p>
          <a:p>
            <a:pPr indent="0" lvl="0" marL="0" rtl="0" algn="l">
              <a:spcBef>
                <a:spcPts val="0"/>
              </a:spcBef>
              <a:spcAft>
                <a:spcPts val="0"/>
              </a:spcAft>
              <a:buNone/>
            </a:pPr>
            <a:r>
              <a:rPr lang="en" sz="1800">
                <a:solidFill>
                  <a:srgbClr val="980000"/>
                </a:solidFill>
                <a:latin typeface="Times New Roman"/>
                <a:ea typeface="Times New Roman"/>
                <a:cs typeface="Times New Roman"/>
                <a:sym typeface="Times New Roman"/>
              </a:rPr>
              <a:t> Post-positions</a:t>
            </a:r>
            <a:endParaRPr sz="1800">
              <a:solidFill>
                <a:srgbClr val="980000"/>
              </a:solidFill>
              <a:latin typeface="Times New Roman"/>
              <a:ea typeface="Times New Roman"/>
              <a:cs typeface="Times New Roman"/>
              <a:sym typeface="Times New Roman"/>
            </a:endParaRPr>
          </a:p>
          <a:p>
            <a:pPr indent="0" lvl="0" marL="0" rtl="0" algn="l">
              <a:spcBef>
                <a:spcPts val="0"/>
              </a:spcBef>
              <a:spcAft>
                <a:spcPts val="0"/>
              </a:spcAft>
              <a:buNone/>
            </a:pPr>
            <a:r>
              <a:rPr lang="en" sz="1800">
                <a:solidFill>
                  <a:srgbClr val="980000"/>
                </a:solidFill>
                <a:latin typeface="Times New Roman"/>
                <a:ea typeface="Times New Roman"/>
                <a:cs typeface="Times New Roman"/>
                <a:sym typeface="Times New Roman"/>
              </a:rPr>
              <a:t>ne, ko, para, …</a:t>
            </a:r>
            <a:endParaRPr sz="1800">
              <a:solidFill>
                <a:srgbClr val="980000"/>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 sz="1800">
                <a:solidFill>
                  <a:srgbClr val="980000"/>
                </a:solidFill>
                <a:latin typeface="Times New Roman"/>
                <a:ea typeface="Times New Roman"/>
                <a:cs typeface="Times New Roman"/>
                <a:sym typeface="Times New Roman"/>
              </a:rPr>
              <a:t> Comparative and superlative word</a:t>
            </a:r>
            <a:endParaRPr sz="1800">
              <a:solidFill>
                <a:srgbClr val="980000"/>
              </a:solidFill>
              <a:latin typeface="Times New Roman"/>
              <a:ea typeface="Times New Roman"/>
              <a:cs typeface="Times New Roman"/>
              <a:sym typeface="Times New Roman"/>
            </a:endParaRPr>
          </a:p>
          <a:p>
            <a:pPr indent="0" lvl="0" marL="0" rtl="0" algn="l">
              <a:spcBef>
                <a:spcPts val="0"/>
              </a:spcBef>
              <a:spcAft>
                <a:spcPts val="0"/>
              </a:spcAft>
              <a:buNone/>
            </a:pPr>
            <a:r>
              <a:rPr lang="en" sz="1800">
                <a:solidFill>
                  <a:srgbClr val="980000"/>
                </a:solidFill>
                <a:latin typeface="Times New Roman"/>
                <a:ea typeface="Times New Roman"/>
                <a:cs typeface="Times New Roman"/>
                <a:sym typeface="Times New Roman"/>
              </a:rPr>
              <a:t>sabse, adhika, jyādā, kama</a:t>
            </a:r>
            <a:endParaRPr sz="1800">
              <a:solidFill>
                <a:srgbClr val="980000"/>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 sz="1800">
                <a:solidFill>
                  <a:srgbClr val="980000"/>
                </a:solidFill>
                <a:latin typeface="Times New Roman"/>
                <a:ea typeface="Times New Roman"/>
                <a:cs typeface="Times New Roman"/>
                <a:sym typeface="Times New Roman"/>
              </a:rPr>
              <a:t> Comparative and superlative marker</a:t>
            </a:r>
            <a:endParaRPr sz="1800">
              <a:solidFill>
                <a:srgbClr val="980000"/>
              </a:solidFill>
              <a:latin typeface="Times New Roman"/>
              <a:ea typeface="Times New Roman"/>
              <a:cs typeface="Times New Roman"/>
              <a:sym typeface="Times New Roman"/>
            </a:endParaRPr>
          </a:p>
          <a:p>
            <a:pPr indent="0" lvl="0" marL="0" rtl="0" algn="l">
              <a:spcBef>
                <a:spcPts val="0"/>
              </a:spcBef>
              <a:spcAft>
                <a:spcPts val="0"/>
              </a:spcAft>
              <a:buNone/>
            </a:pPr>
            <a:r>
              <a:rPr lang="en" sz="1800">
                <a:solidFill>
                  <a:srgbClr val="980000"/>
                </a:solidFill>
                <a:latin typeface="Times New Roman"/>
                <a:ea typeface="Times New Roman"/>
                <a:cs typeface="Times New Roman"/>
                <a:sym typeface="Times New Roman"/>
              </a:rPr>
              <a:t>tara, - tama</a:t>
            </a:r>
            <a:endParaRPr sz="1800">
              <a:solidFill>
                <a:srgbClr val="980000"/>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